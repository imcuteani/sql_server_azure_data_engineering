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83" r:id="rId2"/>
    <p:sldId id="257" r:id="rId3"/>
    <p:sldId id="258" r:id="rId4"/>
    <p:sldId id="259" r:id="rId5"/>
    <p:sldId id="260" r:id="rId6"/>
    <p:sldId id="261" r:id="rId7"/>
    <p:sldId id="262" r:id="rId8"/>
    <p:sldId id="264" r:id="rId9"/>
    <p:sldId id="265" r:id="rId10"/>
    <p:sldId id="266" r:id="rId11"/>
    <p:sldId id="267" r:id="rId12"/>
    <p:sldId id="269" r:id="rId13"/>
    <p:sldId id="284" r:id="rId14"/>
    <p:sldId id="280"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B40EAC-CC0A-5485-BCEE-37BDB29D673B}" v="625" dt="2026-04-12T15:19:31.891"/>
    <p1510:client id="{126C75FD-9A41-3249-608E-772329B48536}" v="830" dt="2026-04-14T10:02:26.744"/>
    <p1510:client id="{22D66706-7690-ACC8-E32C-921547D31D47}" v="2" dt="2026-04-13T12:37:38.606"/>
    <p1510:client id="{44FD2894-0480-9C1E-A647-D0E7979760DA}" v="446" dt="2026-04-13T16:01:21.507"/>
    <p1510:client id="{8E12EF59-2A41-92D6-385B-F56135F5B8D7}" v="210" dt="2026-04-12T17:52:18.371"/>
    <p1510:client id="{9927AD77-2696-5238-F9B1-88B863DA5C57}" v="278" dt="2026-04-14T09:47:33.089"/>
    <p1510:client id="{E5DF0B76-E98F-2D85-D1E5-931E795B41E8}" v="1505" dt="2026-04-12T17:04:41.141"/>
    <p1510:client id="{E896230E-595A-DF97-A919-F4C2974567C3}" v="185" dt="2026-04-13T15:16:48.34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91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1D1EADE-8E88-4C7C-8AC5-FB148DE4940E}" type="datetime1">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38128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7B6794-849E-4626-908B-D15793550EFB}" type="datetime1">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31052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DB64E7-5594-42A3-ADBF-E95A7ACEAD64}" type="datetime1">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75384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8462B0B-D248-4FFB-8695-AD7FA4B1284A}" type="datetime1">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329133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0378EFB-9159-4510-B73F-4F0409ADE937}" type="datetime1">
              <a:rPr lang="en-US" smtClean="0"/>
              <a:t>4/22/2026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58803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9BC9412-2452-4BED-A324-9D8C115361AD}" type="datetime1">
              <a:rPr lang="en-US" smtClean="0"/>
              <a:t>4/22/2026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61267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318F62-D251-40E8-A23C-F4CFE9FEAB41}" type="datetime1">
              <a:rPr lang="en-US" smtClean="0"/>
              <a:t>4/22/2026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8845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F76144-149E-4874-93A5-554A0357CF82}" type="datetime1">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5527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0BA65D8-0540-4835-AE5C-25D29DBA01BE}" type="datetime1">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72265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3C8B9C-477D-492A-96AD-1FC2CC997A73}" type="datetime1">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324296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D3AED5-E26D-4E29-B1B3-7847B6779594}" type="datetime1">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35001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1BA835-12AC-4E8F-955A-EA3F4DE2791F}" type="datetime1">
              <a:rPr lang="en-US" smtClean="0"/>
              <a:t>4/22/2026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E7843D-FF13-4365-9478-9625B70A2705}" type="slidenum">
              <a:rPr lang="en-US" smtClean="0"/>
              <a:t>‹#›</a:t>
            </a:fld>
            <a:endParaRPr lang="en-US"/>
          </a:p>
        </p:txBody>
      </p:sp>
    </p:spTree>
    <p:extLst>
      <p:ext uri="{BB962C8B-B14F-4D97-AF65-F5344CB8AC3E}">
        <p14:creationId xmlns:p14="http://schemas.microsoft.com/office/powerpoint/2010/main" val="242264235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F670B7-BE47-7E35-0D27-0BAB2C561052}"/>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8219B7A-2A46-EAB6-DB28-580FA3519F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92BC140-2EEB-8EEA-E87E-6A111266ED29}"/>
              </a:ext>
            </a:extLst>
          </p:cNvPr>
          <p:cNvPicPr>
            <a:picLocks noChangeAspect="1"/>
          </p:cNvPicPr>
          <p:nvPr/>
        </p:nvPicPr>
        <p:blipFill>
          <a:blip r:embed="rId2"/>
          <a:srcRect r="10666" b="-1"/>
          <a:stretch>
            <a:fillRect/>
          </a:stretch>
        </p:blipFill>
        <p:spPr>
          <a:xfrm>
            <a:off x="20" y="10"/>
            <a:ext cx="12191980" cy="6857990"/>
          </a:xfrm>
          <a:prstGeom prst="rect">
            <a:avLst/>
          </a:prstGeom>
        </p:spPr>
      </p:pic>
      <p:sp>
        <p:nvSpPr>
          <p:cNvPr id="11" name="Graphic 1">
            <a:extLst>
              <a:ext uri="{FF2B5EF4-FFF2-40B4-BE49-F238E27FC236}">
                <a16:creationId xmlns:a16="http://schemas.microsoft.com/office/drawing/2014/main" id="{83B80ED1-C27B-6D48-B5D8-A825BB88C9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2655438" y="838201"/>
            <a:ext cx="7098161" cy="4549051"/>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2" name="Title 1">
            <a:extLst>
              <a:ext uri="{FF2B5EF4-FFF2-40B4-BE49-F238E27FC236}">
                <a16:creationId xmlns:a16="http://schemas.microsoft.com/office/drawing/2014/main" id="{30F9ED15-CDB1-785A-7695-72DF53472499}"/>
              </a:ext>
            </a:extLst>
          </p:cNvPr>
          <p:cNvSpPr>
            <a:spLocks noGrp="1"/>
          </p:cNvSpPr>
          <p:nvPr>
            <p:ph type="ctrTitle"/>
          </p:nvPr>
        </p:nvSpPr>
        <p:spPr>
          <a:xfrm>
            <a:off x="3325473" y="1924619"/>
            <a:ext cx="5541054" cy="1655378"/>
          </a:xfrm>
        </p:spPr>
        <p:txBody>
          <a:bodyPr>
            <a:normAutofit/>
          </a:bodyPr>
          <a:lstStyle/>
          <a:p>
            <a:r>
              <a:rPr lang="en-US" sz="3700"/>
              <a:t>SQL Server Administration &amp; Azure Data Engineering</a:t>
            </a:r>
          </a:p>
        </p:txBody>
      </p:sp>
      <p:sp>
        <p:nvSpPr>
          <p:cNvPr id="3" name="Subtitle 2">
            <a:extLst>
              <a:ext uri="{FF2B5EF4-FFF2-40B4-BE49-F238E27FC236}">
                <a16:creationId xmlns:a16="http://schemas.microsoft.com/office/drawing/2014/main" id="{1767AC54-0FE9-0C64-0851-2225707E0491}"/>
              </a:ext>
            </a:extLst>
          </p:cNvPr>
          <p:cNvSpPr>
            <a:spLocks noGrp="1"/>
          </p:cNvSpPr>
          <p:nvPr>
            <p:ph type="subTitle" idx="1"/>
          </p:nvPr>
        </p:nvSpPr>
        <p:spPr>
          <a:xfrm>
            <a:off x="3880419" y="3668285"/>
            <a:ext cx="4431162" cy="1337967"/>
          </a:xfrm>
        </p:spPr>
        <p:txBody>
          <a:bodyPr vert="horz" lIns="91440" tIns="45720" rIns="91440" bIns="45720" rtlCol="0" anchor="t">
            <a:normAutofit/>
          </a:bodyPr>
          <a:lstStyle/>
          <a:p>
            <a:r>
              <a:rPr lang="en-US" dirty="0"/>
              <a:t>Day 6</a:t>
            </a:r>
          </a:p>
        </p:txBody>
      </p:sp>
    </p:spTree>
    <p:extLst>
      <p:ext uri="{BB962C8B-B14F-4D97-AF65-F5344CB8AC3E}">
        <p14:creationId xmlns:p14="http://schemas.microsoft.com/office/powerpoint/2010/main" val="2006319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2BB31E-A9BD-D8C3-F865-874E07BC1798}"/>
              </a:ext>
            </a:extLst>
          </p:cNvPr>
          <p:cNvSpPr>
            <a:spLocks noGrp="1"/>
          </p:cNvSpPr>
          <p:nvPr>
            <p:ph type="title"/>
          </p:nvPr>
        </p:nvSpPr>
        <p:spPr>
          <a:xfrm>
            <a:off x="5297762" y="329184"/>
            <a:ext cx="6251110" cy="1783080"/>
          </a:xfrm>
        </p:spPr>
        <p:txBody>
          <a:bodyPr anchor="b">
            <a:normAutofit/>
          </a:bodyPr>
          <a:lstStyle/>
          <a:p>
            <a:r>
              <a:rPr lang="en-US" sz="5400"/>
              <a:t>Agenda</a:t>
            </a:r>
          </a:p>
        </p:txBody>
      </p:sp>
      <p:pic>
        <p:nvPicPr>
          <p:cNvPr id="22" name="Picture 21" descr="Computer script on a screen">
            <a:extLst>
              <a:ext uri="{FF2B5EF4-FFF2-40B4-BE49-F238E27FC236}">
                <a16:creationId xmlns:a16="http://schemas.microsoft.com/office/drawing/2014/main" id="{E3E24C0B-1BDE-A4F0-4482-865C265ACB09}"/>
              </a:ext>
            </a:extLst>
          </p:cNvPr>
          <p:cNvPicPr>
            <a:picLocks noChangeAspect="1"/>
          </p:cNvPicPr>
          <p:nvPr/>
        </p:nvPicPr>
        <p:blipFill>
          <a:blip r:embed="rId2"/>
          <a:srcRect l="7448" r="47221" b="-1"/>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28"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518882D-3313-EA10-DF38-9C2AAE0C7A76}"/>
              </a:ext>
            </a:extLst>
          </p:cNvPr>
          <p:cNvSpPr>
            <a:spLocks noGrp="1"/>
          </p:cNvSpPr>
          <p:nvPr>
            <p:ph idx="1"/>
          </p:nvPr>
        </p:nvSpPr>
        <p:spPr>
          <a:xfrm>
            <a:off x="5297762" y="2749756"/>
            <a:ext cx="6251110" cy="3440732"/>
          </a:xfrm>
        </p:spPr>
        <p:txBody>
          <a:bodyPr vert="horz" lIns="91440" tIns="45720" rIns="91440" bIns="45720" rtlCol="0" anchor="t">
            <a:normAutofit/>
          </a:bodyPr>
          <a:lstStyle/>
          <a:p>
            <a:r>
              <a:rPr lang="en-US" sz="2200" dirty="0"/>
              <a:t>SQL Server Always On Overview</a:t>
            </a:r>
            <a:endParaRPr lang="en-US" dirty="0"/>
          </a:p>
          <a:p>
            <a:r>
              <a:rPr lang="en-US" sz="2200" dirty="0"/>
              <a:t>SQL Server HA/DR Architecture</a:t>
            </a:r>
            <a:endParaRPr lang="en-US" dirty="0"/>
          </a:p>
          <a:p>
            <a:r>
              <a:rPr lang="en-US" sz="2200" dirty="0"/>
              <a:t>SQL Server Always available database</a:t>
            </a:r>
            <a:endParaRPr lang="en-US" dirty="0"/>
          </a:p>
          <a:p>
            <a:r>
              <a:rPr lang="en-US" sz="2200" dirty="0"/>
              <a:t>SQL Server Availability Replicas</a:t>
            </a:r>
          </a:p>
          <a:p>
            <a:r>
              <a:rPr lang="en-US" sz="2200" dirty="0"/>
              <a:t>Availability Modes</a:t>
            </a:r>
          </a:p>
          <a:p>
            <a:r>
              <a:rPr lang="en-US" sz="2200" dirty="0"/>
              <a:t>Benefits of HA</a:t>
            </a:r>
            <a:endParaRPr lang="en-US" dirty="0"/>
          </a:p>
        </p:txBody>
      </p:sp>
    </p:spTree>
    <p:extLst>
      <p:ext uri="{BB962C8B-B14F-4D97-AF65-F5344CB8AC3E}">
        <p14:creationId xmlns:p14="http://schemas.microsoft.com/office/powerpoint/2010/main" val="19798733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401CD0A-13AF-6BEA-32F0-04CE9D993CD1}"/>
              </a:ext>
            </a:extLst>
          </p:cNvPr>
          <p:cNvSpPr>
            <a:spLocks noGrp="1"/>
          </p:cNvSpPr>
          <p:nvPr>
            <p:ph type="title"/>
          </p:nvPr>
        </p:nvSpPr>
        <p:spPr>
          <a:xfrm>
            <a:off x="1137036" y="548640"/>
            <a:ext cx="9543405" cy="1188720"/>
          </a:xfrm>
        </p:spPr>
        <p:txBody>
          <a:bodyPr>
            <a:normAutofit/>
          </a:bodyPr>
          <a:lstStyle/>
          <a:p>
            <a:r>
              <a:rPr lang="en-US" dirty="0">
                <a:solidFill>
                  <a:schemeClr val="tx1">
                    <a:lumMod val="85000"/>
                    <a:lumOff val="15000"/>
                  </a:schemeClr>
                </a:solidFill>
              </a:rPr>
              <a:t>SQL Server Always On Overview</a:t>
            </a:r>
          </a:p>
        </p:txBody>
      </p:sp>
      <p:sp>
        <p:nvSpPr>
          <p:cNvPr id="3" name="Content Placeholder 2">
            <a:extLst>
              <a:ext uri="{FF2B5EF4-FFF2-40B4-BE49-F238E27FC236}">
                <a16:creationId xmlns:a16="http://schemas.microsoft.com/office/drawing/2014/main" id="{83DA21EC-EC3E-D0FA-CDB9-B872137B1193}"/>
              </a:ext>
            </a:extLst>
          </p:cNvPr>
          <p:cNvSpPr>
            <a:spLocks noGrp="1"/>
          </p:cNvSpPr>
          <p:nvPr>
            <p:ph idx="1"/>
          </p:nvPr>
        </p:nvSpPr>
        <p:spPr>
          <a:xfrm>
            <a:off x="1138478" y="1942935"/>
            <a:ext cx="10202591" cy="4355200"/>
          </a:xfrm>
        </p:spPr>
        <p:txBody>
          <a:bodyPr anchor="ctr">
            <a:normAutofit/>
          </a:bodyPr>
          <a:lstStyle/>
          <a:p>
            <a:r>
              <a:rPr lang="en-US" sz="1600" dirty="0">
                <a:highlight>
                  <a:srgbClr val="FFFFFF"/>
                </a:highlight>
              </a:rPr>
              <a:t>SQL Server Always On is an umbrella marketing term for a suite of high-availability (HA) and disaster-recovery (DR) solutions introduced in SQL Server 2012.</a:t>
            </a:r>
          </a:p>
          <a:p>
            <a:endParaRPr lang="en-US" sz="1600" dirty="0">
              <a:highlight>
                <a:srgbClr val="FFFFFF"/>
              </a:highlight>
            </a:endParaRPr>
          </a:p>
          <a:p>
            <a:r>
              <a:rPr lang="en-US" sz="1600" dirty="0">
                <a:highlight>
                  <a:srgbClr val="FFFFFF"/>
                </a:highlight>
              </a:rPr>
              <a:t> It primarily consists of two distinct technologies: Always On Availability Groups and Always On Failover Cluster Instances</a:t>
            </a:r>
          </a:p>
        </p:txBody>
      </p:sp>
      <p:sp>
        <p:nvSpPr>
          <p:cNvPr id="12" name="Freeform: Shape 11">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24586" y="5970896"/>
            <a:ext cx="9967416"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7283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3BD5E3-0DBB-CADA-614E-FE2F01E78952}"/>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6600" kern="1200">
                <a:latin typeface="+mj-lt"/>
                <a:ea typeface="+mj-ea"/>
                <a:cs typeface="+mj-cs"/>
              </a:rPr>
              <a:t>SQL Database</a:t>
            </a:r>
            <a:r>
              <a:rPr lang="en-US" sz="6600"/>
              <a:t> HA </a:t>
            </a:r>
            <a:endParaRPr lang="en-US" sz="6600" kern="1200">
              <a:latin typeface="+mj-lt"/>
              <a:ea typeface="+mj-ea"/>
              <a:cs typeface="+mj-cs"/>
            </a:endParaRPr>
          </a:p>
        </p:txBody>
      </p:sp>
      <p:sp>
        <p:nvSpPr>
          <p:cNvPr id="19"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diagram of a database&#10;&#10;AI-generated content may be incorrect.">
            <a:extLst>
              <a:ext uri="{FF2B5EF4-FFF2-40B4-BE49-F238E27FC236}">
                <a16:creationId xmlns:a16="http://schemas.microsoft.com/office/drawing/2014/main" id="{DE8C33C3-9CA4-11F2-0F93-A3AFD5E7442B}"/>
              </a:ext>
            </a:extLst>
          </p:cNvPr>
          <p:cNvPicPr>
            <a:picLocks noGrp="1" noChangeAspect="1"/>
          </p:cNvPicPr>
          <p:nvPr>
            <p:ph idx="1"/>
          </p:nvPr>
        </p:nvPicPr>
        <p:blipFill>
          <a:blip r:embed="rId2"/>
          <a:stretch>
            <a:fillRect/>
          </a:stretch>
        </p:blipFill>
        <p:spPr>
          <a:xfrm>
            <a:off x="176266" y="2495032"/>
            <a:ext cx="6718080" cy="1447837"/>
          </a:xfrm>
          <a:prstGeom prst="rect">
            <a:avLst/>
          </a:prstGeom>
        </p:spPr>
      </p:pic>
      <p:sp>
        <p:nvSpPr>
          <p:cNvPr id="9" name="TextBox 8">
            <a:extLst>
              <a:ext uri="{FF2B5EF4-FFF2-40B4-BE49-F238E27FC236}">
                <a16:creationId xmlns:a16="http://schemas.microsoft.com/office/drawing/2014/main" id="{81084EE8-8FB6-B7FF-F1EF-3E997F515E65}"/>
              </a:ext>
            </a:extLst>
          </p:cNvPr>
          <p:cNvSpPr txBox="1"/>
          <p:nvPr/>
        </p:nvSpPr>
        <p:spPr>
          <a:xfrm>
            <a:off x="7315200" y="2179319"/>
            <a:ext cx="437388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AutoNum type="arabicPeriod"/>
            </a:pPr>
            <a:r>
              <a:rPr lang="en-US">
                <a:ea typeface="Calibri" panose="020F0502020204030204"/>
                <a:cs typeface="Calibri" panose="020F0502020204030204"/>
              </a:rPr>
              <a:t>Failed over Servers HA </a:t>
            </a:r>
          </a:p>
          <a:p>
            <a:pPr marL="342900" indent="-342900">
              <a:buAutoNum type="arabicPeriod"/>
            </a:pPr>
            <a:endParaRPr lang="en-US">
              <a:ea typeface="Calibri" panose="020F0502020204030204"/>
              <a:cs typeface="Calibri" panose="020F0502020204030204"/>
            </a:endParaRPr>
          </a:p>
          <a:p>
            <a:pPr marL="342900" indent="-342900">
              <a:buAutoNum type="arabicPeriod"/>
            </a:pPr>
            <a:r>
              <a:rPr lang="en-US">
                <a:ea typeface="Calibri" panose="020F0502020204030204"/>
                <a:cs typeface="Calibri" panose="020F0502020204030204"/>
              </a:rPr>
              <a:t>Failed over Servers over Disaster Recovery</a:t>
            </a:r>
          </a:p>
          <a:p>
            <a:pPr marL="342900" indent="-342900">
              <a:buAutoNum type="arabicPeriod"/>
            </a:pPr>
            <a:endParaRPr lang="en-US">
              <a:ea typeface="Calibri" panose="020F0502020204030204"/>
              <a:cs typeface="Calibri" panose="020F0502020204030204"/>
            </a:endParaRPr>
          </a:p>
          <a:p>
            <a:pPr marL="342900" indent="-342900">
              <a:buAutoNum type="arabicPeriod"/>
            </a:pPr>
            <a:r>
              <a:rPr lang="en-US">
                <a:ea typeface="Calibri" panose="020F0502020204030204"/>
                <a:cs typeface="Calibri" panose="020F0502020204030204"/>
              </a:rPr>
              <a:t>Failed over Servers for DR in Azure</a:t>
            </a:r>
          </a:p>
        </p:txBody>
      </p:sp>
    </p:spTree>
    <p:extLst>
      <p:ext uri="{BB962C8B-B14F-4D97-AF65-F5344CB8AC3E}">
        <p14:creationId xmlns:p14="http://schemas.microsoft.com/office/powerpoint/2010/main" val="28335965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14D5AD4-9F36-F7A2-D973-EF701D964D44}"/>
              </a:ext>
            </a:extLst>
          </p:cNvPr>
          <p:cNvSpPr>
            <a:spLocks noGrp="1"/>
          </p:cNvSpPr>
          <p:nvPr>
            <p:ph type="title"/>
          </p:nvPr>
        </p:nvSpPr>
        <p:spPr>
          <a:xfrm>
            <a:off x="1137036" y="548640"/>
            <a:ext cx="9543405" cy="1188720"/>
          </a:xfrm>
        </p:spPr>
        <p:txBody>
          <a:bodyPr>
            <a:normAutofit/>
          </a:bodyPr>
          <a:lstStyle/>
          <a:p>
            <a:r>
              <a:rPr lang="en-US" sz="3600" dirty="0">
                <a:solidFill>
                  <a:schemeClr val="tx1">
                    <a:lumMod val="85000"/>
                    <a:lumOff val="15000"/>
                  </a:schemeClr>
                </a:solidFill>
              </a:rPr>
              <a:t>SQL Server HA/DR Architecture</a:t>
            </a:r>
            <a:endParaRPr lang="en-US" sz="3600" dirty="0">
              <a:solidFill>
                <a:schemeClr val="tx1">
                  <a:lumMod val="85000"/>
                  <a:lumOff val="15000"/>
                </a:schemeClr>
              </a:solidFill>
              <a:ea typeface="Calibri Light"/>
              <a:cs typeface="Calibri Light"/>
            </a:endParaRPr>
          </a:p>
        </p:txBody>
      </p:sp>
      <p:sp>
        <p:nvSpPr>
          <p:cNvPr id="3" name="Content Placeholder 2">
            <a:extLst>
              <a:ext uri="{FF2B5EF4-FFF2-40B4-BE49-F238E27FC236}">
                <a16:creationId xmlns:a16="http://schemas.microsoft.com/office/drawing/2014/main" id="{4245BC49-D8D9-1850-23D6-F9DEDD4FA571}"/>
              </a:ext>
            </a:extLst>
          </p:cNvPr>
          <p:cNvSpPr>
            <a:spLocks noGrp="1"/>
          </p:cNvSpPr>
          <p:nvPr>
            <p:ph idx="1"/>
          </p:nvPr>
        </p:nvSpPr>
        <p:spPr>
          <a:xfrm>
            <a:off x="1138478" y="2029199"/>
            <a:ext cx="9095535" cy="3722597"/>
          </a:xfrm>
        </p:spPr>
        <p:txBody>
          <a:bodyPr anchor="ctr">
            <a:normAutofit/>
          </a:bodyPr>
          <a:lstStyle/>
          <a:p>
            <a:r>
              <a:rPr lang="en-US" sz="1600" dirty="0">
                <a:highlight>
                  <a:srgbClr val="FFFFFF"/>
                </a:highlight>
              </a:rPr>
              <a:t>SQL Server High Availability (HA) and Disaster Recovery (DR) architectures are designed to ensure business continuity by minimizing downtime and data loss. </a:t>
            </a:r>
          </a:p>
          <a:p>
            <a:endParaRPr lang="en-US" sz="1600" b="1" dirty="0">
              <a:solidFill>
                <a:srgbClr val="0A0A0A"/>
              </a:solidFill>
              <a:highlight>
                <a:srgbClr val="FFFFFF"/>
              </a:highlight>
              <a:ea typeface="Calibri"/>
              <a:cs typeface="Calibri"/>
            </a:endParaRPr>
          </a:p>
          <a:p>
            <a:r>
              <a:rPr lang="en-US" sz="1700" b="1" dirty="0"/>
              <a:t>Planned Maintenance</a:t>
            </a:r>
          </a:p>
          <a:p>
            <a:r>
              <a:rPr lang="en-US" sz="1700" dirty="0"/>
              <a:t>Planned maintenance is a coordinated/scheduled downtime after informing all required personnel to perform Maintenance activities like</a:t>
            </a:r>
          </a:p>
          <a:p>
            <a:r>
              <a:rPr lang="en-US" sz="1700" dirty="0"/>
              <a:t>Application patching or upgrading</a:t>
            </a:r>
          </a:p>
          <a:p>
            <a:r>
              <a:rPr lang="en-US" sz="1700" dirty="0"/>
              <a:t>Applying Windows OS patches or security fixes</a:t>
            </a:r>
          </a:p>
          <a:p>
            <a:r>
              <a:rPr lang="en-US" sz="1700" dirty="0"/>
              <a:t>Performing hardware upgrades or firmware patches</a:t>
            </a:r>
          </a:p>
          <a:p>
            <a:r>
              <a:rPr lang="en-US" sz="1700" dirty="0"/>
              <a:t>Test DR solutions implemented in the organization</a:t>
            </a:r>
          </a:p>
          <a:p>
            <a:endParaRPr lang="en-US" sz="1600" dirty="0">
              <a:solidFill>
                <a:srgbClr val="0A0A0A"/>
              </a:solidFill>
              <a:highlight>
                <a:srgbClr val="FFFFFF"/>
              </a:highlight>
              <a:ea typeface="Calibri"/>
              <a:cs typeface="Calibri"/>
            </a:endParaRPr>
          </a:p>
        </p:txBody>
      </p:sp>
      <p:sp>
        <p:nvSpPr>
          <p:cNvPr id="12" name="Freeform: Shape 11">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24586" y="5970896"/>
            <a:ext cx="9967416"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541038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C75836F-94AA-AAEE-3F5E-FA2C418478E2}"/>
              </a:ext>
            </a:extLst>
          </p:cNvPr>
          <p:cNvSpPr>
            <a:spLocks noGrp="1"/>
          </p:cNvSpPr>
          <p:nvPr>
            <p:ph type="title"/>
          </p:nvPr>
        </p:nvSpPr>
        <p:spPr>
          <a:xfrm>
            <a:off x="1137036" y="548640"/>
            <a:ext cx="9543405" cy="1188720"/>
          </a:xfrm>
        </p:spPr>
        <p:txBody>
          <a:bodyPr>
            <a:normAutofit/>
          </a:bodyPr>
          <a:lstStyle/>
          <a:p>
            <a:r>
              <a:rPr lang="en-US" sz="3200" dirty="0">
                <a:solidFill>
                  <a:schemeClr val="tx1">
                    <a:lumMod val="85000"/>
                    <a:lumOff val="15000"/>
                  </a:schemeClr>
                </a:solidFill>
              </a:rPr>
              <a:t>SQL Server HA/DR Configuration</a:t>
            </a:r>
          </a:p>
        </p:txBody>
      </p:sp>
      <p:sp>
        <p:nvSpPr>
          <p:cNvPr id="12" name="Freeform: Shape 11">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24586" y="5970896"/>
            <a:ext cx="9967416"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27151C14-8131-CD79-D1B9-1D0B6ACD252F}"/>
              </a:ext>
            </a:extLst>
          </p:cNvPr>
          <p:cNvSpPr>
            <a:spLocks noGrp="1"/>
          </p:cNvSpPr>
          <p:nvPr>
            <p:ph idx="1"/>
          </p:nvPr>
        </p:nvSpPr>
        <p:spPr/>
        <p:txBody>
          <a:bodyPr/>
          <a:lstStyle/>
          <a:p>
            <a:r>
              <a:rPr lang="en-US" sz="1600" dirty="0"/>
              <a:t>Unplanned Outages</a:t>
            </a:r>
          </a:p>
          <a:p>
            <a:r>
              <a:rPr lang="en-US" sz="1600" dirty="0"/>
              <a:t>An unplanned outage is a non-coordinated downtime and can happen out of any scenarios below</a:t>
            </a:r>
          </a:p>
          <a:p>
            <a:r>
              <a:rPr lang="en-US" sz="1600" dirty="0"/>
              <a:t>Application-level issues</a:t>
            </a:r>
          </a:p>
          <a:p>
            <a:r>
              <a:rPr lang="en-US" sz="1600" dirty="0"/>
              <a:t>Infrastructure level issues (VM, OS, server or storage issues)</a:t>
            </a:r>
          </a:p>
          <a:p>
            <a:r>
              <a:rPr lang="en-US" sz="1600" dirty="0"/>
              <a:t>Catastrophically natural disasters</a:t>
            </a:r>
          </a:p>
          <a:p>
            <a:r>
              <a:rPr lang="en-US" sz="1600" dirty="0"/>
              <a:t>Storage or database level corruptions</a:t>
            </a:r>
          </a:p>
          <a:p>
            <a:endParaRPr lang="en-US" dirty="0"/>
          </a:p>
        </p:txBody>
      </p:sp>
    </p:spTree>
    <p:extLst>
      <p:ext uri="{BB962C8B-B14F-4D97-AF65-F5344CB8AC3E}">
        <p14:creationId xmlns:p14="http://schemas.microsoft.com/office/powerpoint/2010/main" val="38770167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3" name="Rectangle 1032">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9595C4-11D6-B1AA-E07E-B83B85A1CC10}"/>
              </a:ext>
            </a:extLst>
          </p:cNvPr>
          <p:cNvSpPr>
            <a:spLocks noGrp="1"/>
          </p:cNvSpPr>
          <p:nvPr>
            <p:ph type="title"/>
          </p:nvPr>
        </p:nvSpPr>
        <p:spPr>
          <a:xfrm>
            <a:off x="793662" y="386930"/>
            <a:ext cx="10066122" cy="1298448"/>
          </a:xfrm>
        </p:spPr>
        <p:txBody>
          <a:bodyPr anchor="b">
            <a:normAutofit/>
          </a:bodyPr>
          <a:lstStyle/>
          <a:p>
            <a:r>
              <a:rPr lang="en-US" sz="4800" dirty="0">
                <a:ea typeface="Calibri Light"/>
                <a:cs typeface="Calibri Light"/>
              </a:rPr>
              <a:t>SQL Server Disaster Recovery</a:t>
            </a:r>
          </a:p>
        </p:txBody>
      </p:sp>
      <p:sp>
        <p:nvSpPr>
          <p:cNvPr id="1035" name="Rectangle 1034">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0" name="Content Placeholder 1029">
            <a:extLst>
              <a:ext uri="{FF2B5EF4-FFF2-40B4-BE49-F238E27FC236}">
                <a16:creationId xmlns:a16="http://schemas.microsoft.com/office/drawing/2014/main" id="{EB12F5DE-84BF-A3BA-AC20-78988ABF90CD}"/>
              </a:ext>
            </a:extLst>
          </p:cNvPr>
          <p:cNvSpPr>
            <a:spLocks noGrp="1"/>
          </p:cNvSpPr>
          <p:nvPr>
            <p:ph idx="1"/>
          </p:nvPr>
        </p:nvSpPr>
        <p:spPr>
          <a:xfrm>
            <a:off x="793660" y="2196943"/>
            <a:ext cx="10587098" cy="4042016"/>
          </a:xfrm>
        </p:spPr>
        <p:txBody>
          <a:bodyPr anchor="ctr">
            <a:normAutofit fontScale="85000" lnSpcReduction="20000"/>
          </a:bodyPr>
          <a:lstStyle/>
          <a:p>
            <a:pPr marL="0" indent="0">
              <a:buNone/>
            </a:pPr>
            <a:endParaRPr lang="en-US" sz="2300" dirty="0">
              <a:highlight>
                <a:srgbClr val="FFFFFF"/>
              </a:highlight>
            </a:endParaRPr>
          </a:p>
          <a:p>
            <a:r>
              <a:rPr lang="en-US" sz="2300" dirty="0">
                <a:highlight>
                  <a:srgbClr val="FFFFFF"/>
                </a:highlight>
              </a:rPr>
              <a:t>The primary goal of Disaster Recovery is to provide service continuity in case of any geographical disasters by recovering or resuming the services from a geographically different location. DR can be either located in one or more locations in addition to the primary location.</a:t>
            </a:r>
          </a:p>
          <a:p>
            <a:r>
              <a:rPr lang="en-US" sz="2300" dirty="0">
                <a:highlight>
                  <a:srgbClr val="FFFFFF"/>
                </a:highlight>
              </a:rPr>
              <a:t>SQL Server supports the below Disaster Recovery Techniques</a:t>
            </a:r>
          </a:p>
          <a:p>
            <a:r>
              <a:rPr lang="en-US" sz="2300" dirty="0">
                <a:highlight>
                  <a:srgbClr val="FFFFFF"/>
                </a:highlight>
              </a:rPr>
              <a:t>Backup and Restore</a:t>
            </a:r>
          </a:p>
          <a:p>
            <a:r>
              <a:rPr lang="en-US" sz="2300" dirty="0">
                <a:highlight>
                  <a:srgbClr val="FFFFFF"/>
                </a:highlight>
              </a:rPr>
              <a:t>Peer to Peer Replication</a:t>
            </a:r>
          </a:p>
          <a:p>
            <a:r>
              <a:rPr lang="en-US" sz="2300" dirty="0">
                <a:highlight>
                  <a:srgbClr val="FFFFFF"/>
                </a:highlight>
              </a:rPr>
              <a:t>Log Shipping (across geographically separated Datacenters)</a:t>
            </a:r>
          </a:p>
          <a:p>
            <a:r>
              <a:rPr lang="en-US" sz="2300" dirty="0">
                <a:highlight>
                  <a:srgbClr val="FFFFFF"/>
                </a:highlight>
              </a:rPr>
              <a:t>Database Mirroring (Asynchronous)</a:t>
            </a:r>
          </a:p>
          <a:p>
            <a:r>
              <a:rPr lang="en-US" sz="2300" dirty="0">
                <a:highlight>
                  <a:srgbClr val="FFFFFF"/>
                </a:highlight>
              </a:rPr>
              <a:t>Storage or VM Replication</a:t>
            </a:r>
          </a:p>
          <a:p>
            <a:r>
              <a:rPr lang="en-US" sz="2300" dirty="0">
                <a:highlight>
                  <a:srgbClr val="FFFFFF"/>
                </a:highlight>
              </a:rPr>
              <a:t>Always on Failover Cluster with Storage Replication</a:t>
            </a:r>
          </a:p>
          <a:p>
            <a:r>
              <a:rPr lang="en-US" sz="2300" dirty="0">
                <a:highlight>
                  <a:srgbClr val="FFFFFF"/>
                </a:highlight>
              </a:rPr>
              <a:t>Always on Failover Cluster Instance with Storage Replication</a:t>
            </a:r>
          </a:p>
          <a:p>
            <a:pPr marL="0" indent="0">
              <a:buNone/>
            </a:pPr>
            <a:endParaRPr lang="en-US" sz="2300" dirty="0">
              <a:solidFill>
                <a:srgbClr val="545D7E"/>
              </a:solidFill>
              <a:highlight>
                <a:srgbClr val="E5EDFF"/>
              </a:highlight>
              <a:ea typeface="Calibri"/>
              <a:cs typeface="Calibri"/>
            </a:endParaRPr>
          </a:p>
          <a:p>
            <a:pPr marL="0" indent="0">
              <a:buNone/>
            </a:pPr>
            <a:endParaRPr lang="en-US" sz="1600" dirty="0">
              <a:solidFill>
                <a:schemeClr val="tx1">
                  <a:lumMod val="85000"/>
                  <a:lumOff val="15000"/>
                </a:schemeClr>
              </a:solidFill>
              <a:ea typeface="Calibri"/>
              <a:cs typeface="Calibri"/>
            </a:endParaRPr>
          </a:p>
        </p:txBody>
      </p:sp>
      <p:sp>
        <p:nvSpPr>
          <p:cNvPr id="1039" name="Rectangle 1038">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275854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E0A08-4B1A-B8B0-4A32-998EA0564033}"/>
              </a:ext>
            </a:extLst>
          </p:cNvPr>
          <p:cNvSpPr>
            <a:spLocks noGrp="1"/>
          </p:cNvSpPr>
          <p:nvPr>
            <p:ph type="title"/>
          </p:nvPr>
        </p:nvSpPr>
        <p:spPr/>
        <p:txBody>
          <a:bodyPr/>
          <a:lstStyle/>
          <a:p>
            <a:r>
              <a:rPr lang="en-US" dirty="0"/>
              <a:t>SQL Server Always Available Database</a:t>
            </a:r>
            <a:endParaRPr lang="en-US" dirty="0">
              <a:ea typeface="Calibri Light"/>
              <a:cs typeface="Calibri Light"/>
            </a:endParaRPr>
          </a:p>
        </p:txBody>
      </p:sp>
      <p:sp>
        <p:nvSpPr>
          <p:cNvPr id="3" name="Content Placeholder 2">
            <a:extLst>
              <a:ext uri="{FF2B5EF4-FFF2-40B4-BE49-F238E27FC236}">
                <a16:creationId xmlns:a16="http://schemas.microsoft.com/office/drawing/2014/main" id="{E72EABCE-4314-EE41-14B7-A041134C7AF2}"/>
              </a:ext>
            </a:extLst>
          </p:cNvPr>
          <p:cNvSpPr>
            <a:spLocks noGrp="1"/>
          </p:cNvSpPr>
          <p:nvPr>
            <p:ph idx="1"/>
          </p:nvPr>
        </p:nvSpPr>
        <p:spPr>
          <a:xfrm>
            <a:off x="277484" y="1523701"/>
            <a:ext cx="11076316" cy="4653262"/>
          </a:xfrm>
        </p:spPr>
        <p:txBody>
          <a:bodyPr vert="horz" lIns="91440" tIns="45720" rIns="91440" bIns="45720" rtlCol="0" anchor="t">
            <a:normAutofit/>
          </a:bodyPr>
          <a:lstStyle/>
          <a:p>
            <a:r>
              <a:rPr lang="en-US" sz="1600" dirty="0">
                <a:ea typeface="Calibri"/>
                <a:cs typeface="Calibri"/>
              </a:rPr>
              <a:t>An  availability group refers to the </a:t>
            </a:r>
            <a:r>
              <a:rPr lang="en-US" sz="1600" dirty="0">
                <a:cs typeface="Calibri"/>
              </a:rPr>
              <a:t>container for a set of databases, availability databases, that fail over together.</a:t>
            </a:r>
          </a:p>
          <a:p>
            <a:endParaRPr lang="en-US" sz="1600" dirty="0">
              <a:cs typeface="Calibri"/>
            </a:endParaRPr>
          </a:p>
          <a:p>
            <a:endParaRPr lang="en-US" sz="1600" dirty="0">
              <a:cs typeface="Calibri"/>
            </a:endParaRPr>
          </a:p>
          <a:p>
            <a:r>
              <a:rPr lang="en-US" sz="1600" dirty="0">
                <a:cs typeface="Calibri"/>
              </a:rPr>
              <a:t>An availability database refers to a database that belongs to an availability group. For each availability database, the availability group maintains a single read-write copy (the primary database) and one to eight read-only copies (secondary databases).</a:t>
            </a:r>
          </a:p>
          <a:p>
            <a:endParaRPr lang="en-US" sz="1600" dirty="0">
              <a:cs typeface="Calibri"/>
            </a:endParaRPr>
          </a:p>
          <a:p>
            <a:r>
              <a:rPr lang="en-US" sz="1600" dirty="0">
                <a:cs typeface="Calibri"/>
              </a:rPr>
              <a:t>An Availability replica refers to  an instantiation of an availability group that a specific instance of SQL Server hosts and maintains a local copy of each availability database that belongs to the availability group. Two types of availability replicas exist: a single primary replica and one to eight secondary replicas.</a:t>
            </a:r>
          </a:p>
        </p:txBody>
      </p:sp>
    </p:spTree>
    <p:extLst>
      <p:ext uri="{BB962C8B-B14F-4D97-AF65-F5344CB8AC3E}">
        <p14:creationId xmlns:p14="http://schemas.microsoft.com/office/powerpoint/2010/main" val="4571664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52EE7-505B-D75C-41C9-2170C90E3759}"/>
              </a:ext>
            </a:extLst>
          </p:cNvPr>
          <p:cNvSpPr>
            <a:spLocks noGrp="1"/>
          </p:cNvSpPr>
          <p:nvPr>
            <p:ph type="title"/>
          </p:nvPr>
        </p:nvSpPr>
        <p:spPr/>
        <p:txBody>
          <a:bodyPr>
            <a:normAutofit/>
          </a:bodyPr>
          <a:lstStyle/>
          <a:p>
            <a:r>
              <a:rPr lang="en-US" dirty="0"/>
              <a:t>SQL Server HA – Always Available Database</a:t>
            </a:r>
          </a:p>
        </p:txBody>
      </p:sp>
      <p:sp>
        <p:nvSpPr>
          <p:cNvPr id="3" name="Content Placeholder 2">
            <a:extLst>
              <a:ext uri="{FF2B5EF4-FFF2-40B4-BE49-F238E27FC236}">
                <a16:creationId xmlns:a16="http://schemas.microsoft.com/office/drawing/2014/main" id="{C106DC33-4756-BA4F-EDCD-D4E8AD68CF35}"/>
              </a:ext>
            </a:extLst>
          </p:cNvPr>
          <p:cNvSpPr>
            <a:spLocks noGrp="1"/>
          </p:cNvSpPr>
          <p:nvPr>
            <p:ph idx="1"/>
          </p:nvPr>
        </p:nvSpPr>
        <p:spPr>
          <a:xfrm>
            <a:off x="838200" y="1552456"/>
            <a:ext cx="10515600" cy="4624507"/>
          </a:xfrm>
        </p:spPr>
        <p:txBody>
          <a:bodyPr vert="horz" lIns="91440" tIns="45720" rIns="91440" bIns="45720" rtlCol="0" anchor="t">
            <a:normAutofit/>
          </a:bodyPr>
          <a:lstStyle/>
          <a:p>
            <a:r>
              <a:rPr lang="en-US" sz="1600" dirty="0">
                <a:cs typeface="Calibri"/>
              </a:rPr>
              <a:t>To add a database to an availability group, the database must be an online, read-write database that exists on the server instance that hosts the primary replica. </a:t>
            </a:r>
          </a:p>
          <a:p>
            <a:endParaRPr lang="en-US" sz="1600" dirty="0">
              <a:cs typeface="Calibri"/>
            </a:endParaRPr>
          </a:p>
          <a:p>
            <a:r>
              <a:rPr lang="en-US" sz="1600" dirty="0">
                <a:cs typeface="Calibri"/>
              </a:rPr>
              <a:t>When you add a database, it joins the availability group as a primary database, while remaining available to clients. No corresponding secondary database exists until you restore backups of the new primary database to the server instance that hosts the secondary replica (using RESTORE WITH NORECOVERY).</a:t>
            </a:r>
          </a:p>
          <a:p>
            <a:endParaRPr lang="en-US" sz="1600" dirty="0">
              <a:cs typeface="Calibri"/>
            </a:endParaRPr>
          </a:p>
          <a:p>
            <a:r>
              <a:rPr lang="en-US" sz="1600" dirty="0">
                <a:cs typeface="Calibri"/>
              </a:rPr>
              <a:t> The new secondary database is in the RESTORING state until it's joined to the availability group.</a:t>
            </a:r>
          </a:p>
          <a:p>
            <a:endParaRPr lang="en-US" sz="1600" dirty="0">
              <a:cs typeface="Calibri"/>
            </a:endParaRPr>
          </a:p>
          <a:p>
            <a:r>
              <a:rPr lang="en-US" sz="1600" dirty="0">
                <a:cs typeface="Calibri"/>
              </a:rPr>
              <a:t>Joining places the secondary database into the ONLINE state and initiates data synchronization with the corresponding primary database. Data synchronization is the process by which changes to a primary database are reproduced on a secondary database. </a:t>
            </a:r>
          </a:p>
          <a:p>
            <a:endParaRPr lang="en-US" sz="1600" dirty="0">
              <a:cs typeface="Calibri"/>
            </a:endParaRPr>
          </a:p>
          <a:p>
            <a:r>
              <a:rPr lang="en-US" sz="1600" b="1" dirty="0">
                <a:cs typeface="Calibri"/>
              </a:rPr>
              <a:t>Data synchronization</a:t>
            </a:r>
            <a:r>
              <a:rPr lang="en-US" sz="1600" dirty="0">
                <a:cs typeface="Calibri"/>
              </a:rPr>
              <a:t> involves the primary database sending transaction log records to the secondary database.</a:t>
            </a:r>
          </a:p>
          <a:p>
            <a:endParaRPr lang="en-US" b="1" dirty="0"/>
          </a:p>
          <a:p>
            <a:endParaRPr lang="en-US" sz="1600" dirty="0">
              <a:cs typeface="Calibri"/>
            </a:endParaRPr>
          </a:p>
          <a:p>
            <a:endParaRPr lang="en-US" sz="1600" dirty="0"/>
          </a:p>
        </p:txBody>
      </p:sp>
    </p:spTree>
    <p:extLst>
      <p:ext uri="{BB962C8B-B14F-4D97-AF65-F5344CB8AC3E}">
        <p14:creationId xmlns:p14="http://schemas.microsoft.com/office/powerpoint/2010/main" val="28636955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0E346FE-4E09-C356-AB28-CB782DAC4923}"/>
              </a:ext>
            </a:extLst>
          </p:cNvPr>
          <p:cNvSpPr>
            <a:spLocks noGrp="1"/>
          </p:cNvSpPr>
          <p:nvPr>
            <p:ph type="title"/>
          </p:nvPr>
        </p:nvSpPr>
        <p:spPr>
          <a:xfrm>
            <a:off x="1137034" y="609597"/>
            <a:ext cx="10068156" cy="1330841"/>
          </a:xfrm>
        </p:spPr>
        <p:txBody>
          <a:bodyPr>
            <a:normAutofit/>
          </a:bodyPr>
          <a:lstStyle/>
          <a:p>
            <a:r>
              <a:rPr lang="en-US" dirty="0">
                <a:ea typeface="Calibri Light"/>
                <a:cs typeface="Calibri Light"/>
              </a:rPr>
              <a:t>SQL Server Always Available Replicas</a:t>
            </a:r>
            <a:endParaRPr lang="en-US" dirty="0"/>
          </a:p>
        </p:txBody>
      </p:sp>
      <p:sp>
        <p:nvSpPr>
          <p:cNvPr id="3" name="Content Placeholder 2">
            <a:extLst>
              <a:ext uri="{FF2B5EF4-FFF2-40B4-BE49-F238E27FC236}">
                <a16:creationId xmlns:a16="http://schemas.microsoft.com/office/drawing/2014/main" id="{15204D52-8C50-848B-EB7F-1CE477320D8D}"/>
              </a:ext>
            </a:extLst>
          </p:cNvPr>
          <p:cNvSpPr>
            <a:spLocks noGrp="1"/>
          </p:cNvSpPr>
          <p:nvPr>
            <p:ph idx="1"/>
          </p:nvPr>
        </p:nvSpPr>
        <p:spPr>
          <a:xfrm>
            <a:off x="1137034" y="2198362"/>
            <a:ext cx="9732249" cy="4018414"/>
          </a:xfrm>
        </p:spPr>
        <p:txBody>
          <a:bodyPr vert="horz" lIns="91440" tIns="45720" rIns="91440" bIns="45720" rtlCol="0" anchor="t">
            <a:normAutofit/>
          </a:bodyPr>
          <a:lstStyle/>
          <a:p>
            <a:r>
              <a:rPr lang="en-US" sz="1600" dirty="0">
                <a:cs typeface="Calibri"/>
              </a:rPr>
              <a:t>Each availability group defines a set of two or more failover partners known as availability replicas.</a:t>
            </a:r>
          </a:p>
          <a:p>
            <a:endParaRPr lang="en-US" sz="1600" dirty="0">
              <a:cs typeface="Calibri"/>
            </a:endParaRPr>
          </a:p>
          <a:p>
            <a:r>
              <a:rPr lang="en-US" sz="1600" dirty="0">
                <a:cs typeface="Calibri"/>
              </a:rPr>
              <a:t> Availability replicas are components of the availability group.</a:t>
            </a:r>
          </a:p>
          <a:p>
            <a:endParaRPr lang="en-US" sz="1600" dirty="0">
              <a:cs typeface="Calibri"/>
            </a:endParaRPr>
          </a:p>
          <a:p>
            <a:r>
              <a:rPr lang="en-US" sz="1600" dirty="0">
                <a:cs typeface="Calibri"/>
              </a:rPr>
              <a:t> Each availability replica hosts a copy of the availability databases in the availability group. For a given availability group, separate instances of SQL Server residing on different nodes of a WSFC cluster must host the availability replicas. Each of these server instances must be enabled for Always On.</a:t>
            </a:r>
            <a:br>
              <a:rPr lang="en-US" sz="1600" dirty="0">
                <a:cs typeface="Calibri"/>
              </a:rPr>
            </a:br>
            <a:endParaRPr lang="en-US" sz="1600" dirty="0">
              <a:cs typeface="Calibri"/>
            </a:endParaRPr>
          </a:p>
          <a:p>
            <a:r>
              <a:rPr lang="en-US" sz="1600" dirty="0">
                <a:cs typeface="Calibri"/>
              </a:rPr>
              <a:t>SQL Server 2019 (15.x) increases the maximum number of synchronous replicas to 5, up from 3 in SQL Server 2017 (14.x). You can configure this group of five replicas to have automatic failover within the group. There's one primary replica, plus four synchronous secondary replicas.</a:t>
            </a:r>
          </a:p>
          <a:p>
            <a:pPr>
              <a:buFont typeface="Wingdings" panose="020B0604020202020204" pitchFamily="34" charset="0"/>
              <a:buChar char="q"/>
            </a:pPr>
            <a:endParaRPr lang="en-US" sz="2000" dirty="0">
              <a:ea typeface="Calibri"/>
              <a:cs typeface="Calibri"/>
            </a:endParaRPr>
          </a:p>
        </p:txBody>
      </p:sp>
      <p:sp>
        <p:nvSpPr>
          <p:cNvPr id="13" name="Freeform: Shape 12">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7804545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9CE5504-5476-50E1-7AAF-3C5E510D8B94}"/>
              </a:ext>
            </a:extLst>
          </p:cNvPr>
          <p:cNvSpPr>
            <a:spLocks noGrp="1"/>
          </p:cNvSpPr>
          <p:nvPr>
            <p:ph type="title"/>
          </p:nvPr>
        </p:nvSpPr>
        <p:spPr>
          <a:xfrm>
            <a:off x="838200" y="609600"/>
            <a:ext cx="9605303" cy="1330839"/>
          </a:xfrm>
        </p:spPr>
        <p:txBody>
          <a:bodyPr>
            <a:normAutofit/>
          </a:bodyPr>
          <a:lstStyle/>
          <a:p>
            <a:r>
              <a:rPr lang="en-US" dirty="0">
                <a:ea typeface="Calibri Light"/>
                <a:cs typeface="Calibri Light"/>
              </a:rPr>
              <a:t>SQL Server Availability Modes</a:t>
            </a:r>
            <a:endParaRPr lang="en-US" dirty="0"/>
          </a:p>
        </p:txBody>
      </p:sp>
      <p:sp>
        <p:nvSpPr>
          <p:cNvPr id="3" name="Content Placeholder 2">
            <a:extLst>
              <a:ext uri="{FF2B5EF4-FFF2-40B4-BE49-F238E27FC236}">
                <a16:creationId xmlns:a16="http://schemas.microsoft.com/office/drawing/2014/main" id="{F232724B-90E2-3EA5-37A9-8457D0A9F036}"/>
              </a:ext>
            </a:extLst>
          </p:cNvPr>
          <p:cNvSpPr>
            <a:spLocks noGrp="1"/>
          </p:cNvSpPr>
          <p:nvPr>
            <p:ph idx="1"/>
          </p:nvPr>
        </p:nvSpPr>
        <p:spPr>
          <a:xfrm>
            <a:off x="833612" y="1705272"/>
            <a:ext cx="9868056" cy="4397416"/>
          </a:xfrm>
        </p:spPr>
        <p:txBody>
          <a:bodyPr vert="horz" lIns="91440" tIns="45720" rIns="91440" bIns="45720" rtlCol="0" anchor="t">
            <a:noAutofit/>
          </a:bodyPr>
          <a:lstStyle/>
          <a:p>
            <a:r>
              <a:rPr lang="en-US" sz="1600" dirty="0"/>
              <a:t>Each availability replica has an availability mode property. The availability mode determines whether the primary replica waits to commit transactions on a database until a given secondary replica writes the transaction log records to disk (hardens the log). </a:t>
            </a:r>
          </a:p>
          <a:p>
            <a:r>
              <a:rPr lang="en-US" sz="1600" dirty="0"/>
              <a:t>Always On availability groups supports two availability modes: </a:t>
            </a:r>
            <a:r>
              <a:rPr lang="en-US" sz="1600" i="1" dirty="0"/>
              <a:t>asynchronous-commit mode</a:t>
            </a:r>
            <a:r>
              <a:rPr lang="en-US" sz="1600" dirty="0"/>
              <a:t> and </a:t>
            </a:r>
            <a:r>
              <a:rPr lang="en-US" sz="1600" i="1" dirty="0"/>
              <a:t>synchronous-commit mode</a:t>
            </a:r>
            <a:r>
              <a:rPr lang="en-US" sz="1600" dirty="0"/>
              <a:t>.</a:t>
            </a:r>
          </a:p>
          <a:p>
            <a:r>
              <a:rPr lang="en-US" sz="1600" b="1" dirty="0">
                <a:ea typeface="Calibri"/>
                <a:cs typeface="Calibri"/>
              </a:rPr>
              <a:t>Asynchronous Commit mode </a:t>
            </a:r>
            <a:r>
              <a:rPr lang="en-US" sz="1600" dirty="0">
                <a:ea typeface="Calibri"/>
                <a:cs typeface="Calibri"/>
              </a:rPr>
              <a:t>- </a:t>
            </a:r>
            <a:r>
              <a:rPr lang="en-US" sz="1600" dirty="0"/>
              <a:t>An availability replica that uses this availability mode is known as an asynchronous-commit replica. Under asynchronous-commit mode, the primary replica commits transactions without waiting for acknowledgment from asynchronous-commit secondary replicas to harden their transaction logs. </a:t>
            </a:r>
          </a:p>
          <a:p>
            <a:endParaRPr lang="en-US" sz="1400" dirty="0">
              <a:ea typeface="Calibri"/>
              <a:cs typeface="Calibri"/>
            </a:endParaRPr>
          </a:p>
          <a:p>
            <a:r>
              <a:rPr lang="en-US" sz="1600" b="1" dirty="0">
                <a:cs typeface="Calibri"/>
              </a:rPr>
              <a:t>Synchronous commit mode - </a:t>
            </a:r>
            <a:r>
              <a:rPr lang="en-US" sz="1600" dirty="0"/>
              <a:t>An availability replica that uses this availability mode is known as a </a:t>
            </a:r>
            <a:r>
              <a:rPr lang="en-US" sz="1600" i="1" dirty="0"/>
              <a:t>synchronous-commit replica</a:t>
            </a:r>
            <a:r>
              <a:rPr lang="en-US" sz="1600" dirty="0"/>
              <a:t>. Under synchronous-commit mode, before committing transactions, a synchronous-commit primary replica waits for a synchronous-commit secondary replica to acknowledge that it finished hardening the log. Synchronous-commit mode ensures that once a given secondary database is synchronized with the primary database, committed transactions are fully protected</a:t>
            </a:r>
            <a:r>
              <a:rPr lang="en-US" dirty="0"/>
              <a:t>. </a:t>
            </a:r>
            <a:endParaRPr lang="en-US" sz="1600" b="1" dirty="0">
              <a:cs typeface="Calibri"/>
            </a:endParaRPr>
          </a:p>
        </p:txBody>
      </p:sp>
    </p:spTree>
    <p:extLst>
      <p:ext uri="{BB962C8B-B14F-4D97-AF65-F5344CB8AC3E}">
        <p14:creationId xmlns:p14="http://schemas.microsoft.com/office/powerpoint/2010/main" val="25623542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7275002-1ED1-EFB6-B864-C7DA683F5726}"/>
              </a:ext>
            </a:extLst>
          </p:cNvPr>
          <p:cNvSpPr>
            <a:spLocks noGrp="1"/>
          </p:cNvSpPr>
          <p:nvPr>
            <p:ph type="title"/>
          </p:nvPr>
        </p:nvSpPr>
        <p:spPr>
          <a:xfrm>
            <a:off x="1050770" y="5748"/>
            <a:ext cx="10068156" cy="1417105"/>
          </a:xfrm>
        </p:spPr>
        <p:txBody>
          <a:bodyPr>
            <a:normAutofit/>
          </a:bodyPr>
          <a:lstStyle/>
          <a:p>
            <a:r>
              <a:rPr lang="en-US" dirty="0">
                <a:ea typeface="Calibri Light"/>
                <a:cs typeface="Calibri Light"/>
              </a:rPr>
              <a:t>SQL Server HA Benefits </a:t>
            </a:r>
          </a:p>
        </p:txBody>
      </p:sp>
      <p:sp>
        <p:nvSpPr>
          <p:cNvPr id="3" name="Content Placeholder 2">
            <a:extLst>
              <a:ext uri="{FF2B5EF4-FFF2-40B4-BE49-F238E27FC236}">
                <a16:creationId xmlns:a16="http://schemas.microsoft.com/office/drawing/2014/main" id="{46C93B46-87CE-FCD3-578C-CC70F36DF64A}"/>
              </a:ext>
            </a:extLst>
          </p:cNvPr>
          <p:cNvSpPr>
            <a:spLocks noGrp="1"/>
          </p:cNvSpPr>
          <p:nvPr>
            <p:ph idx="1"/>
          </p:nvPr>
        </p:nvSpPr>
        <p:spPr>
          <a:xfrm>
            <a:off x="375033" y="1421985"/>
            <a:ext cx="7939234" cy="4794791"/>
          </a:xfrm>
        </p:spPr>
        <p:txBody>
          <a:bodyPr vert="horz" lIns="91440" tIns="45720" rIns="91440" bIns="45720" rtlCol="0" anchor="t">
            <a:noAutofit/>
          </a:bodyPr>
          <a:lstStyle/>
          <a:p>
            <a:endParaRPr lang="en-US" b="1" dirty="0"/>
          </a:p>
          <a:p>
            <a:r>
              <a:rPr lang="en-US" sz="1600" dirty="0"/>
              <a:t>Supports up to nine availability replicas. An </a:t>
            </a:r>
            <a:r>
              <a:rPr lang="en-US" sz="1600" i="1" dirty="0"/>
              <a:t>availability replica</a:t>
            </a:r>
            <a:r>
              <a:rPr lang="en-US" sz="1600" dirty="0"/>
              <a:t> is an instantiation of an availability group that a specific instance of SQL Server hosts. It maintains a local copy of each availability database that belongs to the availability group.</a:t>
            </a:r>
          </a:p>
          <a:p>
            <a:endParaRPr lang="en-US" sz="800" dirty="0">
              <a:highlight>
                <a:srgbClr val="1F1F1F"/>
              </a:highlight>
              <a:latin typeface="Segoe UI"/>
              <a:ea typeface="Calibri"/>
              <a:cs typeface="Segoe UI"/>
            </a:endParaRPr>
          </a:p>
          <a:p>
            <a:pPr marL="0" indent="0">
              <a:buNone/>
            </a:pPr>
            <a:endParaRPr lang="en-US" sz="800" dirty="0">
              <a:highlight>
                <a:srgbClr val="1F1F1F"/>
              </a:highlight>
              <a:latin typeface="Segoe UI"/>
              <a:ea typeface="Calibri"/>
              <a:cs typeface="Segoe UI"/>
            </a:endParaRPr>
          </a:p>
          <a:p>
            <a:r>
              <a:rPr lang="en-US" sz="1600" dirty="0"/>
              <a:t>Supports alternative availability modes – Asynchronous &amp; synchronous commit mode. </a:t>
            </a:r>
          </a:p>
          <a:p>
            <a:endParaRPr lang="en-US" sz="1600" dirty="0"/>
          </a:p>
          <a:p>
            <a:r>
              <a:rPr lang="en-US" sz="1600" dirty="0"/>
              <a:t>Supports several forms of failover – automatic failover, planned manual failover, forced manual failover. </a:t>
            </a:r>
          </a:p>
          <a:p>
            <a:endParaRPr lang="en-US" sz="1600" dirty="0"/>
          </a:p>
          <a:p>
            <a:r>
              <a:rPr lang="en-US" sz="1600" dirty="0"/>
              <a:t>Supports an availability group listener for each availability group. An availability group listener is a server name to which clients can connect, in order to access a database in a primary or secondary replica of an Always On availability group.</a:t>
            </a:r>
          </a:p>
          <a:p>
            <a:r>
              <a:rPr lang="en-US" sz="1600" dirty="0"/>
              <a:t> Availability group listeners direct incoming connections to the primary replica or to a read-only secondary replica</a:t>
            </a:r>
          </a:p>
          <a:p>
            <a:endParaRPr lang="en-US" sz="800" dirty="0">
              <a:highlight>
                <a:srgbClr val="1F1F1F"/>
              </a:highlight>
              <a:latin typeface="Segoe UI"/>
              <a:ea typeface="Calibri"/>
              <a:cs typeface="Segoe UI"/>
            </a:endParaRPr>
          </a:p>
        </p:txBody>
      </p:sp>
      <p:pic>
        <p:nvPicPr>
          <p:cNvPr id="28" name="Graphic 27" descr="Database">
            <a:extLst>
              <a:ext uri="{FF2B5EF4-FFF2-40B4-BE49-F238E27FC236}">
                <a16:creationId xmlns:a16="http://schemas.microsoft.com/office/drawing/2014/main" id="{CCBC0961-34A1-EB79-116D-76876B83193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436084" y="1814516"/>
            <a:ext cx="3755915" cy="3755915"/>
          </a:xfrm>
          <a:prstGeom prst="rect">
            <a:avLst/>
          </a:prstGeom>
        </p:spPr>
      </p:pic>
      <p:sp>
        <p:nvSpPr>
          <p:cNvPr id="29" name="Freeform: Shape 28">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6064160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BE521-14AE-1695-9722-084088DF9A6A}"/>
              </a:ext>
            </a:extLst>
          </p:cNvPr>
          <p:cNvSpPr>
            <a:spLocks noGrp="1"/>
          </p:cNvSpPr>
          <p:nvPr>
            <p:ph type="title"/>
          </p:nvPr>
        </p:nvSpPr>
        <p:spPr/>
        <p:txBody>
          <a:bodyPr/>
          <a:lstStyle/>
          <a:p>
            <a:r>
              <a:rPr lang="en-US" dirty="0"/>
              <a:t>SQL Server HA Benefits </a:t>
            </a:r>
          </a:p>
        </p:txBody>
      </p:sp>
      <p:sp>
        <p:nvSpPr>
          <p:cNvPr id="3" name="Content Placeholder 2">
            <a:extLst>
              <a:ext uri="{FF2B5EF4-FFF2-40B4-BE49-F238E27FC236}">
                <a16:creationId xmlns:a16="http://schemas.microsoft.com/office/drawing/2014/main" id="{93FC8CF4-AF75-D5DF-DB24-0B15E25B9D10}"/>
              </a:ext>
            </a:extLst>
          </p:cNvPr>
          <p:cNvSpPr>
            <a:spLocks noGrp="1"/>
          </p:cNvSpPr>
          <p:nvPr>
            <p:ph idx="1"/>
          </p:nvPr>
        </p:nvSpPr>
        <p:spPr/>
        <p:txBody>
          <a:bodyPr>
            <a:normAutofit/>
          </a:bodyPr>
          <a:lstStyle/>
          <a:p>
            <a:r>
              <a:rPr lang="en-US" sz="1600" dirty="0"/>
              <a:t>Supports a flexible failover policy for greater control over availability-group failover.</a:t>
            </a:r>
          </a:p>
          <a:p>
            <a:endParaRPr lang="en-US" sz="1600" dirty="0"/>
          </a:p>
          <a:p>
            <a:r>
              <a:rPr lang="en-US" sz="1600" dirty="0"/>
              <a:t>Supports automatic page repair for protection against page corruption. </a:t>
            </a:r>
          </a:p>
          <a:p>
            <a:endParaRPr lang="en-US" sz="1600" dirty="0"/>
          </a:p>
          <a:p>
            <a:pPr marL="0" indent="0">
              <a:buNone/>
            </a:pPr>
            <a:endParaRPr lang="en-US" sz="1600" dirty="0"/>
          </a:p>
          <a:p>
            <a:r>
              <a:rPr lang="en-US" sz="1600" dirty="0"/>
              <a:t>supports encryption and compression, which provide a secure, high performing transport.</a:t>
            </a:r>
          </a:p>
          <a:p>
            <a:endParaRPr lang="en-US" sz="1600" dirty="0"/>
          </a:p>
          <a:p>
            <a:r>
              <a:rPr lang="en-US" sz="1600" dirty="0"/>
              <a:t>The Always On Dashboard monitors Always On availability groups, availability replicas, and availability databases and evaluates results for Always On policies.</a:t>
            </a:r>
          </a:p>
        </p:txBody>
      </p:sp>
    </p:spTree>
    <p:extLst>
      <p:ext uri="{BB962C8B-B14F-4D97-AF65-F5344CB8AC3E}">
        <p14:creationId xmlns:p14="http://schemas.microsoft.com/office/powerpoint/2010/main" val="38195365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B950E-C0A1-C9BF-2502-54EA9A095D09}"/>
              </a:ext>
            </a:extLst>
          </p:cNvPr>
          <p:cNvSpPr>
            <a:spLocks noGrp="1"/>
          </p:cNvSpPr>
          <p:nvPr>
            <p:ph type="title"/>
          </p:nvPr>
        </p:nvSpPr>
        <p:spPr/>
        <p:txBody>
          <a:bodyPr/>
          <a:lstStyle/>
          <a:p>
            <a:r>
              <a:rPr lang="en-US">
                <a:ea typeface="Calibri Light"/>
                <a:cs typeface="Calibri Light"/>
              </a:rPr>
              <a:t>Wrap Up</a:t>
            </a:r>
            <a:endParaRPr lang="en-US"/>
          </a:p>
        </p:txBody>
      </p:sp>
      <p:sp>
        <p:nvSpPr>
          <p:cNvPr id="3" name="Content Placeholder 2">
            <a:extLst>
              <a:ext uri="{FF2B5EF4-FFF2-40B4-BE49-F238E27FC236}">
                <a16:creationId xmlns:a16="http://schemas.microsoft.com/office/drawing/2014/main" id="{17A92360-20AC-B4B9-E6D4-F21EB8C73511}"/>
              </a:ext>
            </a:extLst>
          </p:cNvPr>
          <p:cNvSpPr>
            <a:spLocks noGrp="1"/>
          </p:cNvSpPr>
          <p:nvPr>
            <p:ph idx="1"/>
          </p:nvPr>
        </p:nvSpPr>
        <p:spPr/>
        <p:txBody>
          <a:bodyPr vert="horz" lIns="91440" tIns="45720" rIns="91440" bIns="45720" rtlCol="0" anchor="t">
            <a:normAutofit/>
          </a:bodyPr>
          <a:lstStyle/>
          <a:p>
            <a:r>
              <a:rPr lang="en-US" dirty="0">
                <a:ea typeface="Calibri"/>
                <a:cs typeface="Calibri"/>
              </a:rPr>
              <a:t>SQL Server High Availability Concepts</a:t>
            </a:r>
            <a:endParaRPr lang="en-US" dirty="0"/>
          </a:p>
          <a:p>
            <a:pPr marL="0" indent="0">
              <a:buNone/>
            </a:pPr>
            <a:endParaRPr lang="en-US" dirty="0">
              <a:ea typeface="Calibri"/>
              <a:cs typeface="Calibri"/>
            </a:endParaRPr>
          </a:p>
          <a:p>
            <a:r>
              <a:rPr lang="en-US" dirty="0">
                <a:ea typeface="Calibri"/>
                <a:cs typeface="Calibri"/>
              </a:rPr>
              <a:t>SQL Server Availability Database</a:t>
            </a:r>
          </a:p>
          <a:p>
            <a:endParaRPr lang="en-US" dirty="0">
              <a:ea typeface="Calibri"/>
              <a:cs typeface="Calibri"/>
            </a:endParaRPr>
          </a:p>
          <a:p>
            <a:r>
              <a:rPr lang="en-US" dirty="0">
                <a:ea typeface="Calibri"/>
                <a:cs typeface="Calibri"/>
              </a:rPr>
              <a:t>SQL Server Availability Modes </a:t>
            </a:r>
          </a:p>
          <a:p>
            <a:pPr marL="0" indent="0">
              <a:buNone/>
            </a:pPr>
            <a:endParaRPr lang="en-US" dirty="0">
              <a:ea typeface="Calibri"/>
              <a:cs typeface="Calibri"/>
            </a:endParaRPr>
          </a:p>
          <a:p>
            <a:r>
              <a:rPr lang="en-US" dirty="0">
                <a:ea typeface="Calibri"/>
                <a:cs typeface="Calibri"/>
              </a:rPr>
              <a:t> SQL Server HA Benefits</a:t>
            </a:r>
          </a:p>
        </p:txBody>
      </p:sp>
    </p:spTree>
    <p:extLst>
      <p:ext uri="{BB962C8B-B14F-4D97-AF65-F5344CB8AC3E}">
        <p14:creationId xmlns:p14="http://schemas.microsoft.com/office/powerpoint/2010/main" val="816150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434</TotalTime>
  <Words>1139</Words>
  <Application>Microsoft Office PowerPoint</Application>
  <PresentationFormat>Widescreen</PresentationFormat>
  <Paragraphs>105</Paragraphs>
  <Slides>14</Slides>
  <Notes>0</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Calibri Light</vt:lpstr>
      <vt:lpstr>Segoe UI</vt:lpstr>
      <vt:lpstr>Wingdings</vt:lpstr>
      <vt:lpstr>Office 2013 - 2022 Theme</vt:lpstr>
      <vt:lpstr>SQL Server Administration &amp; Azure Data Engineering</vt:lpstr>
      <vt:lpstr>Agenda</vt:lpstr>
      <vt:lpstr>SQL Server Always On Overview</vt:lpstr>
      <vt:lpstr>SQL Database HA </vt:lpstr>
      <vt:lpstr>SQL Server HA/DR Architecture</vt:lpstr>
      <vt:lpstr>SQL Server HA/DR Configuration</vt:lpstr>
      <vt:lpstr>SQL Server Disaster Recovery</vt:lpstr>
      <vt:lpstr>SQL Server Always Available Database</vt:lpstr>
      <vt:lpstr>SQL Server HA – Always Available Database</vt:lpstr>
      <vt:lpstr>SQL Server Always Available Replicas</vt:lpstr>
      <vt:lpstr>SQL Server Availability Modes</vt:lpstr>
      <vt:lpstr>SQL Server HA Benefits </vt:lpstr>
      <vt:lpstr>SQL Server HA Benefits </vt:lpstr>
      <vt:lpstr>Wrap 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Anindita Basak</dc:creator>
  <cp:lastModifiedBy>Anindita Basak</cp:lastModifiedBy>
  <cp:revision>556</cp:revision>
  <dcterms:created xsi:type="dcterms:W3CDTF">2026-04-11T17:33:10Z</dcterms:created>
  <dcterms:modified xsi:type="dcterms:W3CDTF">2026-04-22T18:20:15Z</dcterms:modified>
</cp:coreProperties>
</file>