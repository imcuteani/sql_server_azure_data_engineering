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62" r:id="rId4"/>
    <p:sldId id="264" r:id="rId5"/>
    <p:sldId id="265" r:id="rId6"/>
    <p:sldId id="266" r:id="rId7"/>
    <p:sldId id="267" r:id="rId8"/>
    <p:sldId id="269" r:id="rId9"/>
    <p:sldId id="270" r:id="rId10"/>
    <p:sldId id="271" r:id="rId11"/>
    <p:sldId id="272" r:id="rId12"/>
    <p:sldId id="273" r:id="rId13"/>
    <p:sldId id="274" r:id="rId14"/>
    <p:sldId id="282" r:id="rId15"/>
    <p:sldId id="275" r:id="rId16"/>
    <p:sldId id="276" r:id="rId17"/>
    <p:sldId id="280" r:id="rId18"/>
    <p:sldId id="25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40EAC-CC0A-5485-BCEE-37BDB29D673B}" v="625" dt="2026-04-12T15:19:31.891"/>
    <p1510:client id="{126C75FD-9A41-3249-608E-772329B48536}" v="830" dt="2026-04-14T10:02:26.744"/>
    <p1510:client id="{22D66706-7690-ACC8-E32C-921547D31D47}" v="2" dt="2026-04-13T12:37:38.606"/>
    <p1510:client id="{44FD2894-0480-9C1E-A647-D0E7979760DA}" v="446" dt="2026-04-13T16:01:21.507"/>
    <p1510:client id="{8E12EF59-2A41-92D6-385B-F56135F5B8D7}" v="210" dt="2026-04-12T17:52:18.371"/>
    <p1510:client id="{9927AD77-2696-5238-F9B1-88B863DA5C57}" v="278" dt="2026-04-14T09:47:33.089"/>
    <p1510:client id="{E5DF0B76-E98F-2D85-D1E5-931E795B41E8}" v="1505" dt="2026-04-12T17:04:41.141"/>
    <p1510:client id="{E896230E-595A-DF97-A919-F4C2974567C3}" v="185" dt="2026-04-13T15:16:48.3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1236"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4/18/2026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liquibase.com/resources/guides/database-deploymen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learn.microsoft.com/en-us/sql/database-engine/database-mirroring/the-database-mirroring-endpoint-sql-server?view=sql-server-ver17"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sql/relational-databases/system-stored-procedures/managed-backup-sp-backup-config-schedule-transact-sql?view=sql-server-ver16"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a:t>SQL Server Administration &amp; Azure Data Engineering</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4</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t>SQL Server Deployment Best Practices</a:t>
            </a:r>
            <a:endParaRPr lang="en-US" dirty="0"/>
          </a:p>
          <a:p>
            <a:r>
              <a:rPr lang="en-US" sz="2200" dirty="0"/>
              <a:t>SQL Server Log Shipping</a:t>
            </a:r>
            <a:endParaRPr lang="en-US" dirty="0"/>
          </a:p>
          <a:p>
            <a:r>
              <a:rPr lang="en-US" sz="2200" dirty="0">
                <a:ea typeface="Calibri" panose="020F0502020204030204"/>
                <a:cs typeface="Calibri" panose="020F0502020204030204"/>
              </a:rPr>
              <a:t>Mirroring in SQL Server</a:t>
            </a:r>
          </a:p>
          <a:p>
            <a:r>
              <a:rPr lang="en-US" sz="2200" dirty="0">
                <a:ea typeface="Calibri" panose="020F0502020204030204"/>
                <a:cs typeface="Calibri" panose="020F0502020204030204"/>
              </a:rPr>
              <a:t>SQL Server Mirroring Setup</a:t>
            </a:r>
            <a:endParaRPr lang="en-US" dirty="0">
              <a:ea typeface="Calibri" panose="020F0502020204030204"/>
              <a:cs typeface="Calibri" panose="020F0502020204030204"/>
            </a:endParaRPr>
          </a:p>
          <a:p>
            <a:r>
              <a:rPr lang="en-US" sz="2200" dirty="0">
                <a:ea typeface="Calibri" panose="020F0502020204030204"/>
                <a:cs typeface="Calibri" panose="020F0502020204030204"/>
              </a:rPr>
              <a:t>SQL Server Replication</a:t>
            </a:r>
            <a:endParaRPr lang="en-US" dirty="0">
              <a:ea typeface="Calibri" panose="020F0502020204030204"/>
              <a:cs typeface="Calibri" panose="020F0502020204030204"/>
            </a:endParaRPr>
          </a:p>
          <a:p>
            <a:r>
              <a:rPr lang="en-US" sz="2200" dirty="0">
                <a:ea typeface="Calibri" panose="020F0502020204030204"/>
                <a:cs typeface="Calibri" panose="020F0502020204030204"/>
              </a:rPr>
              <a:t>Azure SQL , SQL Managed Instance, Azure SQL VM</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9595C4-11D6-B1AA-E07E-B83B85A1CC10}"/>
              </a:ext>
            </a:extLst>
          </p:cNvPr>
          <p:cNvSpPr>
            <a:spLocks noGrp="1"/>
          </p:cNvSpPr>
          <p:nvPr>
            <p:ph type="title"/>
          </p:nvPr>
        </p:nvSpPr>
        <p:spPr>
          <a:xfrm>
            <a:off x="793662" y="386930"/>
            <a:ext cx="10066122" cy="1298448"/>
          </a:xfrm>
        </p:spPr>
        <p:txBody>
          <a:bodyPr anchor="b">
            <a:normAutofit/>
          </a:bodyPr>
          <a:lstStyle/>
          <a:p>
            <a:r>
              <a:rPr lang="en-US" sz="4800">
                <a:ea typeface="Calibri Light"/>
                <a:cs typeface="Calibri Light"/>
              </a:rPr>
              <a:t>SQL Server Deployment Best Practice</a:t>
            </a:r>
          </a:p>
        </p:txBody>
      </p:sp>
      <p:sp>
        <p:nvSpPr>
          <p:cNvPr id="1035" name="Rectangle 10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Content Placeholder 1029">
            <a:extLst>
              <a:ext uri="{FF2B5EF4-FFF2-40B4-BE49-F238E27FC236}">
                <a16:creationId xmlns:a16="http://schemas.microsoft.com/office/drawing/2014/main" id="{EB12F5DE-84BF-A3BA-AC20-78988ABF90CD}"/>
              </a:ext>
            </a:extLst>
          </p:cNvPr>
          <p:cNvSpPr>
            <a:spLocks noGrp="1"/>
          </p:cNvSpPr>
          <p:nvPr>
            <p:ph idx="1"/>
          </p:nvPr>
        </p:nvSpPr>
        <p:spPr>
          <a:xfrm>
            <a:off x="793660" y="2196943"/>
            <a:ext cx="10587098" cy="4042016"/>
          </a:xfrm>
        </p:spPr>
        <p:txBody>
          <a:bodyPr anchor="ctr">
            <a:normAutofit/>
          </a:bodyPr>
          <a:lstStyle/>
          <a:p>
            <a:pPr>
              <a:buFont typeface="Arial" panose="05000000000000000000" pitchFamily="2" charset="2"/>
              <a:buChar char="•"/>
            </a:pPr>
            <a:r>
              <a:rPr lang="en-US" sz="1600">
                <a:solidFill>
                  <a:srgbClr val="0A0A0A"/>
                </a:solidFill>
                <a:highlight>
                  <a:srgbClr val="FFFFFF"/>
                </a:highlight>
                <a:ea typeface="+mn-lt"/>
                <a:cs typeface="+mn-lt"/>
              </a:rPr>
              <a:t>Deploying SQL Server effectively requires optimizing infrastructure, configuration, and automation to ensure high performance and reliability. </a:t>
            </a:r>
            <a:endParaRPr lang="en-US" sz="1600">
              <a:solidFill>
                <a:schemeClr val="tx1">
                  <a:lumMod val="85000"/>
                  <a:lumOff val="15000"/>
                </a:schemeClr>
              </a:solidFill>
              <a:ea typeface="Calibri"/>
              <a:cs typeface="Calibri"/>
            </a:endParaRPr>
          </a:p>
          <a:p>
            <a:pPr>
              <a:buFont typeface="Arial" panose="05000000000000000000" pitchFamily="2" charset="2"/>
              <a:buChar char="•"/>
            </a:pPr>
            <a:r>
              <a:rPr lang="en-US" sz="1600" b="1">
                <a:solidFill>
                  <a:srgbClr val="001D35"/>
                </a:solidFill>
                <a:highlight>
                  <a:srgbClr val="FFFFFF"/>
                </a:highlight>
                <a:ea typeface="+mn-lt"/>
                <a:cs typeface="+mn-lt"/>
              </a:rPr>
              <a:t>1. Infrastructure &amp; Storage Configuration</a:t>
            </a:r>
            <a:endParaRPr lang="en-US" sz="1600">
              <a:ea typeface="Calibri"/>
              <a:cs typeface="Calibri"/>
            </a:endParaRPr>
          </a:p>
          <a:p>
            <a:pPr>
              <a:buFont typeface="Arial" panose="05000000000000000000" pitchFamily="2" charset="2"/>
              <a:buChar char="•"/>
            </a:pPr>
            <a:r>
              <a:rPr lang="en-US" sz="1600" b="1">
                <a:solidFill>
                  <a:srgbClr val="0A0A0A"/>
                </a:solidFill>
                <a:highlight>
                  <a:srgbClr val="FFFFFF"/>
                </a:highlight>
                <a:ea typeface="+mn-lt"/>
                <a:cs typeface="+mn-lt"/>
              </a:rPr>
              <a:t>Isolate Workloads:</a:t>
            </a:r>
            <a:r>
              <a:rPr lang="en-US" sz="1600">
                <a:solidFill>
                  <a:srgbClr val="0A0A0A"/>
                </a:solidFill>
                <a:highlight>
                  <a:srgbClr val="FFFFFF"/>
                </a:highlight>
                <a:ea typeface="+mn-lt"/>
                <a:cs typeface="+mn-lt"/>
              </a:rPr>
              <a:t> Place SQL Server on a dedicated server to avoid resource contention with other applications.</a:t>
            </a:r>
            <a:endParaRPr lang="en-US" sz="1600">
              <a:ea typeface="Calibri"/>
              <a:cs typeface="Calibri"/>
            </a:endParaRPr>
          </a:p>
          <a:p>
            <a:pPr>
              <a:buFont typeface="Arial" panose="05000000000000000000" pitchFamily="2" charset="2"/>
              <a:buChar char="•"/>
            </a:pPr>
            <a:r>
              <a:rPr lang="en-US" sz="1600" b="1" dirty="0">
                <a:solidFill>
                  <a:srgbClr val="0A0A0A"/>
                </a:solidFill>
                <a:highlight>
                  <a:srgbClr val="FFFFFF"/>
                </a:highlight>
                <a:ea typeface="+mn-lt"/>
                <a:cs typeface="+mn-lt"/>
              </a:rPr>
              <a:t>Separate Drives:</a:t>
            </a:r>
            <a:r>
              <a:rPr lang="en-US" sz="1600" dirty="0">
                <a:solidFill>
                  <a:srgbClr val="0A0A0A"/>
                </a:solidFill>
                <a:highlight>
                  <a:srgbClr val="FFFFFF"/>
                </a:highlight>
                <a:ea typeface="+mn-lt"/>
                <a:cs typeface="+mn-lt"/>
              </a:rPr>
              <a:t> Distribute files across different physical disks or RAID arrays to minimize I/O bottlenecks. Use separate drives for the operating system, data files (</a:t>
            </a:r>
            <a:r>
              <a:rPr lang="en-US" sz="1600" dirty="0">
                <a:solidFill>
                  <a:srgbClr val="0A0A0A"/>
                </a:solidFill>
                <a:highlight>
                  <a:srgbClr val="F3F5F6"/>
                </a:highlight>
                <a:latin typeface="Consolas"/>
                <a:ea typeface="Calibri"/>
                <a:cs typeface="Calibri"/>
              </a:rPr>
              <a:t>.</a:t>
            </a:r>
            <a:r>
              <a:rPr lang="en-US" sz="1600" dirty="0" err="1">
                <a:solidFill>
                  <a:srgbClr val="0A0A0A"/>
                </a:solidFill>
                <a:highlight>
                  <a:srgbClr val="F3F5F6"/>
                </a:highlight>
                <a:latin typeface="Consolas"/>
                <a:ea typeface="Calibri"/>
                <a:cs typeface="Calibri"/>
              </a:rPr>
              <a:t>mdf</a:t>
            </a:r>
            <a:r>
              <a:rPr lang="en-US" sz="1600" dirty="0">
                <a:solidFill>
                  <a:srgbClr val="0A0A0A"/>
                </a:solidFill>
                <a:highlight>
                  <a:srgbClr val="FFFFFF"/>
                </a:highlight>
                <a:ea typeface="+mn-lt"/>
                <a:cs typeface="+mn-lt"/>
              </a:rPr>
              <a:t>), log files (</a:t>
            </a:r>
            <a:r>
              <a:rPr lang="en-US" sz="1600" dirty="0">
                <a:solidFill>
                  <a:srgbClr val="0A0A0A"/>
                </a:solidFill>
                <a:highlight>
                  <a:srgbClr val="F3F5F6"/>
                </a:highlight>
                <a:latin typeface="Consolas"/>
                <a:ea typeface="Calibri"/>
                <a:cs typeface="Calibri"/>
              </a:rPr>
              <a:t>.</a:t>
            </a:r>
            <a:r>
              <a:rPr lang="en-US" sz="1600" dirty="0" err="1">
                <a:solidFill>
                  <a:srgbClr val="0A0A0A"/>
                </a:solidFill>
                <a:highlight>
                  <a:srgbClr val="F3F5F6"/>
                </a:highlight>
                <a:latin typeface="Consolas"/>
                <a:ea typeface="Calibri"/>
                <a:cs typeface="Calibri"/>
              </a:rPr>
              <a:t>ldf</a:t>
            </a:r>
            <a:r>
              <a:rPr lang="en-US" sz="1600" dirty="0">
                <a:solidFill>
                  <a:srgbClr val="0A0A0A"/>
                </a:solidFill>
                <a:highlight>
                  <a:srgbClr val="FFFFFF"/>
                </a:highlight>
                <a:ea typeface="+mn-lt"/>
                <a:cs typeface="+mn-lt"/>
              </a:rPr>
              <a:t>), and </a:t>
            </a:r>
            <a:r>
              <a:rPr lang="en-US" sz="1600" dirty="0" err="1">
                <a:solidFill>
                  <a:srgbClr val="0A0A0A"/>
                </a:solidFill>
                <a:highlight>
                  <a:srgbClr val="F3F5F6"/>
                </a:highlight>
                <a:latin typeface="Consolas"/>
                <a:ea typeface="Calibri"/>
                <a:cs typeface="Calibri"/>
              </a:rPr>
              <a:t>tempdb</a:t>
            </a:r>
            <a:r>
              <a:rPr lang="en-US" sz="1600" dirty="0">
                <a:solidFill>
                  <a:srgbClr val="0A0A0A"/>
                </a:solidFill>
                <a:highlight>
                  <a:srgbClr val="FFFFFF"/>
                </a:highlight>
                <a:ea typeface="+mn-lt"/>
                <a:cs typeface="+mn-lt"/>
              </a:rPr>
              <a:t>.</a:t>
            </a:r>
            <a:endParaRPr lang="en-US" sz="1600">
              <a:ea typeface="Calibri"/>
              <a:cs typeface="Calibri"/>
            </a:endParaRPr>
          </a:p>
          <a:p>
            <a:pPr>
              <a:buFont typeface="Arial" panose="05000000000000000000" pitchFamily="2" charset="2"/>
              <a:buChar char="•"/>
            </a:pPr>
            <a:r>
              <a:rPr lang="en-US" sz="1600" b="1" dirty="0">
                <a:solidFill>
                  <a:srgbClr val="0A0A0A"/>
                </a:solidFill>
                <a:highlight>
                  <a:srgbClr val="FFFFFF"/>
                </a:highlight>
                <a:ea typeface="+mn-lt"/>
                <a:cs typeface="+mn-lt"/>
              </a:rPr>
              <a:t>Optimization for </a:t>
            </a:r>
            <a:r>
              <a:rPr lang="en-US" sz="1600" b="1" dirty="0" err="1">
                <a:solidFill>
                  <a:srgbClr val="0A0A0A"/>
                </a:solidFill>
                <a:highlight>
                  <a:srgbClr val="F3F5F6"/>
                </a:highlight>
                <a:latin typeface="Consolas"/>
                <a:ea typeface="Calibri"/>
                <a:cs typeface="Calibri"/>
              </a:rPr>
              <a:t>tempdb</a:t>
            </a:r>
            <a:r>
              <a:rPr lang="en-US" sz="1600" b="1" dirty="0">
                <a:solidFill>
                  <a:srgbClr val="0A0A0A"/>
                </a:solidFill>
                <a:highlight>
                  <a:srgbClr val="FFFFFF"/>
                </a:highlight>
                <a:ea typeface="+mn-lt"/>
                <a:cs typeface="+mn-lt"/>
              </a:rPr>
              <a:t>:</a:t>
            </a:r>
            <a:r>
              <a:rPr lang="en-US" sz="1600" dirty="0">
                <a:solidFill>
                  <a:srgbClr val="0A0A0A"/>
                </a:solidFill>
                <a:highlight>
                  <a:srgbClr val="FFFFFF"/>
                </a:highlight>
                <a:ea typeface="+mn-lt"/>
                <a:cs typeface="+mn-lt"/>
              </a:rPr>
              <a:t> Place </a:t>
            </a:r>
            <a:r>
              <a:rPr lang="en-US" sz="1600" dirty="0" err="1">
                <a:solidFill>
                  <a:srgbClr val="0A0A0A"/>
                </a:solidFill>
                <a:highlight>
                  <a:srgbClr val="F3F5F6"/>
                </a:highlight>
                <a:latin typeface="Consolas"/>
                <a:ea typeface="Calibri"/>
                <a:cs typeface="Calibri"/>
              </a:rPr>
              <a:t>tempdb</a:t>
            </a:r>
            <a:r>
              <a:rPr lang="en-US" sz="1600" dirty="0">
                <a:solidFill>
                  <a:srgbClr val="0A0A0A"/>
                </a:solidFill>
                <a:highlight>
                  <a:srgbClr val="FFFFFF"/>
                </a:highlight>
                <a:ea typeface="+mn-lt"/>
                <a:cs typeface="+mn-lt"/>
              </a:rPr>
              <a:t> on the fastest available storage (e.g., local SSDs). Match the number of </a:t>
            </a:r>
            <a:r>
              <a:rPr lang="en-US" sz="1600" dirty="0" err="1">
                <a:solidFill>
                  <a:srgbClr val="0A0A0A"/>
                </a:solidFill>
                <a:highlight>
                  <a:srgbClr val="F3F5F6"/>
                </a:highlight>
                <a:latin typeface="Consolas"/>
                <a:ea typeface="Calibri"/>
                <a:cs typeface="Calibri"/>
              </a:rPr>
              <a:t>tempdb</a:t>
            </a:r>
            <a:r>
              <a:rPr lang="en-US" sz="1600" dirty="0">
                <a:solidFill>
                  <a:srgbClr val="0A0A0A"/>
                </a:solidFill>
                <a:highlight>
                  <a:srgbClr val="FFFFFF"/>
                </a:highlight>
                <a:ea typeface="+mn-lt"/>
                <a:cs typeface="+mn-lt"/>
              </a:rPr>
              <a:t> data files to the number of logical processors (up to 8) to reduce contention.</a:t>
            </a:r>
            <a:endParaRPr lang="en-US" sz="1600">
              <a:ea typeface="Calibri"/>
              <a:cs typeface="Calibri"/>
            </a:endParaRPr>
          </a:p>
          <a:p>
            <a:pPr>
              <a:buFont typeface="Arial" panose="05000000000000000000" pitchFamily="2" charset="2"/>
              <a:buChar char="•"/>
            </a:pPr>
            <a:r>
              <a:rPr lang="en-US" sz="1600" b="1" dirty="0">
                <a:solidFill>
                  <a:srgbClr val="0A0A0A"/>
                </a:solidFill>
                <a:highlight>
                  <a:srgbClr val="FFFFFF"/>
                </a:highlight>
                <a:ea typeface="+mn-lt"/>
                <a:cs typeface="+mn-lt"/>
              </a:rPr>
              <a:t>Format with 64KB Block Size:</a:t>
            </a:r>
            <a:r>
              <a:rPr lang="en-US" sz="1600" dirty="0">
                <a:solidFill>
                  <a:srgbClr val="0A0A0A"/>
                </a:solidFill>
                <a:highlight>
                  <a:srgbClr val="FFFFFF"/>
                </a:highlight>
                <a:ea typeface="+mn-lt"/>
                <a:cs typeface="+mn-lt"/>
              </a:rPr>
              <a:t> Format drives hosting SQL Server data and log files using a </a:t>
            </a:r>
            <a:r>
              <a:rPr lang="en-US" sz="1600" b="1" dirty="0">
                <a:solidFill>
                  <a:srgbClr val="0A0A0A"/>
                </a:solidFill>
                <a:highlight>
                  <a:srgbClr val="FFFFFF"/>
                </a:highlight>
                <a:ea typeface="+mn-lt"/>
                <a:cs typeface="+mn-lt"/>
              </a:rPr>
              <a:t>64-KB allocation unit size</a:t>
            </a:r>
            <a:r>
              <a:rPr lang="en-US" sz="1600" dirty="0">
                <a:solidFill>
                  <a:srgbClr val="0A0A0A"/>
                </a:solidFill>
                <a:highlight>
                  <a:srgbClr val="FFFFFF"/>
                </a:highlight>
                <a:ea typeface="+mn-lt"/>
                <a:cs typeface="+mn-lt"/>
              </a:rPr>
              <a:t> (block size) for optimal performance. </a:t>
            </a:r>
            <a:endParaRPr lang="en-US" sz="1600" dirty="0"/>
          </a:p>
          <a:p>
            <a:pPr marL="0" indent="0">
              <a:buNone/>
            </a:pPr>
            <a:endParaRPr lang="en-US" sz="800" dirty="0">
              <a:solidFill>
                <a:srgbClr val="545D7E"/>
              </a:solidFill>
              <a:highlight>
                <a:srgbClr val="E5EDFF"/>
              </a:highlight>
              <a:ea typeface="Calibri"/>
              <a:cs typeface="Calibri"/>
            </a:endParaRPr>
          </a:p>
          <a:p>
            <a:pPr marL="0" indent="0">
              <a:buNone/>
            </a:pPr>
            <a:endParaRPr lang="en-US" sz="1600">
              <a:solidFill>
                <a:schemeClr val="tx1">
                  <a:lumMod val="85000"/>
                  <a:lumOff val="15000"/>
                </a:schemeClr>
              </a:solidFill>
              <a:ea typeface="Calibri"/>
              <a:cs typeface="Calibri"/>
            </a:endParaRPr>
          </a:p>
        </p:txBody>
      </p:sp>
      <p:sp>
        <p:nvSpPr>
          <p:cNvPr id="1039" name="Rectangle 10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7585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0A08-4B1A-B8B0-4A32-998EA0564033}"/>
              </a:ext>
            </a:extLst>
          </p:cNvPr>
          <p:cNvSpPr>
            <a:spLocks noGrp="1"/>
          </p:cNvSpPr>
          <p:nvPr>
            <p:ph type="title"/>
          </p:nvPr>
        </p:nvSpPr>
        <p:spPr/>
        <p:txBody>
          <a:bodyPr/>
          <a:lstStyle/>
          <a:p>
            <a:r>
              <a:rPr lang="en-US"/>
              <a:t>SQL Server High Availability &amp; Security</a:t>
            </a:r>
            <a:endParaRPr lang="en-US">
              <a:ea typeface="Calibri Light"/>
              <a:cs typeface="Calibri Light"/>
            </a:endParaRPr>
          </a:p>
        </p:txBody>
      </p:sp>
      <p:sp>
        <p:nvSpPr>
          <p:cNvPr id="3" name="Content Placeholder 2">
            <a:extLst>
              <a:ext uri="{FF2B5EF4-FFF2-40B4-BE49-F238E27FC236}">
                <a16:creationId xmlns:a16="http://schemas.microsoft.com/office/drawing/2014/main" id="{E72EABCE-4314-EE41-14B7-A041134C7AF2}"/>
              </a:ext>
            </a:extLst>
          </p:cNvPr>
          <p:cNvSpPr>
            <a:spLocks noGrp="1"/>
          </p:cNvSpPr>
          <p:nvPr>
            <p:ph idx="1"/>
          </p:nvPr>
        </p:nvSpPr>
        <p:spPr>
          <a:xfrm>
            <a:off x="277484" y="1523701"/>
            <a:ext cx="11076316" cy="4653262"/>
          </a:xfrm>
        </p:spPr>
        <p:txBody>
          <a:bodyPr vert="horz" lIns="91440" tIns="45720" rIns="91440" bIns="45720" rtlCol="0" anchor="t">
            <a:normAutofit/>
          </a:bodyPr>
          <a:lstStyle/>
          <a:p>
            <a:r>
              <a:rPr lang="en-US" sz="1600" b="1" dirty="0">
                <a:solidFill>
                  <a:srgbClr val="0A0A0A"/>
                </a:solidFill>
                <a:highlight>
                  <a:srgbClr val="FFFFFF"/>
                </a:highlight>
                <a:ea typeface="+mn-lt"/>
                <a:cs typeface="+mn-lt"/>
              </a:rPr>
              <a:t>Always On Availability Groups:</a:t>
            </a:r>
            <a:r>
              <a:rPr lang="en-US" sz="1600" dirty="0">
                <a:solidFill>
                  <a:srgbClr val="0A0A0A"/>
                </a:solidFill>
                <a:highlight>
                  <a:srgbClr val="FFFFFF"/>
                </a:highlight>
                <a:ea typeface="+mn-lt"/>
                <a:cs typeface="+mn-lt"/>
              </a:rPr>
              <a:t> Use Always On Availability Groups for enterprise-level high availability and disaster recovery.</a:t>
            </a:r>
          </a:p>
          <a:p>
            <a:r>
              <a:rPr lang="en-US" sz="1600" b="1" dirty="0">
                <a:solidFill>
                  <a:srgbClr val="0A0A0A"/>
                </a:solidFill>
                <a:highlight>
                  <a:srgbClr val="FFFFFF"/>
                </a:highlight>
                <a:ea typeface="+mn-lt"/>
                <a:cs typeface="+mn-lt"/>
              </a:rPr>
              <a:t>Security Hardening:</a:t>
            </a:r>
            <a:r>
              <a:rPr lang="en-US" sz="1600" dirty="0">
                <a:solidFill>
                  <a:srgbClr val="0A0A0A"/>
                </a:solidFill>
                <a:highlight>
                  <a:srgbClr val="FFFFFF"/>
                </a:highlight>
                <a:ea typeface="+mn-lt"/>
                <a:cs typeface="+mn-lt"/>
              </a:rPr>
              <a:t> Use dedicated domain accounts for SQL Server services and follow the Principle of Least Privilege for permissions.</a:t>
            </a:r>
          </a:p>
          <a:p>
            <a:r>
              <a:rPr lang="en-US" sz="1600" b="1" dirty="0">
                <a:solidFill>
                  <a:srgbClr val="0A0A0A"/>
                </a:solidFill>
                <a:highlight>
                  <a:srgbClr val="FFFFFF"/>
                </a:highlight>
                <a:ea typeface="+mn-lt"/>
                <a:cs typeface="+mn-lt"/>
              </a:rPr>
              <a:t>Maintain Performance:</a:t>
            </a:r>
            <a:r>
              <a:rPr lang="en-US" sz="1600" dirty="0">
                <a:solidFill>
                  <a:srgbClr val="0A0A0A"/>
                </a:solidFill>
                <a:highlight>
                  <a:srgbClr val="FFFFFF"/>
                </a:highlight>
                <a:ea typeface="+mn-lt"/>
                <a:cs typeface="+mn-lt"/>
              </a:rPr>
              <a:t> Regularly schedule index maintenance (rebuilds/reorganizes) and update statistics to ensure the query optimizer functions efficiently.</a:t>
            </a:r>
          </a:p>
          <a:p>
            <a:r>
              <a:rPr lang="en-US" sz="1600" b="1" dirty="0">
                <a:solidFill>
                  <a:srgbClr val="0A0A0A"/>
                </a:solidFill>
                <a:highlight>
                  <a:srgbClr val="FFFFFF"/>
                </a:highlight>
                <a:ea typeface="+mn-lt"/>
                <a:cs typeface="+mn-lt"/>
              </a:rPr>
              <a:t>Treat Database as Code:</a:t>
            </a:r>
            <a:r>
              <a:rPr lang="en-US" sz="1600" dirty="0">
                <a:solidFill>
                  <a:srgbClr val="0A0A0A"/>
                </a:solidFill>
                <a:highlight>
                  <a:srgbClr val="FFFFFF"/>
                </a:highlight>
                <a:ea typeface="+mn-lt"/>
                <a:cs typeface="+mn-lt"/>
              </a:rPr>
              <a:t> Use source control (e.g., Git) for all schema changes and scripts.</a:t>
            </a:r>
            <a:endParaRPr lang="en-US" sz="1600" dirty="0">
              <a:ea typeface="Calibri"/>
              <a:cs typeface="Calibri"/>
            </a:endParaRPr>
          </a:p>
          <a:p>
            <a:r>
              <a:rPr lang="en-US" sz="1600" b="1" dirty="0">
                <a:solidFill>
                  <a:srgbClr val="0A0A0A"/>
                </a:solidFill>
                <a:highlight>
                  <a:srgbClr val="FFFFFF"/>
                </a:highlight>
                <a:ea typeface="+mn-lt"/>
                <a:cs typeface="+mn-lt"/>
              </a:rPr>
              <a:t>CI/CD Integration:</a:t>
            </a:r>
            <a:r>
              <a:rPr lang="en-US" sz="1600" dirty="0">
                <a:solidFill>
                  <a:srgbClr val="0A0A0A"/>
                </a:solidFill>
                <a:highlight>
                  <a:srgbClr val="FFFFFF"/>
                </a:highlight>
                <a:ea typeface="+mn-lt"/>
                <a:cs typeface="+mn-lt"/>
              </a:rPr>
              <a:t> Integrate database deployments into your automated pipelines to ensure consistent environments across development, staging, and production.</a:t>
            </a:r>
            <a:endParaRPr lang="en-US" sz="1600" dirty="0">
              <a:ea typeface="Calibri"/>
              <a:cs typeface="Calibri"/>
            </a:endParaRPr>
          </a:p>
          <a:p>
            <a:r>
              <a:rPr lang="en-US" sz="1600" b="1" dirty="0">
                <a:solidFill>
                  <a:srgbClr val="0A0A0A"/>
                </a:solidFill>
                <a:highlight>
                  <a:srgbClr val="FFFFFF"/>
                </a:highlight>
                <a:ea typeface="+mn-lt"/>
                <a:cs typeface="+mn-lt"/>
              </a:rPr>
              <a:t>Idempotent Scripts:</a:t>
            </a:r>
            <a:r>
              <a:rPr lang="en-US" sz="1600" dirty="0">
                <a:solidFill>
                  <a:srgbClr val="0A0A0A"/>
                </a:solidFill>
                <a:highlight>
                  <a:srgbClr val="FFFFFF"/>
                </a:highlight>
                <a:ea typeface="+mn-lt"/>
                <a:cs typeface="+mn-lt"/>
              </a:rPr>
              <a:t> Ensure scripts can run multiple times without error (e.g., using </a:t>
            </a:r>
            <a:r>
              <a:rPr lang="en-US" sz="1600" dirty="0">
                <a:solidFill>
                  <a:srgbClr val="0A0A0A"/>
                </a:solidFill>
                <a:highlight>
                  <a:srgbClr val="F3F5F6"/>
                </a:highlight>
                <a:latin typeface="Consolas"/>
                <a:ea typeface="Calibri"/>
                <a:cs typeface="Calibri"/>
              </a:rPr>
              <a:t>IF NOT EXISTS</a:t>
            </a:r>
            <a:r>
              <a:rPr lang="en-US" sz="1600" dirty="0">
                <a:solidFill>
                  <a:srgbClr val="0A0A0A"/>
                </a:solidFill>
                <a:highlight>
                  <a:srgbClr val="FFFFFF"/>
                </a:highlight>
                <a:ea typeface="+mn-lt"/>
                <a:cs typeface="+mn-lt"/>
              </a:rPr>
              <a:t> checks) to prevent deployment failures.</a:t>
            </a:r>
            <a:endParaRPr lang="en-US" sz="1600" dirty="0">
              <a:ea typeface="Calibri"/>
              <a:cs typeface="Calibri"/>
            </a:endParaRPr>
          </a:p>
          <a:p>
            <a:r>
              <a:rPr lang="en-US" sz="1600" b="1" dirty="0">
                <a:solidFill>
                  <a:srgbClr val="0A0A0A"/>
                </a:solidFill>
                <a:highlight>
                  <a:srgbClr val="FFFFFF"/>
                </a:highlight>
                <a:ea typeface="+mn-lt"/>
                <a:cs typeface="+mn-lt"/>
              </a:rPr>
              <a:t>Wrap Migrations in Transactions:</a:t>
            </a:r>
            <a:r>
              <a:rPr lang="en-US" sz="1600" dirty="0">
                <a:solidFill>
                  <a:srgbClr val="0A0A0A"/>
                </a:solidFill>
                <a:highlight>
                  <a:srgbClr val="FFFFFF"/>
                </a:highlight>
                <a:ea typeface="+mn-lt"/>
                <a:cs typeface="+mn-lt"/>
              </a:rPr>
              <a:t> Use transactions for schema changes to allow for automatic rollbacks if a deployment step fails.</a:t>
            </a:r>
            <a:endParaRPr lang="en-US" sz="1600" dirty="0">
              <a:ea typeface="Calibri"/>
              <a:cs typeface="Calibri"/>
            </a:endParaRPr>
          </a:p>
          <a:p>
            <a:endParaRPr lang="en-US" sz="1600" dirty="0">
              <a:ea typeface="Calibri"/>
              <a:cs typeface="Calibri"/>
            </a:endParaRPr>
          </a:p>
          <a:p>
            <a:endParaRPr lang="en-US" sz="1600" dirty="0">
              <a:ea typeface="Calibri"/>
              <a:cs typeface="Calibri"/>
            </a:endParaRPr>
          </a:p>
        </p:txBody>
      </p:sp>
    </p:spTree>
    <p:extLst>
      <p:ext uri="{BB962C8B-B14F-4D97-AF65-F5344CB8AC3E}">
        <p14:creationId xmlns:p14="http://schemas.microsoft.com/office/powerpoint/2010/main" val="457166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2EE7-505B-D75C-41C9-2170C90E3759}"/>
              </a:ext>
            </a:extLst>
          </p:cNvPr>
          <p:cNvSpPr>
            <a:spLocks noGrp="1"/>
          </p:cNvSpPr>
          <p:nvPr>
            <p:ph type="title"/>
          </p:nvPr>
        </p:nvSpPr>
        <p:spPr/>
        <p:txBody>
          <a:bodyPr>
            <a:normAutofit/>
          </a:bodyPr>
          <a:lstStyle/>
          <a:p>
            <a:r>
              <a:rPr lang="en-US"/>
              <a:t>SQL Server HA – Deployment &amp; Automation</a:t>
            </a:r>
            <a:endParaRPr lang="en-US" dirty="0"/>
          </a:p>
        </p:txBody>
      </p:sp>
      <p:sp>
        <p:nvSpPr>
          <p:cNvPr id="3" name="Content Placeholder 2">
            <a:extLst>
              <a:ext uri="{FF2B5EF4-FFF2-40B4-BE49-F238E27FC236}">
                <a16:creationId xmlns:a16="http://schemas.microsoft.com/office/drawing/2014/main" id="{C106DC33-4756-BA4F-EDCD-D4E8AD68CF35}"/>
              </a:ext>
            </a:extLst>
          </p:cNvPr>
          <p:cNvSpPr>
            <a:spLocks noGrp="1"/>
          </p:cNvSpPr>
          <p:nvPr>
            <p:ph idx="1"/>
          </p:nvPr>
        </p:nvSpPr>
        <p:spPr>
          <a:xfrm>
            <a:off x="838200" y="1552456"/>
            <a:ext cx="10515600" cy="4624507"/>
          </a:xfrm>
        </p:spPr>
        <p:txBody>
          <a:bodyPr vert="horz" lIns="91440" tIns="45720" rIns="91440" bIns="45720" rtlCol="0" anchor="t">
            <a:normAutofit/>
          </a:bodyPr>
          <a:lstStyle/>
          <a:p>
            <a:r>
              <a:rPr lang="en-US" sz="1600" b="1">
                <a:solidFill>
                  <a:srgbClr val="0A0A0A"/>
                </a:solidFill>
                <a:highlight>
                  <a:srgbClr val="FFFFFF"/>
                </a:highlight>
                <a:ea typeface="+mn-lt"/>
                <a:cs typeface="+mn-lt"/>
              </a:rPr>
              <a:t>Treat Database as Code:</a:t>
            </a:r>
            <a:r>
              <a:rPr lang="en-US" sz="1600">
                <a:solidFill>
                  <a:srgbClr val="0A0A0A"/>
                </a:solidFill>
                <a:highlight>
                  <a:srgbClr val="FFFFFF"/>
                </a:highlight>
                <a:ea typeface="+mn-lt"/>
                <a:cs typeface="+mn-lt"/>
              </a:rPr>
              <a:t> Use source control (e.g., Git) for all schema changes and scripts. Tools like </a:t>
            </a:r>
            <a:r>
              <a:rPr lang="en-US" sz="1600" u="sng" dirty="0">
                <a:solidFill>
                  <a:srgbClr val="1A0DAB"/>
                </a:solidFill>
                <a:highlight>
                  <a:srgbClr val="FFFFFF"/>
                </a:highlight>
                <a:ea typeface="+mn-lt"/>
                <a:cs typeface="+mn-lt"/>
                <a:hlinkClick r:id="rId2"/>
              </a:rPr>
              <a:t>Liquibase</a:t>
            </a:r>
            <a:r>
              <a:rPr lang="en-US" sz="1600">
                <a:solidFill>
                  <a:srgbClr val="0A0A0A"/>
                </a:solidFill>
                <a:highlight>
                  <a:srgbClr val="FFFFFF"/>
                </a:highlight>
                <a:ea typeface="+mn-lt"/>
                <a:cs typeface="+mn-lt"/>
              </a:rPr>
              <a:t> or Flyway help manage versioned migration scripts.</a:t>
            </a:r>
          </a:p>
          <a:p>
            <a:r>
              <a:rPr lang="en-US" sz="1600" b="1">
                <a:solidFill>
                  <a:srgbClr val="0A0A0A"/>
                </a:solidFill>
                <a:highlight>
                  <a:srgbClr val="FFFFFF"/>
                </a:highlight>
                <a:ea typeface="+mn-lt"/>
                <a:cs typeface="+mn-lt"/>
              </a:rPr>
              <a:t>CI/CD Integration:</a:t>
            </a:r>
            <a:r>
              <a:rPr lang="en-US" sz="1600">
                <a:solidFill>
                  <a:srgbClr val="0A0A0A"/>
                </a:solidFill>
                <a:highlight>
                  <a:srgbClr val="FFFFFF"/>
                </a:highlight>
                <a:ea typeface="+mn-lt"/>
                <a:cs typeface="+mn-lt"/>
              </a:rPr>
              <a:t> Integrate database deployments into your automated pipelines to ensure consistent environments across development, staging, and production.</a:t>
            </a:r>
          </a:p>
          <a:p>
            <a:r>
              <a:rPr lang="en-US" sz="1600" b="1">
                <a:solidFill>
                  <a:srgbClr val="0A0A0A"/>
                </a:solidFill>
                <a:highlight>
                  <a:srgbClr val="FFFFFF"/>
                </a:highlight>
                <a:ea typeface="+mn-lt"/>
                <a:cs typeface="+mn-lt"/>
              </a:rPr>
              <a:t>Idempotent Scripts:</a:t>
            </a:r>
            <a:r>
              <a:rPr lang="en-US" sz="1600">
                <a:solidFill>
                  <a:srgbClr val="0A0A0A"/>
                </a:solidFill>
                <a:highlight>
                  <a:srgbClr val="FFFFFF"/>
                </a:highlight>
                <a:ea typeface="+mn-lt"/>
                <a:cs typeface="+mn-lt"/>
              </a:rPr>
              <a:t> Ensure scripts can run multiple times without error (e.g., using </a:t>
            </a:r>
            <a:r>
              <a:rPr lang="en-US" sz="1600">
                <a:solidFill>
                  <a:srgbClr val="0A0A0A"/>
                </a:solidFill>
                <a:highlight>
                  <a:srgbClr val="F3F5F6"/>
                </a:highlight>
                <a:latin typeface="Consolas"/>
              </a:rPr>
              <a:t>IF NOT EXISTS</a:t>
            </a:r>
            <a:r>
              <a:rPr lang="en-US" sz="1600">
                <a:solidFill>
                  <a:srgbClr val="0A0A0A"/>
                </a:solidFill>
                <a:highlight>
                  <a:srgbClr val="FFFFFF"/>
                </a:highlight>
                <a:ea typeface="+mn-lt"/>
                <a:cs typeface="+mn-lt"/>
              </a:rPr>
              <a:t> checks) to prevent deployment failures.</a:t>
            </a:r>
          </a:p>
          <a:p>
            <a:r>
              <a:rPr lang="en-US" sz="1600" b="1">
                <a:solidFill>
                  <a:srgbClr val="0A0A0A"/>
                </a:solidFill>
                <a:highlight>
                  <a:srgbClr val="FFFFFF"/>
                </a:highlight>
                <a:ea typeface="+mn-lt"/>
                <a:cs typeface="+mn-lt"/>
              </a:rPr>
              <a:t>Wrap Migrations in Transactions:</a:t>
            </a:r>
            <a:r>
              <a:rPr lang="en-US" sz="1600">
                <a:solidFill>
                  <a:srgbClr val="0A0A0A"/>
                </a:solidFill>
                <a:highlight>
                  <a:srgbClr val="FFFFFF"/>
                </a:highlight>
                <a:ea typeface="+mn-lt"/>
                <a:cs typeface="+mn-lt"/>
              </a:rPr>
              <a:t> Use transactions for schema changes to allow for automatic rollbacks if a deployment step fails.</a:t>
            </a:r>
          </a:p>
          <a:p>
            <a:endParaRPr lang="en-US" sz="1600" dirty="0">
              <a:ea typeface="Calibri"/>
              <a:cs typeface="Calibri"/>
            </a:endParaRPr>
          </a:p>
          <a:p>
            <a:endParaRPr lang="en-US" sz="1600"/>
          </a:p>
        </p:txBody>
      </p:sp>
    </p:spTree>
    <p:extLst>
      <p:ext uri="{BB962C8B-B14F-4D97-AF65-F5344CB8AC3E}">
        <p14:creationId xmlns:p14="http://schemas.microsoft.com/office/powerpoint/2010/main" val="2863695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1137034" y="609597"/>
            <a:ext cx="10068156" cy="1330841"/>
          </a:xfrm>
        </p:spPr>
        <p:txBody>
          <a:bodyPr>
            <a:normAutofit/>
          </a:bodyPr>
          <a:lstStyle/>
          <a:p>
            <a:r>
              <a:rPr lang="en-US">
                <a:ea typeface="Calibri Light"/>
                <a:cs typeface="Calibri Light"/>
              </a:rPr>
              <a:t>SQL Server Log Shipping</a:t>
            </a:r>
            <a:endParaRPr lang="en-US"/>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1137034" y="2198362"/>
            <a:ext cx="9732249" cy="4018414"/>
          </a:xfrm>
        </p:spPr>
        <p:txBody>
          <a:bodyPr vert="horz" lIns="91440" tIns="45720" rIns="91440" bIns="45720" rtlCol="0" anchor="t">
            <a:normAutofit lnSpcReduction="10000"/>
          </a:bodyPr>
          <a:lstStyle/>
          <a:p>
            <a:r>
              <a:rPr lang="en-US" sz="1600">
                <a:solidFill>
                  <a:srgbClr val="0A0A0A"/>
                </a:solidFill>
                <a:highlight>
                  <a:srgbClr val="FFFFFF"/>
                </a:highlight>
                <a:ea typeface="+mn-lt"/>
                <a:cs typeface="+mn-lt"/>
              </a:rPr>
              <a:t>SQL Server log shipping automates the process of backing up transaction logs from a primary server and restoring them on one or more secondary servers for disaster recovery. </a:t>
            </a:r>
            <a:endParaRPr lang="en-US" sz="1600">
              <a:solidFill>
                <a:srgbClr val="000000"/>
              </a:solidFill>
              <a:latin typeface="Calibri"/>
              <a:ea typeface="Calibri"/>
              <a:cs typeface="Calibri"/>
            </a:endParaRPr>
          </a:p>
          <a:p>
            <a:r>
              <a:rPr lang="en-US" sz="1600" b="1">
                <a:solidFill>
                  <a:srgbClr val="001D35"/>
                </a:solidFill>
                <a:highlight>
                  <a:srgbClr val="FFFFFF"/>
                </a:highlight>
                <a:ea typeface="+mn-lt"/>
                <a:cs typeface="+mn-lt"/>
              </a:rPr>
              <a:t>Prerequisites</a:t>
            </a:r>
            <a:endParaRPr lang="en-US" sz="1600">
              <a:ea typeface="Calibri"/>
              <a:cs typeface="Calibri"/>
            </a:endParaRPr>
          </a:p>
          <a:p>
            <a:r>
              <a:rPr lang="en-US" sz="1600" b="1">
                <a:solidFill>
                  <a:srgbClr val="0A0A0A"/>
                </a:solidFill>
                <a:highlight>
                  <a:srgbClr val="FFFFFF"/>
                </a:highlight>
                <a:ea typeface="+mn-lt"/>
                <a:cs typeface="+mn-lt"/>
              </a:rPr>
              <a:t>Permissions:</a:t>
            </a:r>
            <a:r>
              <a:rPr lang="en-US" sz="1600">
                <a:solidFill>
                  <a:srgbClr val="0A0A0A"/>
                </a:solidFill>
                <a:highlight>
                  <a:srgbClr val="FFFFFF"/>
                </a:highlight>
                <a:ea typeface="+mn-lt"/>
                <a:cs typeface="+mn-lt"/>
              </a:rPr>
              <a:t> You must have </a:t>
            </a:r>
            <a:r>
              <a:rPr lang="en-US" sz="1600" b="1">
                <a:solidFill>
                  <a:srgbClr val="0A0A0A"/>
                </a:solidFill>
                <a:highlight>
                  <a:srgbClr val="FFFFFF"/>
                </a:highlight>
                <a:ea typeface="+mn-lt"/>
                <a:cs typeface="+mn-lt"/>
              </a:rPr>
              <a:t>sysadmin</a:t>
            </a:r>
            <a:r>
              <a:rPr lang="en-US" sz="1600">
                <a:solidFill>
                  <a:srgbClr val="0A0A0A"/>
                </a:solidFill>
                <a:highlight>
                  <a:srgbClr val="FFFFFF"/>
                </a:highlight>
                <a:ea typeface="+mn-lt"/>
                <a:cs typeface="+mn-lt"/>
              </a:rPr>
              <a:t> rights on all participating SQL Server instances.</a:t>
            </a:r>
            <a:endParaRPr lang="en-US" sz="1600">
              <a:solidFill>
                <a:srgbClr val="0A0A0A"/>
              </a:solidFill>
              <a:ea typeface="+mn-lt"/>
              <a:cs typeface="+mn-lt"/>
            </a:endParaRPr>
          </a:p>
          <a:p>
            <a:r>
              <a:rPr lang="en-US" sz="1600" b="1">
                <a:solidFill>
                  <a:srgbClr val="0A0A0A"/>
                </a:solidFill>
                <a:highlight>
                  <a:srgbClr val="FFFFFF"/>
                </a:highlight>
                <a:ea typeface="+mn-lt"/>
                <a:cs typeface="+mn-lt"/>
              </a:rPr>
              <a:t>Recovery Model:</a:t>
            </a:r>
            <a:r>
              <a:rPr lang="en-US" sz="1600">
                <a:solidFill>
                  <a:srgbClr val="0A0A0A"/>
                </a:solidFill>
                <a:highlight>
                  <a:srgbClr val="FFFFFF"/>
                </a:highlight>
                <a:ea typeface="+mn-lt"/>
                <a:cs typeface="+mn-lt"/>
              </a:rPr>
              <a:t> The primary database must use the </a:t>
            </a:r>
            <a:r>
              <a:rPr lang="en-US" sz="1600" b="1">
                <a:solidFill>
                  <a:srgbClr val="0A0A0A"/>
                </a:solidFill>
                <a:highlight>
                  <a:srgbClr val="FFFFFF"/>
                </a:highlight>
                <a:ea typeface="+mn-lt"/>
                <a:cs typeface="+mn-lt"/>
              </a:rPr>
              <a:t>Full</a:t>
            </a:r>
            <a:r>
              <a:rPr lang="en-US" sz="1600">
                <a:solidFill>
                  <a:srgbClr val="0A0A0A"/>
                </a:solidFill>
                <a:highlight>
                  <a:srgbClr val="FFFFFF"/>
                </a:highlight>
                <a:ea typeface="+mn-lt"/>
                <a:cs typeface="+mn-lt"/>
              </a:rPr>
              <a:t> or </a:t>
            </a:r>
            <a:r>
              <a:rPr lang="en-US" sz="1600" b="1">
                <a:solidFill>
                  <a:srgbClr val="0A0A0A"/>
                </a:solidFill>
                <a:highlight>
                  <a:srgbClr val="FFFFFF"/>
                </a:highlight>
                <a:ea typeface="+mn-lt"/>
                <a:cs typeface="+mn-lt"/>
              </a:rPr>
              <a:t>Bulk-Logged</a:t>
            </a:r>
            <a:r>
              <a:rPr lang="en-US" sz="1600">
                <a:solidFill>
                  <a:srgbClr val="0A0A0A"/>
                </a:solidFill>
                <a:highlight>
                  <a:srgbClr val="FFFFFF"/>
                </a:highlight>
                <a:ea typeface="+mn-lt"/>
                <a:cs typeface="+mn-lt"/>
              </a:rPr>
              <a:t> recovery model.</a:t>
            </a:r>
            <a:endParaRPr lang="en-US" sz="1600">
              <a:solidFill>
                <a:srgbClr val="0A0A0A"/>
              </a:solidFill>
              <a:ea typeface="+mn-lt"/>
              <a:cs typeface="+mn-lt"/>
            </a:endParaRPr>
          </a:p>
          <a:p>
            <a:r>
              <a:rPr lang="en-US" sz="1600" b="1" dirty="0">
                <a:solidFill>
                  <a:srgbClr val="0A0A0A"/>
                </a:solidFill>
                <a:highlight>
                  <a:srgbClr val="FFFFFF"/>
                </a:highlight>
                <a:ea typeface="+mn-lt"/>
                <a:cs typeface="+mn-lt"/>
              </a:rPr>
              <a:t>Shared Folder:</a:t>
            </a:r>
            <a:r>
              <a:rPr lang="en-US" sz="1600" dirty="0">
                <a:solidFill>
                  <a:srgbClr val="0A0A0A"/>
                </a:solidFill>
                <a:highlight>
                  <a:srgbClr val="FFFFFF"/>
                </a:highlight>
                <a:ea typeface="+mn-lt"/>
                <a:cs typeface="+mn-lt"/>
              </a:rPr>
              <a:t> A network share accessible by both the primary and secondary server service accounts is required to store log backups.</a:t>
            </a:r>
            <a:endParaRPr lang="en-US" sz="1600" dirty="0">
              <a:solidFill>
                <a:srgbClr val="0A0A0A"/>
              </a:solidFill>
              <a:ea typeface="+mn-lt"/>
              <a:cs typeface="+mn-lt"/>
            </a:endParaRPr>
          </a:p>
          <a:p>
            <a:r>
              <a:rPr lang="en-US" sz="1600" b="1">
                <a:solidFill>
                  <a:srgbClr val="0A0A0A"/>
                </a:solidFill>
                <a:highlight>
                  <a:srgbClr val="FFFFFF"/>
                </a:highlight>
                <a:ea typeface="+mn-lt"/>
                <a:cs typeface="+mn-lt"/>
              </a:rPr>
              <a:t>SQL Server Agent:</a:t>
            </a:r>
            <a:r>
              <a:rPr lang="en-US" sz="1600">
                <a:solidFill>
                  <a:srgbClr val="0A0A0A"/>
                </a:solidFill>
                <a:highlight>
                  <a:srgbClr val="FFFFFF"/>
                </a:highlight>
                <a:ea typeface="+mn-lt"/>
                <a:cs typeface="+mn-lt"/>
              </a:rPr>
              <a:t> This service must be running on both servers to execute the backup, copy, and restore jobs. </a:t>
            </a:r>
            <a:endParaRPr lang="en-US" sz="1600"/>
          </a:p>
          <a:p>
            <a:pPr marL="0" indent="0">
              <a:buNone/>
            </a:pPr>
            <a:br>
              <a:rPr lang="en-US" dirty="0"/>
            </a:br>
            <a:endParaRPr lang="en-US" dirty="0">
              <a:ea typeface="Calibri" panose="020F0502020204030204"/>
              <a:cs typeface="Calibri" panose="020F0502020204030204"/>
            </a:endParaRPr>
          </a:p>
          <a:p>
            <a:pPr marL="0" indent="0">
              <a:buNone/>
            </a:pPr>
            <a:br>
              <a:rPr lang="en-US" dirty="0"/>
            </a:br>
            <a:endParaRPr lang="en-US" dirty="0">
              <a:ea typeface="Calibri" panose="020F0502020204030204"/>
              <a:cs typeface="Calibri" panose="020F0502020204030204"/>
            </a:endParaRPr>
          </a:p>
          <a:p>
            <a:pPr>
              <a:buFont typeface="Wingdings" panose="020B0604020202020204" pitchFamily="34" charset="0"/>
              <a:buChar char="q"/>
            </a:pPr>
            <a:endParaRPr lang="en-US" sz="2000">
              <a:ea typeface="Calibri"/>
              <a:cs typeface="Calibri"/>
            </a:endParaRPr>
          </a:p>
          <a:p>
            <a:pPr>
              <a:buFont typeface="Wingdings" panose="020B0604020202020204" pitchFamily="34" charset="0"/>
              <a:buChar char="q"/>
            </a:pPr>
            <a:endParaRPr lang="en-US" sz="2000">
              <a:ea typeface="Calibri"/>
              <a:cs typeface="Calibri"/>
            </a:endParaRPr>
          </a:p>
        </p:txBody>
      </p:sp>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8045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a:ea typeface="Calibri Light"/>
                <a:cs typeface="Calibri Light"/>
              </a:rPr>
              <a:t>SQL Server Mirroring</a:t>
            </a:r>
            <a:endParaRPr lang="en-US"/>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400"/>
              <a:t>Database mirroring is a solution for increasing the availability of a SQL Server database. Mirroring is implemented on a per-database basis and works only with databases that use the full recovery model.</a:t>
            </a:r>
            <a:endParaRPr lang="en-US" sz="1400">
              <a:highlight>
                <a:srgbClr val="FFFFFF"/>
              </a:highlight>
              <a:ea typeface="Calibri"/>
              <a:cs typeface="Calibri"/>
            </a:endParaRPr>
          </a:p>
          <a:p>
            <a:r>
              <a:rPr lang="en-US" sz="1400" b="1"/>
              <a:t>Benefits of Database Mirroring</a:t>
            </a:r>
            <a:endParaRPr lang="en-US" sz="1400" b="1">
              <a:highlight>
                <a:srgbClr val="FFFFFF"/>
              </a:highlight>
              <a:ea typeface="Calibri"/>
              <a:cs typeface="Calibri"/>
            </a:endParaRPr>
          </a:p>
          <a:p>
            <a:r>
              <a:rPr lang="en-US" sz="1400"/>
              <a:t>Database mirroring is a simple strategy that offers the following benefits:</a:t>
            </a:r>
            <a:endParaRPr lang="en-US" sz="1400" dirty="0">
              <a:ea typeface="Calibri"/>
              <a:cs typeface="Calibri"/>
            </a:endParaRPr>
          </a:p>
          <a:p>
            <a:r>
              <a:rPr lang="en-US" sz="1400" b="1"/>
              <a:t>Increases availability of a database.</a:t>
            </a:r>
            <a:endParaRPr lang="en-US" sz="1400" b="1">
              <a:ea typeface="Calibri"/>
              <a:cs typeface="Calibri"/>
            </a:endParaRPr>
          </a:p>
          <a:p>
            <a:r>
              <a:rPr lang="en-US" sz="1400" dirty="0"/>
              <a:t>In the event of a disaster, in high-safety mode with automatic failover, failover quickly brings the standby copy of the database online (without data loss). In the other operating modes, the database administrator has the alternative of forcing service (with possible data loss) to the standby copy of the database. </a:t>
            </a:r>
            <a:endParaRPr lang="en-US" sz="1400" dirty="0">
              <a:solidFill>
                <a:srgbClr val="000000"/>
              </a:solidFill>
              <a:latin typeface="Calibri"/>
              <a:ea typeface="Calibri"/>
              <a:cs typeface="Calibri"/>
            </a:endParaRPr>
          </a:p>
          <a:p>
            <a:r>
              <a:rPr lang="en-US" sz="1400">
                <a:solidFill>
                  <a:srgbClr val="161616"/>
                </a:solidFill>
                <a:highlight>
                  <a:srgbClr val="FFFFFF"/>
                </a:highlight>
                <a:latin typeface="Calibri"/>
                <a:ea typeface="Calibri"/>
                <a:cs typeface="Calibri"/>
              </a:rPr>
              <a:t>I</a:t>
            </a:r>
            <a:r>
              <a:rPr lang="en-US" sz="1400" b="1">
                <a:solidFill>
                  <a:srgbClr val="161616"/>
                </a:solidFill>
                <a:highlight>
                  <a:srgbClr val="FFFFFF"/>
                </a:highlight>
                <a:latin typeface="Calibri"/>
                <a:ea typeface="Calibri"/>
                <a:cs typeface="Calibri"/>
              </a:rPr>
              <a:t>ncreases data protection.</a:t>
            </a:r>
            <a:endParaRPr lang="en-US" sz="1400" b="1">
              <a:latin typeface="Calibri"/>
              <a:ea typeface="Calibri"/>
              <a:cs typeface="Calibri"/>
            </a:endParaRPr>
          </a:p>
          <a:p>
            <a:r>
              <a:rPr lang="en-US" sz="1400" dirty="0"/>
              <a:t>Database mirroring provides complete or almost complete redundancy of the data, depending on whether the operating mode is high-safety or high-</a:t>
            </a:r>
            <a:r>
              <a:rPr lang="en-US" sz="1400" dirty="0" err="1"/>
              <a:t>performance.A</a:t>
            </a:r>
            <a:r>
              <a:rPr lang="en-US" sz="1400" dirty="0"/>
              <a:t> database mirroring partner running on SQL Server 2008 (10.0.x) Enterprise or later versions automatically tries to resolve certain types of errors that prevent reading a data page. The partner that is unable to read a page requests a fresh copy from the other partner. If this request succeeds, the unreadable page is replaced by the copy, which usually resolves the </a:t>
            </a:r>
            <a:r>
              <a:rPr lang="en-US" sz="1400" dirty="0" err="1"/>
              <a:t>error.Improves</a:t>
            </a:r>
            <a:r>
              <a:rPr lang="en-US" sz="1400" dirty="0"/>
              <a:t> the availability of the production database during upgrades.</a:t>
            </a:r>
            <a:endParaRPr lang="en-US" sz="1400" dirty="0">
              <a:ea typeface="Calibri"/>
              <a:cs typeface="Calibri"/>
            </a:endParaRPr>
          </a:p>
          <a:p>
            <a:r>
              <a:rPr lang="en-US" sz="1400"/>
              <a:t>To minimize downtime for a mirrored database, you can sequentially upgrade the instances of SQL Server that are hosting the failover partners. This will incur the downtime of only a single failover. This form of upgrade is known as a rolling upgrade.</a:t>
            </a:r>
            <a:endParaRPr lang="en-US" sz="1400">
              <a:ea typeface="Calibri"/>
              <a:cs typeface="Calibri"/>
            </a:endParaRPr>
          </a:p>
          <a:p>
            <a:endParaRPr lang="en-US" sz="1400" dirty="0">
              <a:ea typeface="Calibri"/>
              <a:cs typeface="Calibri"/>
            </a:endParaRPr>
          </a:p>
        </p:txBody>
      </p:sp>
    </p:spTree>
    <p:extLst>
      <p:ext uri="{BB962C8B-B14F-4D97-AF65-F5344CB8AC3E}">
        <p14:creationId xmlns:p14="http://schemas.microsoft.com/office/powerpoint/2010/main" val="2562354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a:ea typeface="Calibri Light"/>
                <a:cs typeface="Calibri Light"/>
              </a:rPr>
              <a:t>SQL Server Mirroring Components </a:t>
            </a:r>
            <a:endParaRPr lang="en-US" dirty="0">
              <a:ea typeface="Calibri Light"/>
              <a:cs typeface="Calibri Light"/>
            </a:endParaRP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4" y="1421985"/>
            <a:ext cx="7029304" cy="4794791"/>
          </a:xfrm>
        </p:spPr>
        <p:txBody>
          <a:bodyPr vert="horz" lIns="91440" tIns="45720" rIns="91440" bIns="45720" rtlCol="0" anchor="t">
            <a:noAutofit/>
          </a:bodyPr>
          <a:lstStyle/>
          <a:p>
            <a:r>
              <a:rPr lang="en-US" b="1"/>
              <a:t>Automatic failover</a:t>
            </a:r>
            <a:endParaRPr lang="en-US" sz="800">
              <a:highlight>
                <a:srgbClr val="1F1F1F"/>
              </a:highlight>
              <a:latin typeface="Segoe UI"/>
              <a:ea typeface="Calibri"/>
              <a:cs typeface="Segoe UI"/>
            </a:endParaRPr>
          </a:p>
          <a:p>
            <a:r>
              <a:rPr lang="en-US" sz="1200">
                <a:solidFill>
                  <a:srgbClr val="161616"/>
                </a:solidFill>
                <a:highlight>
                  <a:srgbClr val="FFFFFF"/>
                </a:highlight>
                <a:latin typeface="Segoe UI"/>
                <a:ea typeface="Calibri"/>
                <a:cs typeface="Segoe UI"/>
              </a:rPr>
              <a:t>The process by which, when the principal server becomes unavailable, the mirror server to take over the role of principal server and brings its copy of the database online as the principal database.</a:t>
            </a:r>
            <a:endParaRPr lang="en-US"/>
          </a:p>
          <a:p>
            <a:r>
              <a:rPr lang="en-US" b="1"/>
              <a:t>Failover partners</a:t>
            </a:r>
            <a:endParaRPr lang="en-US"/>
          </a:p>
          <a:p>
            <a:r>
              <a:rPr lang="en-US" sz="1200">
                <a:solidFill>
                  <a:srgbClr val="161616"/>
                </a:solidFill>
                <a:highlight>
                  <a:srgbClr val="FFFFFF"/>
                </a:highlight>
                <a:latin typeface="Segoe UI"/>
                <a:ea typeface="Calibri"/>
                <a:cs typeface="Segoe UI"/>
              </a:rPr>
              <a:t>The two server instances (the principal server or the mirror server) that act as role-switching partners for a mirrored database.</a:t>
            </a:r>
            <a:endParaRPr lang="en-US"/>
          </a:p>
          <a:p>
            <a:r>
              <a:rPr lang="en-US" b="1"/>
              <a:t>Forced service</a:t>
            </a:r>
            <a:endParaRPr lang="en-US"/>
          </a:p>
          <a:p>
            <a:r>
              <a:rPr lang="en-US" sz="1200" dirty="0">
                <a:solidFill>
                  <a:srgbClr val="161616"/>
                </a:solidFill>
                <a:highlight>
                  <a:srgbClr val="FFFFFF"/>
                </a:highlight>
                <a:latin typeface="Segoe UI"/>
                <a:ea typeface="Calibri"/>
                <a:cs typeface="Segoe UI"/>
              </a:rPr>
              <a:t>A failover initiated by the database owner upon the failure of the principal server that transfers service to the mirror database while it's in an unknown state.</a:t>
            </a:r>
            <a:endParaRPr lang="en-US" dirty="0"/>
          </a:p>
          <a:p>
            <a:r>
              <a:rPr lang="en-US" b="1"/>
              <a:t>High-performance mode</a:t>
            </a:r>
            <a:endParaRPr lang="en-US"/>
          </a:p>
          <a:p>
            <a:r>
              <a:rPr lang="en-US" sz="1200" dirty="0">
                <a:solidFill>
                  <a:srgbClr val="161616"/>
                </a:solidFill>
                <a:highlight>
                  <a:srgbClr val="FFFFFF"/>
                </a:highlight>
                <a:latin typeface="Segoe UI"/>
                <a:ea typeface="Calibri"/>
                <a:cs typeface="Segoe UI"/>
              </a:rPr>
              <a:t>The database mirroring session operates asynchronously and uses only the principal server and mirror server. The only form of role switching is forced service (with possible data loss).</a:t>
            </a:r>
            <a:endParaRPr lang="en-US" dirty="0"/>
          </a:p>
          <a:p>
            <a:r>
              <a:rPr lang="en-US" b="1"/>
              <a:t>High-safety mode</a:t>
            </a:r>
            <a:endParaRPr lang="en-US"/>
          </a:p>
          <a:p>
            <a:r>
              <a:rPr lang="en-US" sz="1200" dirty="0">
                <a:solidFill>
                  <a:srgbClr val="161616"/>
                </a:solidFill>
                <a:highlight>
                  <a:srgbClr val="FFFFFF"/>
                </a:highlight>
                <a:latin typeface="Segoe UI"/>
                <a:ea typeface="Calibri"/>
                <a:cs typeface="Segoe UI"/>
              </a:rPr>
              <a:t>The database mirroring session operates synchronously and, optionally, uses a witness, as well as the principal server and mirror server.</a:t>
            </a:r>
            <a:endParaRPr lang="en-US" dirty="0"/>
          </a:p>
          <a:p>
            <a:endParaRPr lang="en-US" sz="800" dirty="0">
              <a:highlight>
                <a:srgbClr val="1F1F1F"/>
              </a:highlight>
              <a:latin typeface="Segoe UI"/>
              <a:ea typeface="Calibri"/>
              <a:cs typeface="Segoe UI"/>
            </a:endParaRPr>
          </a:p>
          <a:p>
            <a:endParaRPr lang="en-US" sz="800">
              <a:highlight>
                <a:srgbClr val="1F1F1F"/>
              </a:highlight>
              <a:latin typeface="Segoe UI"/>
              <a:ea typeface="Calibri"/>
              <a:cs typeface="Segoe UI"/>
            </a:endParaRPr>
          </a:p>
          <a:p>
            <a:endParaRPr lang="en-US" sz="800">
              <a:highlight>
                <a:srgbClr val="1F1F1F"/>
              </a:highlight>
              <a:latin typeface="Segoe UI"/>
              <a:ea typeface="Calibri"/>
              <a:cs typeface="Segoe UI"/>
            </a:endParaRPr>
          </a:p>
        </p:txBody>
      </p:sp>
      <p:pic>
        <p:nvPicPr>
          <p:cNvPr id="28" name="Graphic 27" descr="Database">
            <a:extLst>
              <a:ext uri="{FF2B5EF4-FFF2-40B4-BE49-F238E27FC236}">
                <a16:creationId xmlns:a16="http://schemas.microsoft.com/office/drawing/2014/main" id="{CCBC0961-34A1-EB79-116D-76876B8319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35662" y="2184914"/>
            <a:ext cx="3755915" cy="3755915"/>
          </a:xfrm>
          <a:prstGeom prst="rect">
            <a:avLst/>
          </a:prstGeom>
        </p:spPr>
      </p:pic>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06416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08283-2637-E98D-FC33-16868C2F082B}"/>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SQL Server Mirroring Features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5594B27-688E-7B71-AB9C-75CB2D6B7FF1}"/>
              </a:ext>
            </a:extLst>
          </p:cNvPr>
          <p:cNvSpPr>
            <a:spLocks noGrp="1"/>
          </p:cNvSpPr>
          <p:nvPr>
            <p:ph idx="1"/>
          </p:nvPr>
        </p:nvSpPr>
        <p:spPr>
          <a:xfrm>
            <a:off x="838200" y="1929384"/>
            <a:ext cx="10515600" cy="4251960"/>
          </a:xfrm>
        </p:spPr>
        <p:txBody>
          <a:bodyPr vert="horz" lIns="91440" tIns="45720" rIns="91440" bIns="45720" rtlCol="0" anchor="t">
            <a:noAutofit/>
          </a:bodyPr>
          <a:lstStyle/>
          <a:p>
            <a:r>
              <a:rPr lang="en-US" sz="1600" b="1"/>
              <a:t>Manual failover</a:t>
            </a:r>
            <a:endParaRPr lang="en-US" sz="1600">
              <a:solidFill>
                <a:srgbClr val="000000"/>
              </a:solidFill>
              <a:ea typeface="+mn-lt"/>
              <a:cs typeface="+mn-lt"/>
            </a:endParaRPr>
          </a:p>
          <a:p>
            <a:r>
              <a:rPr lang="en-US" sz="1600" dirty="0">
                <a:solidFill>
                  <a:srgbClr val="161616"/>
                </a:solidFill>
                <a:highlight>
                  <a:srgbClr val="FFFFFF"/>
                </a:highlight>
                <a:latin typeface="Calibri"/>
                <a:ea typeface="+mn-lt"/>
                <a:cs typeface="Calibri"/>
              </a:rPr>
              <a:t>A failover initiated by the database owner, while the principal server is still running, that transfers service from the principal database to the mirror database while they are in a synchronized state.</a:t>
            </a:r>
            <a:endParaRPr lang="en-US" sz="1600">
              <a:solidFill>
                <a:srgbClr val="161616"/>
              </a:solidFill>
              <a:latin typeface="Calibri"/>
              <a:ea typeface="Calibri"/>
              <a:cs typeface="Calibri"/>
            </a:endParaRPr>
          </a:p>
          <a:p>
            <a:r>
              <a:rPr lang="en-US" sz="1600" b="1"/>
              <a:t>Mirror database</a:t>
            </a:r>
            <a:endParaRPr lang="en-US" sz="1600">
              <a:ea typeface="Calibri"/>
              <a:cs typeface="Calibri"/>
            </a:endParaRPr>
          </a:p>
          <a:p>
            <a:r>
              <a:rPr lang="en-US" sz="1600">
                <a:solidFill>
                  <a:srgbClr val="161616"/>
                </a:solidFill>
                <a:highlight>
                  <a:srgbClr val="FFFFFF"/>
                </a:highlight>
                <a:latin typeface="Calibri"/>
                <a:ea typeface="+mn-lt"/>
                <a:cs typeface="Calibri"/>
              </a:rPr>
              <a:t>The copy of the database that is typically fully synchronized with the principal database.</a:t>
            </a:r>
            <a:endParaRPr lang="en-US" sz="1600">
              <a:solidFill>
                <a:srgbClr val="161616"/>
              </a:solidFill>
              <a:latin typeface="Calibri"/>
              <a:ea typeface="Calibri"/>
              <a:cs typeface="Calibri"/>
            </a:endParaRPr>
          </a:p>
          <a:p>
            <a:r>
              <a:rPr lang="en-US" sz="1600" b="1"/>
              <a:t>Mirror server</a:t>
            </a:r>
            <a:endParaRPr lang="en-US" sz="1600">
              <a:ea typeface="Calibri"/>
              <a:cs typeface="Calibri"/>
            </a:endParaRPr>
          </a:p>
          <a:p>
            <a:r>
              <a:rPr lang="en-US" sz="1600" dirty="0">
                <a:solidFill>
                  <a:srgbClr val="161616"/>
                </a:solidFill>
                <a:highlight>
                  <a:srgbClr val="FFFFFF"/>
                </a:highlight>
                <a:latin typeface="Calibri"/>
                <a:ea typeface="+mn-lt"/>
                <a:cs typeface="Calibri"/>
              </a:rPr>
              <a:t>In a database mirroring configuration, the server instance on which the mirror database resides.</a:t>
            </a:r>
            <a:endParaRPr lang="en-US" sz="1600">
              <a:solidFill>
                <a:srgbClr val="161616"/>
              </a:solidFill>
              <a:latin typeface="Calibri"/>
              <a:ea typeface="Calibri"/>
              <a:cs typeface="Calibri"/>
            </a:endParaRPr>
          </a:p>
          <a:p>
            <a:r>
              <a:rPr lang="en-US" sz="1600" b="1"/>
              <a:t>Principal database</a:t>
            </a:r>
            <a:endParaRPr lang="en-US" sz="1600">
              <a:ea typeface="Calibri"/>
              <a:cs typeface="Calibri"/>
            </a:endParaRPr>
          </a:p>
          <a:p>
            <a:r>
              <a:rPr lang="en-US" sz="1600">
                <a:solidFill>
                  <a:srgbClr val="161616"/>
                </a:solidFill>
                <a:highlight>
                  <a:srgbClr val="FFFFFF"/>
                </a:highlight>
                <a:latin typeface="Calibri"/>
                <a:ea typeface="+mn-lt"/>
                <a:cs typeface="Calibri"/>
              </a:rPr>
              <a:t>In database mirroring, a read-write database whose transaction log records are applied to a read-only copy of the database (a mirror database).</a:t>
            </a:r>
            <a:endParaRPr lang="en-US" sz="1600">
              <a:latin typeface="Calibri"/>
              <a:ea typeface="Calibri"/>
              <a:cs typeface="Calibri"/>
            </a:endParaRPr>
          </a:p>
          <a:p>
            <a:r>
              <a:rPr lang="en-US" sz="1600" b="1"/>
              <a:t>Principal server</a:t>
            </a:r>
            <a:endParaRPr lang="en-US" sz="1600">
              <a:ea typeface="Calibri"/>
              <a:cs typeface="Calibri"/>
            </a:endParaRPr>
          </a:p>
          <a:p>
            <a:r>
              <a:rPr lang="en-US" sz="1600">
                <a:solidFill>
                  <a:srgbClr val="161616"/>
                </a:solidFill>
                <a:highlight>
                  <a:srgbClr val="FFFFFF"/>
                </a:highlight>
                <a:latin typeface="Calibri"/>
                <a:ea typeface="+mn-lt"/>
                <a:cs typeface="Calibri"/>
              </a:rPr>
              <a:t>In database mirroring, the partner whose database is currently the principal database.</a:t>
            </a:r>
            <a:endParaRPr lang="en-US" sz="1600">
              <a:latin typeface="Calibri"/>
              <a:ea typeface="Calibri"/>
              <a:cs typeface="Calibri"/>
            </a:endParaRPr>
          </a:p>
          <a:p>
            <a:r>
              <a:rPr lang="en-US" sz="1600" b="1"/>
              <a:t>Redo queue</a:t>
            </a:r>
            <a:endParaRPr lang="en-US" sz="1600">
              <a:ea typeface="Calibri"/>
              <a:cs typeface="Calibri"/>
            </a:endParaRPr>
          </a:p>
          <a:p>
            <a:r>
              <a:rPr lang="en-US" sz="1600">
                <a:solidFill>
                  <a:srgbClr val="161616"/>
                </a:solidFill>
                <a:highlight>
                  <a:srgbClr val="FFFFFF"/>
                </a:highlight>
                <a:latin typeface="Calibri"/>
                <a:ea typeface="+mn-lt"/>
                <a:cs typeface="Calibri"/>
              </a:rPr>
              <a:t>Received transaction log records that are waiting on the disk of a mirror server.</a:t>
            </a:r>
            <a:endParaRPr lang="en-US" sz="1600">
              <a:latin typeface="Calibri"/>
              <a:ea typeface="Calibri"/>
              <a:cs typeface="Calibri"/>
            </a:endParaRPr>
          </a:p>
          <a:p>
            <a:endParaRPr lang="en-US" sz="1600" dirty="0">
              <a:ea typeface="Calibri"/>
              <a:cs typeface="Calibri"/>
            </a:endParaRPr>
          </a:p>
        </p:txBody>
      </p:sp>
    </p:spTree>
    <p:extLst>
      <p:ext uri="{BB962C8B-B14F-4D97-AF65-F5344CB8AC3E}">
        <p14:creationId xmlns:p14="http://schemas.microsoft.com/office/powerpoint/2010/main" val="1003564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a:xfrm>
            <a:off x="838200" y="-80573"/>
            <a:ext cx="10515600" cy="1325563"/>
          </a:xfrm>
        </p:spPr>
        <p:txBody>
          <a:bodyPr/>
          <a:lstStyle/>
          <a:p>
            <a:r>
              <a:rPr lang="en-US">
                <a:ea typeface="Calibri Light"/>
                <a:cs typeface="Calibri Light"/>
              </a:rPr>
              <a:t>SQL Server Mirroring Features</a:t>
            </a:r>
            <a:endParaRPr lang="en-US"/>
          </a:p>
        </p:txBody>
      </p:sp>
      <p:sp>
        <p:nvSpPr>
          <p:cNvPr id="3" name="Content Placeholder 2">
            <a:extLst>
              <a:ext uri="{FF2B5EF4-FFF2-40B4-BE49-F238E27FC236}">
                <a16:creationId xmlns:a16="http://schemas.microsoft.com/office/drawing/2014/main" id="{0074A95C-ABA3-9B8E-B1BE-A16BAD4E10D8}"/>
              </a:ext>
            </a:extLst>
          </p:cNvPr>
          <p:cNvSpPr>
            <a:spLocks noGrp="1"/>
          </p:cNvSpPr>
          <p:nvPr>
            <p:ph idx="1"/>
          </p:nvPr>
        </p:nvSpPr>
        <p:spPr>
          <a:xfrm>
            <a:off x="651295" y="1092380"/>
            <a:ext cx="10889411" cy="4351338"/>
          </a:xfrm>
        </p:spPr>
        <p:txBody>
          <a:bodyPr vert="horz" lIns="91440" tIns="45720" rIns="91440" bIns="45720" rtlCol="0" anchor="t">
            <a:noAutofit/>
          </a:bodyPr>
          <a:lstStyle/>
          <a:p>
            <a:r>
              <a:rPr lang="en-US" sz="1600" b="1">
                <a:solidFill>
                  <a:srgbClr val="000000"/>
                </a:solidFill>
                <a:highlight>
                  <a:srgbClr val="FFFFFF"/>
                </a:highlight>
                <a:latin typeface="Calibri"/>
                <a:ea typeface="Calibri"/>
                <a:cs typeface="Calibri"/>
              </a:rPr>
              <a:t>Role</a:t>
            </a:r>
            <a:endParaRPr lang="en-US" sz="1600">
              <a:solidFill>
                <a:srgbClr val="000000"/>
              </a:solidFill>
              <a:highlight>
                <a:srgbClr val="FFFFFF"/>
              </a:highlight>
              <a:latin typeface="Calibri"/>
              <a:ea typeface="Calibri"/>
              <a:cs typeface="Calibri"/>
            </a:endParaRPr>
          </a:p>
          <a:p>
            <a:r>
              <a:rPr lang="en-US" sz="1600" dirty="0">
                <a:solidFill>
                  <a:srgbClr val="161616"/>
                </a:solidFill>
                <a:highlight>
                  <a:srgbClr val="FFFFFF"/>
                </a:highlight>
                <a:latin typeface="Calibri"/>
                <a:ea typeface="Calibri"/>
                <a:cs typeface="Calibri"/>
              </a:rPr>
              <a:t>The principal server and mirror server perform complementary principal and mirror roles. Optionally, the role of witness is performed by a third server instance.</a:t>
            </a:r>
            <a:endParaRPr lang="en-US" sz="1600" dirty="0">
              <a:highlight>
                <a:srgbClr val="FFFFFF"/>
              </a:highlight>
              <a:latin typeface="Calibri"/>
              <a:ea typeface="Calibri"/>
              <a:cs typeface="Calibri"/>
            </a:endParaRPr>
          </a:p>
          <a:p>
            <a:r>
              <a:rPr lang="en-US" sz="1600" b="1" dirty="0">
                <a:solidFill>
                  <a:srgbClr val="000000"/>
                </a:solidFill>
                <a:highlight>
                  <a:srgbClr val="FFFFFF"/>
                </a:highlight>
                <a:latin typeface="Calibri"/>
                <a:ea typeface="Calibri"/>
                <a:cs typeface="Calibri"/>
              </a:rPr>
              <a:t>Role switching</a:t>
            </a:r>
            <a:endParaRPr lang="en-US" sz="1600" dirty="0">
              <a:solidFill>
                <a:srgbClr val="000000"/>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The taking over of the principal role by the mirror.</a:t>
            </a:r>
            <a:endParaRPr lang="en-US" sz="1600">
              <a:solidFill>
                <a:srgbClr val="000000"/>
              </a:solidFill>
              <a:highlight>
                <a:srgbClr val="FFFFFF"/>
              </a:highlight>
              <a:latin typeface="Calibri"/>
              <a:ea typeface="Calibri"/>
              <a:cs typeface="Calibri"/>
            </a:endParaRPr>
          </a:p>
          <a:p>
            <a:r>
              <a:rPr lang="en-US" sz="1600" b="1">
                <a:solidFill>
                  <a:srgbClr val="000000"/>
                </a:solidFill>
                <a:highlight>
                  <a:srgbClr val="FFFFFF"/>
                </a:highlight>
                <a:latin typeface="Calibri"/>
                <a:ea typeface="Calibri"/>
                <a:cs typeface="Calibri"/>
              </a:rPr>
              <a:t>Send queue</a:t>
            </a:r>
            <a:endParaRPr lang="en-US" sz="1600">
              <a:solidFill>
                <a:srgbClr val="000000"/>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Unsent transaction log records that have accumulated on the log disk of the principal server.</a:t>
            </a:r>
            <a:endParaRPr lang="en-US" sz="1600">
              <a:solidFill>
                <a:srgbClr val="000000"/>
              </a:solidFill>
              <a:highlight>
                <a:srgbClr val="FFFFFF"/>
              </a:highlight>
              <a:latin typeface="Calibri"/>
              <a:ea typeface="Calibri"/>
              <a:cs typeface="Calibri"/>
            </a:endParaRPr>
          </a:p>
          <a:p>
            <a:r>
              <a:rPr lang="en-US" sz="1600" b="1">
                <a:solidFill>
                  <a:srgbClr val="000000"/>
                </a:solidFill>
                <a:highlight>
                  <a:srgbClr val="FFFFFF"/>
                </a:highlight>
                <a:latin typeface="Calibri"/>
                <a:ea typeface="Calibri"/>
                <a:cs typeface="Calibri"/>
              </a:rPr>
              <a:t>Session</a:t>
            </a:r>
            <a:endParaRPr lang="en-US" sz="1600">
              <a:solidFill>
                <a:srgbClr val="000000"/>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The relationship that occurs during database mirroring among the principal server, mirror server, and witness server (if present).</a:t>
            </a:r>
            <a:endParaRPr lang="en-US" sz="1600">
              <a:solidFill>
                <a:srgbClr val="000000"/>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After a mirroring session starts or resumes, the process by which log records of the principal database that have accumulated on the principal server are sent to the mirror server, which writes these log records to disk as quickly as possible to catch up with the principal server.</a:t>
            </a:r>
            <a:endParaRPr lang="en-US" sz="1600">
              <a:solidFill>
                <a:srgbClr val="000000"/>
              </a:solidFill>
              <a:highlight>
                <a:srgbClr val="FFFFFF"/>
              </a:highlight>
              <a:latin typeface="Calibri"/>
              <a:ea typeface="Calibri"/>
              <a:cs typeface="Calibri"/>
            </a:endParaRPr>
          </a:p>
          <a:p>
            <a:r>
              <a:rPr lang="en-US" sz="1600" b="1">
                <a:solidFill>
                  <a:srgbClr val="000000"/>
                </a:solidFill>
                <a:highlight>
                  <a:srgbClr val="FFFFFF"/>
                </a:highlight>
                <a:latin typeface="Calibri"/>
                <a:ea typeface="Calibri"/>
                <a:cs typeface="Calibri"/>
              </a:rPr>
              <a:t>Transaction safety</a:t>
            </a:r>
            <a:endParaRPr lang="en-US" sz="1600">
              <a:solidFill>
                <a:srgbClr val="000000"/>
              </a:solidFill>
              <a:highlight>
                <a:srgbClr val="FFFFFF"/>
              </a:highlight>
              <a:latin typeface="Calibri"/>
              <a:ea typeface="Calibri"/>
              <a:cs typeface="Calibri"/>
            </a:endParaRPr>
          </a:p>
          <a:p>
            <a:r>
              <a:rPr lang="en-US" sz="1600" dirty="0">
                <a:solidFill>
                  <a:srgbClr val="161616"/>
                </a:solidFill>
                <a:highlight>
                  <a:srgbClr val="FFFFFF"/>
                </a:highlight>
                <a:latin typeface="Calibri"/>
                <a:ea typeface="Calibri"/>
                <a:cs typeface="Calibri"/>
              </a:rPr>
              <a:t>A mirroring-specific database property that determines whether a database mirroring session operates synchronously or asynchronously. There are two safety levels: FULL and </a:t>
            </a:r>
            <a:r>
              <a:rPr lang="en-US" sz="1600" dirty="0">
                <a:solidFill>
                  <a:srgbClr val="161616"/>
                </a:solidFill>
                <a:highlight>
                  <a:srgbClr val="E6E6E6"/>
                </a:highlight>
                <a:latin typeface="Calibri"/>
                <a:ea typeface="Calibri"/>
                <a:cs typeface="Calibri"/>
              </a:rPr>
              <a:t>OFF</a:t>
            </a:r>
            <a:r>
              <a:rPr lang="en-US" sz="1600" dirty="0">
                <a:solidFill>
                  <a:srgbClr val="161616"/>
                </a:solidFill>
                <a:highlight>
                  <a:srgbClr val="FFFFFF"/>
                </a:highlight>
                <a:latin typeface="Calibri"/>
                <a:ea typeface="Calibri"/>
                <a:cs typeface="Calibri"/>
              </a:rPr>
              <a:t>.</a:t>
            </a:r>
            <a:endParaRPr lang="en-US" sz="1600">
              <a:highlight>
                <a:srgbClr val="FFFFFF"/>
              </a:highlight>
              <a:latin typeface="Calibri"/>
              <a:ea typeface="Calibri"/>
              <a:cs typeface="Calibri"/>
            </a:endParaRPr>
          </a:p>
          <a:p>
            <a:r>
              <a:rPr lang="en-US" sz="1600" b="1">
                <a:solidFill>
                  <a:srgbClr val="000000"/>
                </a:solidFill>
                <a:highlight>
                  <a:srgbClr val="FFFFFF"/>
                </a:highlight>
                <a:latin typeface="Calibri"/>
                <a:ea typeface="Calibri"/>
                <a:cs typeface="Calibri"/>
              </a:rPr>
              <a:t>Witness</a:t>
            </a:r>
            <a:endParaRPr lang="en-US" sz="1600">
              <a:solidFill>
                <a:srgbClr val="000000"/>
              </a:solidFill>
              <a:highlight>
                <a:srgbClr val="FFFFFF"/>
              </a:highlight>
              <a:latin typeface="Calibri"/>
              <a:ea typeface="Calibri"/>
              <a:cs typeface="Calibri"/>
            </a:endParaRPr>
          </a:p>
          <a:p>
            <a:r>
              <a:rPr lang="en-US" sz="1600" dirty="0">
                <a:solidFill>
                  <a:srgbClr val="161616"/>
                </a:solidFill>
                <a:highlight>
                  <a:srgbClr val="FFFFFF"/>
                </a:highlight>
                <a:latin typeface="Calibri"/>
                <a:ea typeface="Calibri"/>
                <a:cs typeface="Calibri"/>
              </a:rPr>
              <a:t>For use only with high-safety mode, an optional instance of SQL Server that enables the mirror server to recognize when to initiate an automatic failover. Unlike the two failover partners, the witness doesn't serve the database. Supporting automatic failover is the only role of the witness.</a:t>
            </a:r>
            <a:endParaRPr lang="en-US" sz="1600">
              <a:solidFill>
                <a:srgbClr val="000000"/>
              </a:solidFill>
              <a:highlight>
                <a:srgbClr val="FFFFFF"/>
              </a:highlight>
              <a:latin typeface="Calibri"/>
              <a:ea typeface="Calibri"/>
              <a:cs typeface="Calibri"/>
            </a:endParaRPr>
          </a:p>
          <a:p>
            <a:endParaRPr lang="en-US" sz="600" dirty="0">
              <a:highlight>
                <a:srgbClr val="FFFFFF"/>
              </a:highlight>
              <a:ea typeface="Calibri"/>
              <a:cs typeface="Calibri"/>
            </a:endParaRPr>
          </a:p>
          <a:p>
            <a:endParaRPr lang="en-US" sz="1600" dirty="0">
              <a:solidFill>
                <a:srgbClr val="161616"/>
              </a:solidFill>
              <a:highlight>
                <a:srgbClr val="FFFFFF"/>
              </a:highlight>
              <a:latin typeface="Segoe UI"/>
              <a:ea typeface="Calibri"/>
              <a:cs typeface="Segoe UI"/>
            </a:endParaRPr>
          </a:p>
          <a:p>
            <a:endParaRPr lang="en-US" sz="1700">
              <a:ea typeface="Calibri"/>
              <a:cs typeface="Calibri"/>
            </a:endParaRPr>
          </a:p>
        </p:txBody>
      </p:sp>
    </p:spTree>
    <p:extLst>
      <p:ext uri="{BB962C8B-B14F-4D97-AF65-F5344CB8AC3E}">
        <p14:creationId xmlns:p14="http://schemas.microsoft.com/office/powerpoint/2010/main" val="1049164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624EE-9B08-3BE5-6ED9-A2B801A8A42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SQL Server Mirroring</a:t>
            </a:r>
          </a:p>
        </p:txBody>
      </p:sp>
      <p:pic>
        <p:nvPicPr>
          <p:cNvPr id="6" name="Content Placeholder 5" descr="A screenshot of a computer&#10;&#10;AI-generated content may be incorrect.">
            <a:extLst>
              <a:ext uri="{FF2B5EF4-FFF2-40B4-BE49-F238E27FC236}">
                <a16:creationId xmlns:a16="http://schemas.microsoft.com/office/drawing/2014/main" id="{660D1CB0-02BB-8763-3C8F-B185C222DE82}"/>
              </a:ext>
            </a:extLst>
          </p:cNvPr>
          <p:cNvPicPr>
            <a:picLocks noGrp="1" noChangeAspect="1"/>
          </p:cNvPicPr>
          <p:nvPr>
            <p:ph idx="1"/>
          </p:nvPr>
        </p:nvPicPr>
        <p:blipFill>
          <a:blip r:embed="rId2"/>
          <a:stretch>
            <a:fillRect/>
          </a:stretch>
        </p:blipFill>
        <p:spPr>
          <a:xfrm>
            <a:off x="599504" y="1966293"/>
            <a:ext cx="10992990" cy="4452160"/>
          </a:xfrm>
          <a:prstGeom prst="rect">
            <a:avLst/>
          </a:prstGeom>
        </p:spPr>
      </p:pic>
    </p:spTree>
    <p:extLst>
      <p:ext uri="{BB962C8B-B14F-4D97-AF65-F5344CB8AC3E}">
        <p14:creationId xmlns:p14="http://schemas.microsoft.com/office/powerpoint/2010/main" val="4226178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SQL Server Mirroring Setup</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846279" cy="4251960"/>
          </a:xfrm>
        </p:spPr>
        <p:txBody>
          <a:bodyPr vert="horz" lIns="91440" tIns="45720" rIns="91440" bIns="45720" rtlCol="0" anchor="t">
            <a:noAutofit/>
          </a:bodyPr>
          <a:lstStyle/>
          <a:p>
            <a:r>
              <a:rPr lang="en-US" sz="1600" b="1">
                <a:solidFill>
                  <a:srgbClr val="0A0A0A"/>
                </a:solidFill>
                <a:highlight>
                  <a:srgbClr val="FFFFFF"/>
                </a:highlight>
                <a:ea typeface="+mn-lt"/>
                <a:cs typeface="+mn-lt"/>
              </a:rPr>
              <a:t>Full Recovery Model:</a:t>
            </a:r>
            <a:r>
              <a:rPr lang="en-US" sz="1600">
                <a:solidFill>
                  <a:srgbClr val="0A0A0A"/>
                </a:solidFill>
                <a:highlight>
                  <a:srgbClr val="FFFFFF"/>
                </a:highlight>
                <a:ea typeface="+mn-lt"/>
                <a:cs typeface="+mn-lt"/>
              </a:rPr>
              <a:t> The database must be set to the Full Recovery Model.</a:t>
            </a:r>
            <a:endParaRPr lang="en-US" sz="1600">
              <a:solidFill>
                <a:srgbClr val="161616"/>
              </a:solidFill>
              <a:highlight>
                <a:srgbClr val="FFFFFF"/>
              </a:highlight>
              <a:latin typeface="Calibri"/>
              <a:ea typeface="Calibri"/>
              <a:cs typeface="Calibri"/>
            </a:endParaRPr>
          </a:p>
          <a:p>
            <a:r>
              <a:rPr lang="en-US" sz="1600" b="1">
                <a:solidFill>
                  <a:srgbClr val="0A0A0A"/>
                </a:solidFill>
                <a:highlight>
                  <a:srgbClr val="FFFFFF"/>
                </a:highlight>
                <a:ea typeface="+mn-lt"/>
                <a:cs typeface="+mn-lt"/>
              </a:rPr>
              <a:t>Database Backups:</a:t>
            </a:r>
            <a:r>
              <a:rPr lang="en-US" sz="1600">
                <a:solidFill>
                  <a:srgbClr val="0A0A0A"/>
                </a:solidFill>
                <a:highlight>
                  <a:srgbClr val="FFFFFF"/>
                </a:highlight>
                <a:ea typeface="+mn-lt"/>
                <a:cs typeface="+mn-lt"/>
              </a:rPr>
              <a:t> A full backup and at least one transaction log backup must be taken from the principal.</a:t>
            </a:r>
            <a:endParaRPr lang="en-US" sz="1600">
              <a:ea typeface="Calibri"/>
              <a:cs typeface="Calibri"/>
            </a:endParaRPr>
          </a:p>
          <a:p>
            <a:r>
              <a:rPr lang="en-US" sz="1600" b="1">
                <a:solidFill>
                  <a:srgbClr val="0A0A0A"/>
                </a:solidFill>
                <a:highlight>
                  <a:srgbClr val="FFFFFF"/>
                </a:highlight>
                <a:ea typeface="+mn-lt"/>
                <a:cs typeface="+mn-lt"/>
              </a:rPr>
              <a:t>Restore on Mirror:</a:t>
            </a:r>
            <a:r>
              <a:rPr lang="en-US" sz="1600">
                <a:solidFill>
                  <a:srgbClr val="0A0A0A"/>
                </a:solidFill>
                <a:highlight>
                  <a:srgbClr val="FFFFFF"/>
                </a:highlight>
                <a:ea typeface="+mn-lt"/>
                <a:cs typeface="+mn-lt"/>
              </a:rPr>
              <a:t> Restore these backups on the mirror server using the </a:t>
            </a:r>
            <a:r>
              <a:rPr lang="en-US" sz="1600">
                <a:solidFill>
                  <a:srgbClr val="0A0A0A"/>
                </a:solidFill>
                <a:highlight>
                  <a:srgbClr val="F3F5F6"/>
                </a:highlight>
                <a:latin typeface="Calibri"/>
                <a:ea typeface="Calibri"/>
                <a:cs typeface="Calibri"/>
              </a:rPr>
              <a:t>WITH NORECOVERY</a:t>
            </a:r>
            <a:r>
              <a:rPr lang="en-US" sz="1600">
                <a:solidFill>
                  <a:srgbClr val="0A0A0A"/>
                </a:solidFill>
                <a:highlight>
                  <a:srgbClr val="FFFFFF"/>
                </a:highlight>
                <a:ea typeface="+mn-lt"/>
                <a:cs typeface="+mn-lt"/>
              </a:rPr>
              <a:t> option.</a:t>
            </a:r>
            <a:endParaRPr lang="en-US" sz="1600">
              <a:ea typeface="Calibri"/>
              <a:cs typeface="Calibri"/>
            </a:endParaRPr>
          </a:p>
          <a:p>
            <a:r>
              <a:rPr lang="en-US" sz="1600" b="1">
                <a:solidFill>
                  <a:srgbClr val="0A0A0A"/>
                </a:solidFill>
                <a:highlight>
                  <a:srgbClr val="FFFFFF"/>
                </a:highlight>
                <a:ea typeface="+mn-lt"/>
                <a:cs typeface="+mn-lt"/>
              </a:rPr>
              <a:t>Endpoints:</a:t>
            </a:r>
            <a:r>
              <a:rPr lang="en-US" sz="1600">
                <a:solidFill>
                  <a:srgbClr val="0A0A0A"/>
                </a:solidFill>
                <a:highlight>
                  <a:srgbClr val="FFFFFF"/>
                </a:highlight>
                <a:ea typeface="+mn-lt"/>
                <a:cs typeface="+mn-lt"/>
              </a:rPr>
              <a:t> Each server instance requires a dedicated </a:t>
            </a:r>
            <a:r>
              <a:rPr lang="en-US" sz="1600" u="sng" dirty="0">
                <a:solidFill>
                  <a:srgbClr val="1A0DAB"/>
                </a:solidFill>
                <a:highlight>
                  <a:srgbClr val="FFFFFF"/>
                </a:highlight>
                <a:ea typeface="+mn-lt"/>
                <a:cs typeface="+mn-lt"/>
                <a:hlinkClick r:id="rId2"/>
              </a:rPr>
              <a:t>database mirroring endpoint</a:t>
            </a:r>
            <a:r>
              <a:rPr lang="en-US" sz="1600">
                <a:solidFill>
                  <a:srgbClr val="0A0A0A"/>
                </a:solidFill>
                <a:highlight>
                  <a:srgbClr val="FFFFFF"/>
                </a:highlight>
                <a:ea typeface="+mn-lt"/>
                <a:cs typeface="+mn-lt"/>
              </a:rPr>
              <a:t> for communication</a:t>
            </a:r>
            <a:endParaRPr lang="en-US" sz="1600"/>
          </a:p>
          <a:p>
            <a:endParaRPr lang="en-US" sz="1600" dirty="0">
              <a:solidFill>
                <a:srgbClr val="161616"/>
              </a:solidFill>
              <a:highlight>
                <a:srgbClr val="FFFFFF"/>
              </a:highlight>
              <a:latin typeface="Segoe UI"/>
              <a:ea typeface="Calibri"/>
              <a:cs typeface="Segoe UI"/>
            </a:endParaRPr>
          </a:p>
          <a:p>
            <a:endParaRPr lang="en-US" sz="1500">
              <a:ea typeface="Calibri"/>
              <a:cs typeface="Calibri"/>
            </a:endParaRPr>
          </a:p>
        </p:txBody>
      </p:sp>
    </p:spTree>
    <p:extLst>
      <p:ext uri="{BB962C8B-B14F-4D97-AF65-F5344CB8AC3E}">
        <p14:creationId xmlns:p14="http://schemas.microsoft.com/office/powerpoint/2010/main" val="1074499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a:ea typeface="Calibri Light"/>
                <a:cs typeface="Calibri Light"/>
              </a:rPr>
              <a:t>SQL Server Log Shipping &amp; Replication</a:t>
            </a: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chor="t">
            <a:normAutofit/>
          </a:bodyPr>
          <a:lstStyle/>
          <a:p>
            <a:r>
              <a:rPr lang="en-US" sz="1600" dirty="0">
                <a:solidFill>
                  <a:srgbClr val="0A0A0A"/>
                </a:solidFill>
                <a:highlight>
                  <a:srgbClr val="FFFFFF"/>
                </a:highlight>
                <a:ea typeface="+mn-lt"/>
                <a:cs typeface="+mn-lt"/>
              </a:rPr>
              <a:t>Log shipping involves two copies of a single database that typically reside on different computers. At any given time, only one copy of the database is currently available to clients. This copy is known as the primary database. </a:t>
            </a:r>
          </a:p>
          <a:p>
            <a:r>
              <a:rPr lang="en-US" sz="1600" dirty="0">
                <a:solidFill>
                  <a:srgbClr val="0A0A0A"/>
                </a:solidFill>
                <a:highlight>
                  <a:srgbClr val="FFFFFF"/>
                </a:highlight>
                <a:ea typeface="+mn-lt"/>
                <a:cs typeface="+mn-lt"/>
              </a:rPr>
              <a:t>Updates made by clients to the primary database are propagated by means of log shipping to the other copy of the database, known as the secondary database. Log shipping involves applying the transaction log from every insertion, update, or deletion made on the primary database onto the secondary database.</a:t>
            </a:r>
          </a:p>
          <a:p>
            <a:r>
              <a:rPr lang="en-US" sz="1600">
                <a:solidFill>
                  <a:srgbClr val="0A0A0A"/>
                </a:solidFill>
                <a:highlight>
                  <a:srgbClr val="FFFFFF"/>
                </a:highlight>
                <a:ea typeface="+mn-lt"/>
                <a:cs typeface="+mn-lt"/>
              </a:rPr>
              <a:t>Replication does not continue after a log shipping failover. If a failover occurs, replication agents do not connect to the secondary, so transactions are not replicated to Subscribers. If a failback to the primary occurs, replication resumes. All transactions that log shipping copies from the secondary back to the primary are replicated to Subscribers.</a:t>
            </a:r>
            <a:endParaRPr lang="en-US" sz="1600" dirty="0">
              <a:solidFill>
                <a:srgbClr val="0A0A0A"/>
              </a:solidFill>
              <a:highlight>
                <a:srgbClr val="FFFFFF"/>
              </a:highlight>
              <a:ea typeface="+mn-lt"/>
              <a:cs typeface="+mn-lt"/>
            </a:endParaRPr>
          </a:p>
          <a:p>
            <a:r>
              <a:rPr lang="en-US" sz="1600" dirty="0">
                <a:solidFill>
                  <a:srgbClr val="0A0A0A"/>
                </a:solidFill>
                <a:highlight>
                  <a:srgbClr val="FFFFFF"/>
                </a:highlight>
                <a:ea typeface="+mn-lt"/>
                <a:cs typeface="+mn-lt"/>
              </a:rPr>
              <a:t>If the primary is permanently lost, the secondary can be renamed so that replication can continue. The remainder of this topic describes the requirements and procedures for handling this case. The example given is the publication database, which is the most common database to log ship, but a similar process can also be applied to subscription and distribution databases.</a:t>
            </a:r>
          </a:p>
          <a:p>
            <a:endParaRPr lang="en-US" sz="1600" dirty="0">
              <a:solidFill>
                <a:srgbClr val="0A0A0A"/>
              </a:solidFill>
              <a:highlight>
                <a:srgbClr val="FFFFFF"/>
              </a:highlight>
              <a:ea typeface="+mn-lt"/>
              <a:cs typeface="+mn-lt"/>
            </a:endParaRPr>
          </a:p>
          <a:p>
            <a:endParaRPr lang="en-US" sz="1600">
              <a:solidFill>
                <a:srgbClr val="0A0A0A"/>
              </a:solidFill>
              <a:highlight>
                <a:srgbClr val="FFFFFF"/>
              </a:highlight>
              <a:ea typeface="+mn-lt"/>
              <a:cs typeface="+mn-lt"/>
            </a:endParaRPr>
          </a:p>
        </p:txBody>
      </p:sp>
    </p:spTree>
    <p:extLst>
      <p:ext uri="{BB962C8B-B14F-4D97-AF65-F5344CB8AC3E}">
        <p14:creationId xmlns:p14="http://schemas.microsoft.com/office/powerpoint/2010/main" val="2339224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007A34-1464-91B0-CF8C-4C097BA77A6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DDA8A2-F789-38DC-D514-0D038AFD66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E0D210-EAAD-8A09-92F6-842B2985224B}"/>
              </a:ext>
            </a:extLst>
          </p:cNvPr>
          <p:cNvSpPr>
            <a:spLocks noGrp="1"/>
          </p:cNvSpPr>
          <p:nvPr>
            <p:ph type="title"/>
          </p:nvPr>
        </p:nvSpPr>
        <p:spPr>
          <a:xfrm>
            <a:off x="481815" y="256032"/>
            <a:ext cx="11512870" cy="1014984"/>
          </a:xfrm>
        </p:spPr>
        <p:txBody>
          <a:bodyPr anchor="b">
            <a:normAutofit/>
          </a:bodyPr>
          <a:lstStyle/>
          <a:p>
            <a:r>
              <a:rPr lang="en-US" sz="3200">
                <a:ea typeface="Calibri Light"/>
                <a:cs typeface="Calibri Light"/>
              </a:rPr>
              <a:t>Azure SQL Server, Azure SQL Managed Instance &amp; Azure SQL VM </a:t>
            </a:r>
          </a:p>
        </p:txBody>
      </p:sp>
      <p:sp>
        <p:nvSpPr>
          <p:cNvPr id="11" name="Rectangle 10">
            <a:extLst>
              <a:ext uri="{FF2B5EF4-FFF2-40B4-BE49-F238E27FC236}">
                <a16:creationId xmlns:a16="http://schemas.microsoft.com/office/drawing/2014/main" id="{5E1831F7-3558-EF73-BDFE-45A8ED11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656860B4-19A4-9687-BDBA-100637435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3" name="Table 2">
            <a:extLst>
              <a:ext uri="{FF2B5EF4-FFF2-40B4-BE49-F238E27FC236}">
                <a16:creationId xmlns:a16="http://schemas.microsoft.com/office/drawing/2014/main" id="{37437C71-9E68-A9F2-70B5-5A2540F9CF3E}"/>
              </a:ext>
            </a:extLst>
          </p:cNvPr>
          <p:cNvGraphicFramePr>
            <a:graphicFrameLocks noGrp="1"/>
          </p:cNvGraphicFramePr>
          <p:nvPr>
            <p:extLst>
              <p:ext uri="{D42A27DB-BD31-4B8C-83A1-F6EECF244321}">
                <p14:modId xmlns:p14="http://schemas.microsoft.com/office/powerpoint/2010/main" val="328862019"/>
              </p:ext>
            </p:extLst>
          </p:nvPr>
        </p:nvGraphicFramePr>
        <p:xfrm>
          <a:off x="1222074" y="2027207"/>
          <a:ext cx="9113516" cy="3942080"/>
        </p:xfrm>
        <a:graphic>
          <a:graphicData uri="http://schemas.openxmlformats.org/drawingml/2006/table">
            <a:tbl>
              <a:tblPr firstRow="1" bandRow="1">
                <a:tableStyleId>{5C22544A-7EE6-4342-B048-85BDC9FD1C3A}</a:tableStyleId>
              </a:tblPr>
              <a:tblGrid>
                <a:gridCol w="2278379">
                  <a:extLst>
                    <a:ext uri="{9D8B030D-6E8A-4147-A177-3AD203B41FA5}">
                      <a16:colId xmlns:a16="http://schemas.microsoft.com/office/drawing/2014/main" val="2301202805"/>
                    </a:ext>
                  </a:extLst>
                </a:gridCol>
                <a:gridCol w="2278379">
                  <a:extLst>
                    <a:ext uri="{9D8B030D-6E8A-4147-A177-3AD203B41FA5}">
                      <a16:colId xmlns:a16="http://schemas.microsoft.com/office/drawing/2014/main" val="3258063067"/>
                    </a:ext>
                  </a:extLst>
                </a:gridCol>
                <a:gridCol w="2278379">
                  <a:extLst>
                    <a:ext uri="{9D8B030D-6E8A-4147-A177-3AD203B41FA5}">
                      <a16:colId xmlns:a16="http://schemas.microsoft.com/office/drawing/2014/main" val="59159846"/>
                    </a:ext>
                  </a:extLst>
                </a:gridCol>
                <a:gridCol w="2278379">
                  <a:extLst>
                    <a:ext uri="{9D8B030D-6E8A-4147-A177-3AD203B41FA5}">
                      <a16:colId xmlns:a16="http://schemas.microsoft.com/office/drawing/2014/main" val="2471004528"/>
                    </a:ext>
                  </a:extLst>
                </a:gridCol>
              </a:tblGrid>
              <a:tr h="365759">
                <a:tc>
                  <a:txBody>
                    <a:bodyPr/>
                    <a:lstStyle/>
                    <a:p>
                      <a:r>
                        <a:rPr lang="en-US"/>
                        <a:t>Feature</a:t>
                      </a:r>
                    </a:p>
                  </a:txBody>
                  <a:tcPr/>
                </a:tc>
                <a:tc>
                  <a:txBody>
                    <a:bodyPr/>
                    <a:lstStyle/>
                    <a:p>
                      <a:r>
                        <a:rPr lang="en-US"/>
                        <a:t>Azure SQL Database</a:t>
                      </a:r>
                      <a:endParaRPr lang="en-US" dirty="0"/>
                    </a:p>
                  </a:txBody>
                  <a:tcPr/>
                </a:tc>
                <a:tc>
                  <a:txBody>
                    <a:bodyPr/>
                    <a:lstStyle/>
                    <a:p>
                      <a:r>
                        <a:rPr lang="en-US"/>
                        <a:t>Azure SQL Managed Instance</a:t>
                      </a:r>
                    </a:p>
                  </a:txBody>
                  <a:tcPr/>
                </a:tc>
                <a:tc>
                  <a:txBody>
                    <a:bodyPr/>
                    <a:lstStyle/>
                    <a:p>
                      <a:r>
                        <a:rPr lang="en-US"/>
                        <a:t>Azure SQL VM</a:t>
                      </a:r>
                    </a:p>
                  </a:txBody>
                  <a:tcPr/>
                </a:tc>
                <a:extLst>
                  <a:ext uri="{0D108BD9-81ED-4DB2-BD59-A6C34878D82A}">
                    <a16:rowId xmlns:a16="http://schemas.microsoft.com/office/drawing/2014/main" val="3391526441"/>
                  </a:ext>
                </a:extLst>
              </a:tr>
              <a:tr h="370840">
                <a:tc>
                  <a:txBody>
                    <a:bodyPr/>
                    <a:lstStyle/>
                    <a:p>
                      <a:r>
                        <a:rPr lang="en-US" dirty="0"/>
                        <a:t>Service </a:t>
                      </a:r>
                      <a:r>
                        <a:rPr lang="en-US"/>
                        <a:t>Category</a:t>
                      </a:r>
                      <a:endParaRPr lang="en-US" dirty="0"/>
                    </a:p>
                  </a:txBody>
                  <a:tcPr/>
                </a:tc>
                <a:tc>
                  <a:txBody>
                    <a:bodyPr/>
                    <a:lstStyle/>
                    <a:p>
                      <a:r>
                        <a:rPr lang="en-US"/>
                        <a:t>PaaS</a:t>
                      </a:r>
                    </a:p>
                  </a:txBody>
                  <a:tcPr/>
                </a:tc>
                <a:tc>
                  <a:txBody>
                    <a:bodyPr/>
                    <a:lstStyle/>
                    <a:p>
                      <a:r>
                        <a:rPr lang="en-US"/>
                        <a:t>PaaS</a:t>
                      </a:r>
                    </a:p>
                  </a:txBody>
                  <a:tcPr/>
                </a:tc>
                <a:tc>
                  <a:txBody>
                    <a:bodyPr/>
                    <a:lstStyle/>
                    <a:p>
                      <a:r>
                        <a:rPr lang="en-US"/>
                        <a:t>IaaS</a:t>
                      </a:r>
                    </a:p>
                  </a:txBody>
                  <a:tcPr/>
                </a:tc>
                <a:extLst>
                  <a:ext uri="{0D108BD9-81ED-4DB2-BD59-A6C34878D82A}">
                    <a16:rowId xmlns:a16="http://schemas.microsoft.com/office/drawing/2014/main" val="1910856577"/>
                  </a:ext>
                </a:extLst>
              </a:tr>
              <a:tr h="370840">
                <a:tc>
                  <a:txBody>
                    <a:bodyPr/>
                    <a:lstStyle/>
                    <a:p>
                      <a:r>
                        <a:rPr lang="en-US"/>
                        <a:t>Control Level</a:t>
                      </a:r>
                    </a:p>
                  </a:txBody>
                  <a:tcPr/>
                </a:tc>
                <a:tc>
                  <a:txBody>
                    <a:bodyPr/>
                    <a:lstStyle/>
                    <a:p>
                      <a:r>
                        <a:rPr lang="en-US"/>
                        <a:t>Lowest</a:t>
                      </a:r>
                    </a:p>
                  </a:txBody>
                  <a:tcPr/>
                </a:tc>
                <a:tc>
                  <a:txBody>
                    <a:bodyPr/>
                    <a:lstStyle/>
                    <a:p>
                      <a:r>
                        <a:rPr lang="en-US"/>
                        <a:t>Medium</a:t>
                      </a:r>
                    </a:p>
                  </a:txBody>
                  <a:tcPr/>
                </a:tc>
                <a:tc>
                  <a:txBody>
                    <a:bodyPr/>
                    <a:lstStyle/>
                    <a:p>
                      <a:r>
                        <a:rPr lang="en-US"/>
                        <a:t>Highest</a:t>
                      </a:r>
                    </a:p>
                  </a:txBody>
                  <a:tcPr/>
                </a:tc>
                <a:extLst>
                  <a:ext uri="{0D108BD9-81ED-4DB2-BD59-A6C34878D82A}">
                    <a16:rowId xmlns:a16="http://schemas.microsoft.com/office/drawing/2014/main" val="3075078084"/>
                  </a:ext>
                </a:extLst>
              </a:tr>
              <a:tr h="370840">
                <a:tc>
                  <a:txBody>
                    <a:bodyPr/>
                    <a:lstStyle/>
                    <a:p>
                      <a:r>
                        <a:rPr lang="en-US"/>
                        <a:t>Compatibility</a:t>
                      </a:r>
                    </a:p>
                  </a:txBody>
                  <a:tcPr/>
                </a:tc>
                <a:tc>
                  <a:txBody>
                    <a:bodyPr/>
                    <a:lstStyle/>
                    <a:p>
                      <a:r>
                        <a:rPr lang="en-US"/>
                        <a:t>Cloud native services</a:t>
                      </a:r>
                    </a:p>
                  </a:txBody>
                  <a:tcPr/>
                </a:tc>
                <a:tc>
                  <a:txBody>
                    <a:bodyPr/>
                    <a:lstStyle/>
                    <a:p>
                      <a:r>
                        <a:rPr lang="en-US"/>
                        <a:t>Near 100% (SQL Compatible)</a:t>
                      </a:r>
                    </a:p>
                  </a:txBody>
                  <a:tcPr/>
                </a:tc>
                <a:tc>
                  <a:txBody>
                    <a:bodyPr/>
                    <a:lstStyle/>
                    <a:p>
                      <a:r>
                        <a:rPr lang="en-US"/>
                        <a:t>100% (Any SQL </a:t>
                      </a:r>
                      <a:r>
                        <a:rPr lang="en-US" dirty="0"/>
                        <a:t>version)</a:t>
                      </a:r>
                    </a:p>
                  </a:txBody>
                  <a:tcPr/>
                </a:tc>
                <a:extLst>
                  <a:ext uri="{0D108BD9-81ED-4DB2-BD59-A6C34878D82A}">
                    <a16:rowId xmlns:a16="http://schemas.microsoft.com/office/drawing/2014/main" val="1648110691"/>
                  </a:ext>
                </a:extLst>
              </a:tr>
              <a:tr h="370840">
                <a:tc>
                  <a:txBody>
                    <a:bodyPr/>
                    <a:lstStyle/>
                    <a:p>
                      <a:r>
                        <a:rPr lang="en-US"/>
                        <a:t>Management</a:t>
                      </a:r>
                    </a:p>
                  </a:txBody>
                  <a:tcPr/>
                </a:tc>
                <a:tc>
                  <a:txBody>
                    <a:bodyPr/>
                    <a:lstStyle/>
                    <a:p>
                      <a:r>
                        <a:rPr lang="en-US"/>
                        <a:t>Fully automated by Azure</a:t>
                      </a:r>
                    </a:p>
                  </a:txBody>
                  <a:tcPr/>
                </a:tc>
                <a:tc>
                  <a:txBody>
                    <a:bodyPr/>
                    <a:lstStyle/>
                    <a:p>
                      <a:r>
                        <a:rPr lang="en-US"/>
                        <a:t>Fully Automated by Azure</a:t>
                      </a:r>
                    </a:p>
                  </a:txBody>
                  <a:tcPr/>
                </a:tc>
                <a:tc>
                  <a:txBody>
                    <a:bodyPr/>
                    <a:lstStyle/>
                    <a:p>
                      <a:r>
                        <a:rPr lang="en-US" dirty="0"/>
                        <a:t>User managed (OS </a:t>
                      </a:r>
                      <a:r>
                        <a:rPr lang="en-US"/>
                        <a:t>patched)</a:t>
                      </a:r>
                    </a:p>
                  </a:txBody>
                  <a:tcPr/>
                </a:tc>
                <a:extLst>
                  <a:ext uri="{0D108BD9-81ED-4DB2-BD59-A6C34878D82A}">
                    <a16:rowId xmlns:a16="http://schemas.microsoft.com/office/drawing/2014/main" val="3881374598"/>
                  </a:ext>
                </a:extLst>
              </a:tr>
              <a:tr h="370839">
                <a:tc>
                  <a:txBody>
                    <a:bodyPr/>
                    <a:lstStyle/>
                    <a:p>
                      <a:pPr lvl="0">
                        <a:buNone/>
                      </a:pPr>
                      <a:r>
                        <a:rPr lang="en-US"/>
                        <a:t>Scaling</a:t>
                      </a:r>
                      <a:endParaRPr lang="en-US" dirty="0"/>
                    </a:p>
                  </a:txBody>
                  <a:tcPr/>
                </a:tc>
                <a:tc>
                  <a:txBody>
                    <a:bodyPr/>
                    <a:lstStyle/>
                    <a:p>
                      <a:pPr lvl="0">
                        <a:buNone/>
                      </a:pPr>
                      <a:r>
                        <a:rPr lang="en-US"/>
                        <a:t>Serverless &amp; </a:t>
                      </a:r>
                      <a:r>
                        <a:rPr lang="en-US" err="1"/>
                        <a:t>Hypersc</a:t>
                      </a:r>
                      <a:r>
                        <a:rPr lang="en-US"/>
                        <a:t>ale</a:t>
                      </a:r>
                      <a:endParaRPr lang="en-US" dirty="0"/>
                    </a:p>
                  </a:txBody>
                  <a:tcPr/>
                </a:tc>
                <a:tc>
                  <a:txBody>
                    <a:bodyPr/>
                    <a:lstStyle/>
                    <a:p>
                      <a:pPr lvl="0">
                        <a:buNone/>
                      </a:pPr>
                      <a:r>
                        <a:rPr lang="en-US"/>
                        <a:t>V-Core based scaling</a:t>
                      </a:r>
                      <a:endParaRPr lang="en-US" dirty="0"/>
                    </a:p>
                  </a:txBody>
                  <a:tcPr/>
                </a:tc>
                <a:tc>
                  <a:txBody>
                    <a:bodyPr/>
                    <a:lstStyle/>
                    <a:p>
                      <a:pPr lvl="0">
                        <a:buNone/>
                      </a:pPr>
                      <a:r>
                        <a:rPr lang="en-US"/>
                        <a:t>Manual (change VM size)</a:t>
                      </a:r>
                      <a:endParaRPr lang="en-US" dirty="0"/>
                    </a:p>
                  </a:txBody>
                  <a:tcPr/>
                </a:tc>
                <a:extLst>
                  <a:ext uri="{0D108BD9-81ED-4DB2-BD59-A6C34878D82A}">
                    <a16:rowId xmlns:a16="http://schemas.microsoft.com/office/drawing/2014/main" val="1561466536"/>
                  </a:ext>
                </a:extLst>
              </a:tr>
              <a:tr h="370838">
                <a:tc>
                  <a:txBody>
                    <a:bodyPr/>
                    <a:lstStyle/>
                    <a:p>
                      <a:pPr lvl="0">
                        <a:buNone/>
                      </a:pPr>
                      <a:r>
                        <a:rPr lang="en-US"/>
                        <a:t>Scenario</a:t>
                      </a:r>
                      <a:endParaRPr lang="en-US" dirty="0"/>
                    </a:p>
                  </a:txBody>
                  <a:tcPr/>
                </a:tc>
                <a:tc>
                  <a:txBody>
                    <a:bodyPr/>
                    <a:lstStyle/>
                    <a:p>
                      <a:pPr lvl="0">
                        <a:buNone/>
                      </a:pPr>
                      <a:r>
                        <a:rPr lang="en-US"/>
                        <a:t>Greenfield Web/mobile apps</a:t>
                      </a:r>
                      <a:endParaRPr lang="en-US" dirty="0"/>
                    </a:p>
                  </a:txBody>
                  <a:tcPr/>
                </a:tc>
                <a:tc>
                  <a:txBody>
                    <a:bodyPr/>
                    <a:lstStyle/>
                    <a:p>
                      <a:pPr lvl="0">
                        <a:buNone/>
                      </a:pPr>
                      <a:r>
                        <a:rPr lang="en-US"/>
                        <a:t>Lift/shift migration</a:t>
                      </a:r>
                      <a:endParaRPr lang="en-US" dirty="0"/>
                    </a:p>
                  </a:txBody>
                  <a:tcPr/>
                </a:tc>
                <a:tc>
                  <a:txBody>
                    <a:bodyPr/>
                    <a:lstStyle/>
                    <a:p>
                      <a:pPr lvl="0">
                        <a:buNone/>
                      </a:pPr>
                      <a:r>
                        <a:rPr lang="en-US"/>
                        <a:t>OS-dependent workloads</a:t>
                      </a:r>
                      <a:endParaRPr lang="en-US" dirty="0"/>
                    </a:p>
                  </a:txBody>
                  <a:tcPr/>
                </a:tc>
                <a:extLst>
                  <a:ext uri="{0D108BD9-81ED-4DB2-BD59-A6C34878D82A}">
                    <a16:rowId xmlns:a16="http://schemas.microsoft.com/office/drawing/2014/main" val="593107328"/>
                  </a:ext>
                </a:extLst>
              </a:tr>
            </a:tbl>
          </a:graphicData>
        </a:graphic>
      </p:graphicFrame>
    </p:spTree>
    <p:extLst>
      <p:ext uri="{BB962C8B-B14F-4D97-AF65-F5344CB8AC3E}">
        <p14:creationId xmlns:p14="http://schemas.microsoft.com/office/powerpoint/2010/main" val="3946591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B5AB2-0325-BCA9-764E-8B187EF6B2F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ea typeface="Calibri Light"/>
                <a:cs typeface="Calibri Light"/>
              </a:rPr>
              <a:t>Azure SQL Database Backup</a:t>
            </a:r>
            <a:endParaRPr lang="en-US" sz="4000" dirty="0">
              <a:solidFill>
                <a:srgbClr val="FFFFFF"/>
              </a:solidFill>
              <a:ea typeface="Calibri Light"/>
              <a:cs typeface="Calibri Light"/>
            </a:endParaRPr>
          </a:p>
        </p:txBody>
      </p:sp>
      <p:sp>
        <p:nvSpPr>
          <p:cNvPr id="3" name="Content Placeholder 2">
            <a:extLst>
              <a:ext uri="{FF2B5EF4-FFF2-40B4-BE49-F238E27FC236}">
                <a16:creationId xmlns:a16="http://schemas.microsoft.com/office/drawing/2014/main" id="{66E539D5-9860-65A9-84B0-AE3C9DE83A0F}"/>
              </a:ext>
            </a:extLst>
          </p:cNvPr>
          <p:cNvSpPr>
            <a:spLocks noGrp="1"/>
          </p:cNvSpPr>
          <p:nvPr>
            <p:ph idx="1"/>
          </p:nvPr>
        </p:nvSpPr>
        <p:spPr>
          <a:xfrm>
            <a:off x="4810259" y="591971"/>
            <a:ext cx="6799762" cy="5948612"/>
          </a:xfrm>
        </p:spPr>
        <p:txBody>
          <a:bodyPr vert="horz" lIns="91440" tIns="45720" rIns="91440" bIns="45720" rtlCol="0" anchor="ctr">
            <a:normAutofit/>
          </a:bodyPr>
          <a:lstStyle/>
          <a:p>
            <a:r>
              <a:rPr lang="en-US" sz="1600">
                <a:solidFill>
                  <a:srgbClr val="161616"/>
                </a:solidFill>
                <a:highlight>
                  <a:srgbClr val="FFFFFF"/>
                </a:highlight>
                <a:latin typeface="Calibri"/>
                <a:ea typeface="Calibri"/>
                <a:cs typeface="Calibri"/>
              </a:rPr>
              <a:t>SQL Server managed backup to Microsoft Azure manages and automates SQL Server backups to Microsoft Azure Blob storage.</a:t>
            </a:r>
            <a:endParaRPr lang="en-US" sz="1600">
              <a:solidFill>
                <a:srgbClr val="000000"/>
              </a:solidFill>
              <a:latin typeface="Calibri"/>
              <a:ea typeface="Calibri"/>
              <a:cs typeface="Calibri"/>
            </a:endParaRPr>
          </a:p>
          <a:p>
            <a:endParaRPr lang="en-US" sz="1600" dirty="0">
              <a:solidFill>
                <a:srgbClr val="161616"/>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Currently automating backups for multiple databases requires developing a backup strategy, writing custom code, and scheduling backups. </a:t>
            </a:r>
            <a:endParaRPr lang="en-US" sz="1600" dirty="0">
              <a:solidFill>
                <a:srgbClr val="161616"/>
              </a:solidFill>
              <a:highlight>
                <a:srgbClr val="FFFFFF"/>
              </a:highlight>
              <a:latin typeface="Calibri"/>
              <a:ea typeface="Calibri"/>
              <a:cs typeface="Calibri"/>
            </a:endParaRPr>
          </a:p>
          <a:p>
            <a:endParaRPr lang="en-US" sz="1600" dirty="0">
              <a:solidFill>
                <a:srgbClr val="161616"/>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Using SQL Server managed backup to Microsoft Azure, you can create a backup plan by specifying only the retention period and storage location.</a:t>
            </a:r>
            <a:endParaRPr lang="en-US"/>
          </a:p>
        </p:txBody>
      </p:sp>
    </p:spTree>
    <p:extLst>
      <p:ext uri="{BB962C8B-B14F-4D97-AF65-F5344CB8AC3E}">
        <p14:creationId xmlns:p14="http://schemas.microsoft.com/office/powerpoint/2010/main" val="3291946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E149CDF-5DAC-4860-A285-9492CF209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31" name="Rectangle 30">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172A770A-6058-3B59-7EA8-5A75B57CB413}"/>
              </a:ext>
            </a:extLst>
          </p:cNvPr>
          <p:cNvSpPr>
            <a:spLocks noGrp="1"/>
          </p:cNvSpPr>
          <p:nvPr>
            <p:ph type="title"/>
          </p:nvPr>
        </p:nvSpPr>
        <p:spPr>
          <a:xfrm>
            <a:off x="1378872" y="732483"/>
            <a:ext cx="8690385" cy="940230"/>
          </a:xfrm>
        </p:spPr>
        <p:txBody>
          <a:bodyPr anchor="b">
            <a:normAutofit/>
          </a:bodyPr>
          <a:lstStyle/>
          <a:p>
            <a:r>
              <a:rPr lang="en-US">
                <a:ea typeface="Calibri Light"/>
                <a:cs typeface="Calibri Light"/>
              </a:rPr>
              <a:t>Azure SQL Backup Strategy </a:t>
            </a:r>
          </a:p>
        </p:txBody>
      </p:sp>
      <p:sp>
        <p:nvSpPr>
          <p:cNvPr id="3" name="Content Placeholder 2">
            <a:extLst>
              <a:ext uri="{FF2B5EF4-FFF2-40B4-BE49-F238E27FC236}">
                <a16:creationId xmlns:a16="http://schemas.microsoft.com/office/drawing/2014/main" id="{EA43B87D-2EED-21A1-F4D1-3A5FD87A2EA9}"/>
              </a:ext>
            </a:extLst>
          </p:cNvPr>
          <p:cNvSpPr>
            <a:spLocks noGrp="1"/>
          </p:cNvSpPr>
          <p:nvPr>
            <p:ph idx="1"/>
          </p:nvPr>
        </p:nvSpPr>
        <p:spPr>
          <a:xfrm>
            <a:off x="1191966" y="2965592"/>
            <a:ext cx="3629555" cy="2987397"/>
          </a:xfrm>
        </p:spPr>
        <p:txBody>
          <a:bodyPr vert="horz" lIns="91440" tIns="45720" rIns="91440" bIns="45720" rtlCol="0">
            <a:normAutofit/>
          </a:bodyPr>
          <a:lstStyle/>
          <a:p>
            <a:endParaRPr lang="en-US" sz="1800">
              <a:ea typeface="Calibri"/>
              <a:cs typeface="Calibri"/>
            </a:endParaRPr>
          </a:p>
          <a:p>
            <a:endParaRPr lang="en-US" sz="1800">
              <a:highlight>
                <a:srgbClr val="1F1F1F"/>
              </a:highlight>
              <a:latin typeface="Segoe UI"/>
              <a:ea typeface="Calibri"/>
              <a:cs typeface="Segoe UI"/>
            </a:endParaRPr>
          </a:p>
          <a:p>
            <a:endParaRPr lang="en-US" sz="1800">
              <a:highlight>
                <a:srgbClr val="1F1F1F"/>
              </a:highlight>
              <a:latin typeface="Segoe UI"/>
              <a:ea typeface="Calibri"/>
              <a:cs typeface="Segoe UI"/>
            </a:endParaRPr>
          </a:p>
        </p:txBody>
      </p:sp>
      <p:sp>
        <p:nvSpPr>
          <p:cNvPr id="6" name="TextBox 5">
            <a:extLst>
              <a:ext uri="{FF2B5EF4-FFF2-40B4-BE49-F238E27FC236}">
                <a16:creationId xmlns:a16="http://schemas.microsoft.com/office/drawing/2014/main" id="{B3192453-C563-EF8F-476D-6362DF33F89B}"/>
              </a:ext>
            </a:extLst>
          </p:cNvPr>
          <p:cNvSpPr txBox="1"/>
          <p:nvPr/>
        </p:nvSpPr>
        <p:spPr>
          <a:xfrm>
            <a:off x="756538" y="1539527"/>
            <a:ext cx="10751387" cy="4462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Backup scheduling</a:t>
            </a:r>
            <a:endParaRPr lang="en-US" sz="1600">
              <a:ea typeface="Calibri"/>
              <a:cs typeface="Calibri"/>
            </a:endParaRPr>
          </a:p>
          <a:p>
            <a:r>
              <a:rPr lang="en-US" sz="1600" dirty="0">
                <a:solidFill>
                  <a:srgbClr val="161616"/>
                </a:solidFill>
                <a:highlight>
                  <a:srgbClr val="FFFFFF"/>
                </a:highlight>
                <a:latin typeface="Calibri"/>
                <a:ea typeface="Calibri"/>
                <a:cs typeface="Calibri"/>
              </a:rPr>
              <a:t>You can specify a custom backup schedule using the system stored procedure </a:t>
            </a:r>
            <a:r>
              <a:rPr lang="en-US" sz="1600" dirty="0" err="1">
                <a:ea typeface="Calibri"/>
                <a:cs typeface="Calibri"/>
                <a:hlinkClick r:id="rId3">
                  <a:extLst>
                    <a:ext uri="{A12FA001-AC4F-418D-AE19-62706E023703}">
                      <ahyp:hlinkClr xmlns:ahyp="http://schemas.microsoft.com/office/drawing/2018/hyperlinkcolor" val="tx"/>
                    </a:ext>
                  </a:extLst>
                </a:hlinkClick>
              </a:rPr>
              <a:t>managed_backup.sp_backup_config_schedule</a:t>
            </a:r>
            <a:r>
              <a:rPr lang="en-US" sz="1600" dirty="0">
                <a:ea typeface="Calibri"/>
                <a:cs typeface="Calibri"/>
              </a:rPr>
              <a:t>. If yo</a:t>
            </a:r>
            <a:r>
              <a:rPr lang="en-US" sz="1600" dirty="0">
                <a:solidFill>
                  <a:srgbClr val="161616"/>
                </a:solidFill>
                <a:highlight>
                  <a:srgbClr val="FFFFFF"/>
                </a:highlight>
                <a:latin typeface="Calibri"/>
                <a:ea typeface="Calibri"/>
                <a:cs typeface="Calibri"/>
              </a:rPr>
              <a:t>u don't specify a custom schedule, the type of backups </a:t>
            </a:r>
            <a:r>
              <a:rPr lang="en-US" sz="1600" dirty="0" err="1">
                <a:solidFill>
                  <a:srgbClr val="161616"/>
                </a:solidFill>
                <a:highlight>
                  <a:srgbClr val="FFFFFF"/>
                </a:highlight>
                <a:latin typeface="Calibri"/>
                <a:ea typeface="Calibri"/>
                <a:cs typeface="Calibri"/>
              </a:rPr>
              <a:t>scheduled</a:t>
            </a:r>
            <a:r>
              <a:rPr lang="en-US" sz="1600" dirty="0">
                <a:solidFill>
                  <a:srgbClr val="161616"/>
                </a:solidFill>
                <a:highlight>
                  <a:srgbClr val="FFFFFF"/>
                </a:highlight>
                <a:latin typeface="Calibri"/>
                <a:ea typeface="Calibri"/>
                <a:cs typeface="Calibri"/>
              </a:rPr>
              <a:t> and the backup frequency is determined based on the workload of the database. </a:t>
            </a:r>
            <a:endParaRPr lang="en-US" sz="1600">
              <a:latin typeface="Calibri"/>
              <a:ea typeface="Calibri"/>
              <a:cs typeface="Calibri"/>
            </a:endParaRPr>
          </a:p>
          <a:p>
            <a:endParaRPr lang="en-US" sz="1600" dirty="0">
              <a:solidFill>
                <a:srgbClr val="161616"/>
              </a:solidFill>
              <a:highlight>
                <a:srgbClr val="FFFFFF"/>
              </a:highlight>
              <a:latin typeface="Calibri"/>
              <a:ea typeface="Calibri"/>
              <a:cs typeface="Calibri"/>
            </a:endParaRPr>
          </a:p>
          <a:p>
            <a:r>
              <a:rPr lang="en-US" sz="1600" b="1"/>
              <a:t>Backup file naming conventions</a:t>
            </a:r>
            <a:endParaRPr lang="en-US" sz="1600">
              <a:ea typeface="Calibri"/>
              <a:cs typeface="Calibri"/>
            </a:endParaRPr>
          </a:p>
          <a:p>
            <a:r>
              <a:rPr lang="en-US" sz="1600">
                <a:solidFill>
                  <a:srgbClr val="161616"/>
                </a:solidFill>
                <a:highlight>
                  <a:srgbClr val="FFFFFF"/>
                </a:highlight>
                <a:latin typeface="Calibri"/>
                <a:ea typeface="Calibri"/>
                <a:cs typeface="Calibri"/>
              </a:rPr>
              <a:t>SQL Server managed backup to Microsoft Azure uses the container that you specify, so you have control over the name of the container.</a:t>
            </a:r>
            <a:endParaRPr lang="en-US" sz="1600">
              <a:latin typeface="Calibri"/>
              <a:ea typeface="Calibri"/>
              <a:cs typeface="Calibri"/>
            </a:endParaRPr>
          </a:p>
          <a:p>
            <a:endParaRPr lang="en-US" sz="1600" dirty="0">
              <a:solidFill>
                <a:srgbClr val="161616"/>
              </a:solidFill>
              <a:highlight>
                <a:srgbClr val="FFFFFF"/>
              </a:highlight>
              <a:latin typeface="Calibri"/>
              <a:ea typeface="Calibri"/>
              <a:cs typeface="Calibri"/>
            </a:endParaRPr>
          </a:p>
          <a:p>
            <a:r>
              <a:rPr lang="en-US" sz="1600" b="1"/>
              <a:t>Full</a:t>
            </a:r>
            <a:r>
              <a:rPr lang="en-US" sz="1600" b="1" dirty="0"/>
              <a:t> database backup</a:t>
            </a:r>
            <a:endParaRPr lang="en-US" sz="1600">
              <a:ea typeface="Calibri"/>
              <a:cs typeface="Calibri"/>
            </a:endParaRPr>
          </a:p>
          <a:p>
            <a:r>
              <a:rPr lang="en-US" sz="1600">
                <a:solidFill>
                  <a:srgbClr val="161616"/>
                </a:solidFill>
                <a:highlight>
                  <a:srgbClr val="FFFFFF"/>
                </a:highlight>
                <a:latin typeface="Calibri"/>
                <a:ea typeface="Calibri"/>
                <a:cs typeface="Calibri"/>
              </a:rPr>
              <a:t>SQL Server managed backup to Microsoft Azure agent schedules a full database backup if any of the following conditions is true.</a:t>
            </a:r>
            <a:endParaRPr lang="en-US" sz="1600">
              <a:latin typeface="Calibri"/>
              <a:ea typeface="Calibri"/>
              <a:cs typeface="Calibri"/>
            </a:endParaRPr>
          </a:p>
          <a:p>
            <a:r>
              <a:rPr lang="en-US" sz="1600">
                <a:solidFill>
                  <a:srgbClr val="161616"/>
                </a:solidFill>
                <a:highlight>
                  <a:srgbClr val="FFFFFF"/>
                </a:highlight>
                <a:latin typeface="Calibri"/>
                <a:ea typeface="Calibri"/>
                <a:cs typeface="Calibri"/>
              </a:rPr>
              <a:t>A database is SQL Server managed backup to Microsoft Azure enabled for the first time, or when SQL Server managed backup to Microsoft Azure is enabled with default settings at the instance level.</a:t>
            </a:r>
            <a:endParaRPr lang="en-US" sz="1600">
              <a:latin typeface="Calibri"/>
              <a:ea typeface="Calibri"/>
              <a:cs typeface="Calibri"/>
            </a:endParaRPr>
          </a:p>
          <a:p>
            <a:r>
              <a:rPr lang="en-US" sz="1600">
                <a:solidFill>
                  <a:srgbClr val="161616"/>
                </a:solidFill>
                <a:highlight>
                  <a:srgbClr val="FFFFFF"/>
                </a:highlight>
                <a:latin typeface="Calibri"/>
                <a:ea typeface="Calibri"/>
                <a:cs typeface="Calibri"/>
              </a:rPr>
              <a:t>The log growth since last full database backup is equal to or larger than 1 GB.</a:t>
            </a:r>
            <a:endParaRPr lang="en-US" sz="1600">
              <a:latin typeface="Calibri"/>
              <a:ea typeface="Calibri"/>
              <a:cs typeface="Calibri"/>
            </a:endParaRPr>
          </a:p>
          <a:p>
            <a:r>
              <a:rPr lang="en-US" sz="1600">
                <a:solidFill>
                  <a:srgbClr val="161616"/>
                </a:solidFill>
                <a:highlight>
                  <a:srgbClr val="FFFFFF"/>
                </a:highlight>
                <a:latin typeface="Calibri"/>
                <a:ea typeface="Calibri"/>
                <a:cs typeface="Calibri"/>
              </a:rPr>
              <a:t>The maximum time interval of one week has passed since the last full database backup.</a:t>
            </a:r>
            <a:endParaRPr lang="en-US" sz="1600">
              <a:latin typeface="Calibri"/>
              <a:ea typeface="Calibri"/>
              <a:cs typeface="Calibri"/>
            </a:endParaRPr>
          </a:p>
          <a:p>
            <a:r>
              <a:rPr lang="en-US" sz="1600">
                <a:solidFill>
                  <a:srgbClr val="161616"/>
                </a:solidFill>
                <a:highlight>
                  <a:srgbClr val="FFFFFF"/>
                </a:highlight>
                <a:latin typeface="Calibri"/>
                <a:ea typeface="Calibri"/>
                <a:cs typeface="Calibri"/>
              </a:rPr>
              <a:t>The log chain is broken. SQL Server managed backup to Microsoft Azure periodically checks to see whether the log chain is intact by comparing the first and last LSNs of the backup files</a:t>
            </a:r>
            <a:r>
              <a:rPr lang="en-US" sz="1200">
                <a:solidFill>
                  <a:srgbClr val="161616"/>
                </a:solidFill>
                <a:highlight>
                  <a:srgbClr val="FFFFFF"/>
                </a:highlight>
                <a:latin typeface="Segoe UI"/>
                <a:cs typeface="Segoe UI"/>
              </a:rPr>
              <a:t>. </a:t>
            </a:r>
            <a:endParaRPr lang="en-US"/>
          </a:p>
          <a:p>
            <a:endParaRPr lang="en-US" sz="1200" dirty="0">
              <a:solidFill>
                <a:srgbClr val="161616"/>
              </a:solidFill>
              <a:highlight>
                <a:srgbClr val="FFFFFF"/>
              </a:highlight>
              <a:latin typeface="Segoe UI"/>
              <a:cs typeface="Segoe UI"/>
            </a:endParaRPr>
          </a:p>
        </p:txBody>
      </p:sp>
    </p:spTree>
    <p:extLst>
      <p:ext uri="{BB962C8B-B14F-4D97-AF65-F5344CB8AC3E}">
        <p14:creationId xmlns:p14="http://schemas.microsoft.com/office/powerpoint/2010/main" val="2247041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a:ea typeface="Calibri"/>
                <a:cs typeface="Calibri"/>
              </a:rPr>
              <a:t>SQL Server Business Continuity </a:t>
            </a:r>
            <a:endParaRPr lang="en-US"/>
          </a:p>
          <a:p>
            <a:pPr marL="0" indent="0">
              <a:buNone/>
            </a:pPr>
            <a:endParaRPr lang="en-US">
              <a:ea typeface="Calibri"/>
              <a:cs typeface="Calibri"/>
            </a:endParaRPr>
          </a:p>
          <a:p>
            <a:r>
              <a:rPr lang="en-US">
                <a:ea typeface="Calibri"/>
                <a:cs typeface="Calibri"/>
              </a:rPr>
              <a:t>SQL Server Availability Groups</a:t>
            </a:r>
          </a:p>
          <a:p>
            <a:endParaRPr lang="en-US" dirty="0">
              <a:ea typeface="Calibri"/>
              <a:cs typeface="Calibri"/>
            </a:endParaRPr>
          </a:p>
          <a:p>
            <a:r>
              <a:rPr lang="en-US">
                <a:ea typeface="Calibri"/>
                <a:cs typeface="Calibri"/>
              </a:rPr>
              <a:t>SQL Server Log Shipping &amp; Mirroring</a:t>
            </a:r>
          </a:p>
          <a:p>
            <a:pPr marL="0" indent="0">
              <a:buNone/>
            </a:pPr>
            <a:endParaRPr lang="en-US" dirty="0">
              <a:ea typeface="Calibri"/>
              <a:cs typeface="Calibri"/>
            </a:endParaRPr>
          </a:p>
          <a:p>
            <a:r>
              <a:rPr lang="en-US" dirty="0">
                <a:ea typeface="Calibri"/>
                <a:cs typeface="Calibri"/>
              </a:rPr>
              <a:t> Azure SQL , Managed Instance, Azure SQL VM compar</a:t>
            </a:r>
            <a:r>
              <a:rPr lang="en-US">
                <a:ea typeface="Calibri"/>
                <a:cs typeface="Calibri"/>
              </a:rPr>
              <a:t>ison</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BD5E3-0DBB-CADA-614E-FE2F01E78952}"/>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latin typeface="+mj-lt"/>
                <a:ea typeface="+mj-ea"/>
                <a:cs typeface="+mj-cs"/>
              </a:rPr>
              <a:t>SQL Database</a:t>
            </a:r>
            <a:r>
              <a:rPr lang="en-US" sz="6600"/>
              <a:t> HA </a:t>
            </a:r>
            <a:endParaRPr lang="en-US" sz="6600" kern="1200">
              <a:latin typeface="+mj-lt"/>
              <a:ea typeface="+mj-ea"/>
              <a:cs typeface="+mj-cs"/>
            </a:endParaRPr>
          </a:p>
        </p:txBody>
      </p:sp>
      <p:sp>
        <p:nvSpPr>
          <p:cNvPr id="19"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database&#10;&#10;AI-generated content may be incorrect.">
            <a:extLst>
              <a:ext uri="{FF2B5EF4-FFF2-40B4-BE49-F238E27FC236}">
                <a16:creationId xmlns:a16="http://schemas.microsoft.com/office/drawing/2014/main" id="{DE8C33C3-9CA4-11F2-0F93-A3AFD5E7442B}"/>
              </a:ext>
            </a:extLst>
          </p:cNvPr>
          <p:cNvPicPr>
            <a:picLocks noGrp="1" noChangeAspect="1"/>
          </p:cNvPicPr>
          <p:nvPr>
            <p:ph idx="1"/>
          </p:nvPr>
        </p:nvPicPr>
        <p:blipFill>
          <a:blip r:embed="rId2"/>
          <a:stretch>
            <a:fillRect/>
          </a:stretch>
        </p:blipFill>
        <p:spPr>
          <a:xfrm>
            <a:off x="176266" y="2495032"/>
            <a:ext cx="6718080" cy="1447837"/>
          </a:xfrm>
          <a:prstGeom prst="rect">
            <a:avLst/>
          </a:prstGeom>
        </p:spPr>
      </p:pic>
      <p:sp>
        <p:nvSpPr>
          <p:cNvPr id="9" name="TextBox 8">
            <a:extLst>
              <a:ext uri="{FF2B5EF4-FFF2-40B4-BE49-F238E27FC236}">
                <a16:creationId xmlns:a16="http://schemas.microsoft.com/office/drawing/2014/main" id="{81084EE8-8FB6-B7FF-F1EF-3E997F515E65}"/>
              </a:ext>
            </a:extLst>
          </p:cNvPr>
          <p:cNvSpPr txBox="1"/>
          <p:nvPr/>
        </p:nvSpPr>
        <p:spPr>
          <a:xfrm>
            <a:off x="7315200" y="2179319"/>
            <a:ext cx="437388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a:ea typeface="Calibri" panose="020F0502020204030204"/>
                <a:cs typeface="Calibri" panose="020F0502020204030204"/>
              </a:rPr>
              <a:t>Failed over Servers HA </a:t>
            </a:r>
          </a:p>
          <a:p>
            <a:pPr marL="342900" indent="-342900">
              <a:buAutoNum type="arabicPeriod"/>
            </a:pPr>
            <a:endParaRPr lang="en-US">
              <a:ea typeface="Calibri" panose="020F0502020204030204"/>
              <a:cs typeface="Calibri" panose="020F0502020204030204"/>
            </a:endParaRPr>
          </a:p>
          <a:p>
            <a:pPr marL="342900" indent="-342900">
              <a:buAutoNum type="arabicPeriod"/>
            </a:pPr>
            <a:r>
              <a:rPr lang="en-US">
                <a:ea typeface="Calibri" panose="020F0502020204030204"/>
                <a:cs typeface="Calibri" panose="020F0502020204030204"/>
              </a:rPr>
              <a:t>Failed over Servers over Disaster Recovery</a:t>
            </a:r>
          </a:p>
          <a:p>
            <a:pPr marL="342900" indent="-342900">
              <a:buAutoNum type="arabicPeriod"/>
            </a:pPr>
            <a:endParaRPr lang="en-US">
              <a:ea typeface="Calibri" panose="020F0502020204030204"/>
              <a:cs typeface="Calibri" panose="020F0502020204030204"/>
            </a:endParaRPr>
          </a:p>
          <a:p>
            <a:pPr marL="342900" indent="-342900">
              <a:buAutoNum type="arabicPeriod"/>
            </a:pPr>
            <a:r>
              <a:rPr lang="en-US">
                <a:ea typeface="Calibri" panose="020F0502020204030204"/>
                <a:cs typeface="Calibri" panose="020F0502020204030204"/>
              </a:rPr>
              <a:t>Failed over Servers for DR in Azure</a:t>
            </a:r>
          </a:p>
        </p:txBody>
      </p:sp>
    </p:spTree>
    <p:extLst>
      <p:ext uri="{BB962C8B-B14F-4D97-AF65-F5344CB8AC3E}">
        <p14:creationId xmlns:p14="http://schemas.microsoft.com/office/powerpoint/2010/main" val="2833596512"/>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232</TotalTime>
  <Words>2083</Words>
  <Application>Microsoft Office PowerPoint</Application>
  <PresentationFormat>Widescreen</PresentationFormat>
  <Paragraphs>161</Paragraphs>
  <Slides>18</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Consolas</vt:lpstr>
      <vt:lpstr>Segoe UI</vt:lpstr>
      <vt:lpstr>Wingdings</vt:lpstr>
      <vt:lpstr>Office 2013 - 2022 Theme</vt:lpstr>
      <vt:lpstr>SQL Server Administration &amp; Azure Data Engineering</vt:lpstr>
      <vt:lpstr>Agenda</vt:lpstr>
      <vt:lpstr>SQL Server Deployment Best Practice</vt:lpstr>
      <vt:lpstr>SQL Server High Availability &amp; Security</vt:lpstr>
      <vt:lpstr>SQL Server HA – Deployment &amp; Automation</vt:lpstr>
      <vt:lpstr>SQL Server Log Shipping</vt:lpstr>
      <vt:lpstr>SQL Server Mirroring</vt:lpstr>
      <vt:lpstr>SQL Server Mirroring Components </vt:lpstr>
      <vt:lpstr>SQL Server Mirroring Features</vt:lpstr>
      <vt:lpstr>SQL Server Mirroring Features</vt:lpstr>
      <vt:lpstr>SQL Server Mirroring</vt:lpstr>
      <vt:lpstr>SQL Server Mirroring Setup</vt:lpstr>
      <vt:lpstr>SQL Server Log Shipping &amp; Replication</vt:lpstr>
      <vt:lpstr>Azure SQL Server, Azure SQL Managed Instance &amp; Azure SQL VM </vt:lpstr>
      <vt:lpstr>Azure SQL Database Backup</vt:lpstr>
      <vt:lpstr>Azure SQL Backup Strategy </vt:lpstr>
      <vt:lpstr>Wrap Up</vt:lpstr>
      <vt:lpstr>SQL Database HA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549</cp:revision>
  <dcterms:created xsi:type="dcterms:W3CDTF">2026-04-11T17:33:10Z</dcterms:created>
  <dcterms:modified xsi:type="dcterms:W3CDTF">2026-04-18T16:33:55Z</dcterms:modified>
</cp:coreProperties>
</file>