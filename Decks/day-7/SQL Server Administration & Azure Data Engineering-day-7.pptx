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83" r:id="rId2"/>
    <p:sldId id="257" r:id="rId3"/>
    <p:sldId id="258" r:id="rId4"/>
    <p:sldId id="260" r:id="rId5"/>
    <p:sldId id="261" r:id="rId6"/>
    <p:sldId id="262" r:id="rId7"/>
    <p:sldId id="264" r:id="rId8"/>
    <p:sldId id="265" r:id="rId9"/>
    <p:sldId id="266" r:id="rId10"/>
    <p:sldId id="267" r:id="rId11"/>
    <p:sldId id="269" r:id="rId12"/>
    <p:sldId id="284" r:id="rId13"/>
    <p:sldId id="28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B40EAC-CC0A-5485-BCEE-37BDB29D673B}" v="625" dt="2026-04-12T15:19:31.891"/>
    <p1510:client id="{126C75FD-9A41-3249-608E-772329B48536}" v="830" dt="2026-04-14T10:02:26.744"/>
    <p1510:client id="{22D66706-7690-ACC8-E32C-921547D31D47}" v="2" dt="2026-04-13T12:37:38.606"/>
    <p1510:client id="{44FD2894-0480-9C1E-A647-D0E7979760DA}" v="446" dt="2026-04-13T16:01:21.507"/>
    <p1510:client id="{8E12EF59-2A41-92D6-385B-F56135F5B8D7}" v="210" dt="2026-04-12T17:52:18.371"/>
    <p1510:client id="{9927AD77-2696-5238-F9B1-88B863DA5C57}" v="278" dt="2026-04-14T09:47:33.089"/>
    <p1510:client id="{E5DF0B76-E98F-2D85-D1E5-931E795B41E8}" v="1505" dt="2026-04-12T17:04:41.141"/>
    <p1510:client id="{E896230E-595A-DF97-A919-F4C2974567C3}" v="185" dt="2026-04-13T15:16:48.3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1236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128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052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384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133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0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26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45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2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265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429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001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642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troubleshoot/sql/database-engine/performance/troubleshoot-entire-sqlserver-slow" TargetMode="External"/><Relationship Id="rId2" Type="http://schemas.openxmlformats.org/officeDocument/2006/relationships/hyperlink" Target="https://learn.microsoft.com/en-us/troubleshoot/sql/database-engine/performance/troubleshoot-high-cpu-usage-issues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answers/questions/1350787/how-to-identify-slow-running-queries-in-sql-server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sql/relational-databases/performance/tune-performance-with-the-query-store?view=sql-server-ver17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quest.com/products/foglight-for-sql-server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sql/database/query-performance-insight-use?view=azuresql" TargetMode="External"/><Relationship Id="rId2" Type="http://schemas.openxmlformats.org/officeDocument/2006/relationships/hyperlink" Target="https://learn.microsoft.com/en-us/azure/azure-sql/database-watcher-overview?view=azuresq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hyperlink" Target="https://learn.microsoft.com/en-us/sql/relational-databases/performance/monitoring-performance-by-using-the-query-store?view=sql-server-ver17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sql/database/monitor-tune-overview?view=azuresql" TargetMode="External"/><Relationship Id="rId2" Type="http://schemas.openxmlformats.org/officeDocument/2006/relationships/hyperlink" Target="https://learn.microsoft.com/en-us/azure/azure-sql/database/database-advisor-implement-performance-recommendations?view=azuresq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F670B7-BE47-7E35-0D27-0BAB2C561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8219B7A-2A46-EAB6-DB28-580FA3519F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2BC140-2EEB-8EEA-E87E-6A111266ED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666" b="-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Graphic 1">
            <a:extLst>
              <a:ext uri="{FF2B5EF4-FFF2-40B4-BE49-F238E27FC236}">
                <a16:creationId xmlns:a16="http://schemas.microsoft.com/office/drawing/2014/main" id="{83B80ED1-C27B-6D48-B5D8-A825BB88C9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2655438" y="838201"/>
            <a:ext cx="7098161" cy="4549051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F9ED15-CDB1-785A-7695-72DF534724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5473" y="1924619"/>
            <a:ext cx="5541054" cy="1655378"/>
          </a:xfrm>
        </p:spPr>
        <p:txBody>
          <a:bodyPr>
            <a:normAutofit/>
          </a:bodyPr>
          <a:lstStyle/>
          <a:p>
            <a:r>
              <a:rPr lang="en-US" sz="3700"/>
              <a:t>SQL Server Administration &amp; Azure Data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7AC54-0FE9-0C64-0851-2225707E0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3668285"/>
            <a:ext cx="4431162" cy="13379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Day 7</a:t>
            </a:r>
          </a:p>
        </p:txBody>
      </p:sp>
    </p:spTree>
    <p:extLst>
      <p:ext uri="{BB962C8B-B14F-4D97-AF65-F5344CB8AC3E}">
        <p14:creationId xmlns:p14="http://schemas.microsoft.com/office/powerpoint/2010/main" val="2006319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2BB31E-A9BD-D8C3-F865-874E07BC1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US" sz="5400"/>
              <a:t>Agenda</a:t>
            </a:r>
          </a:p>
        </p:txBody>
      </p:sp>
      <p:pic>
        <p:nvPicPr>
          <p:cNvPr id="22" name="Picture 21" descr="Computer script on a screen">
            <a:extLst>
              <a:ext uri="{FF2B5EF4-FFF2-40B4-BE49-F238E27FC236}">
                <a16:creationId xmlns:a16="http://schemas.microsoft.com/office/drawing/2014/main" id="{E3E24C0B-1BDE-A4F0-4482-865C265ACB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48" r="47221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8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8882D-3313-EA10-DF38-9C2AAE0C7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49756"/>
            <a:ext cx="6251110" cy="344073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dirty="0"/>
              <a:t>SQL Server Performance Monitoring</a:t>
            </a:r>
          </a:p>
          <a:p>
            <a:r>
              <a:rPr lang="en-US" sz="2200" dirty="0"/>
              <a:t>SQL Server Dynamic Management Views</a:t>
            </a:r>
            <a:endParaRPr lang="en-US" dirty="0"/>
          </a:p>
          <a:p>
            <a:r>
              <a:rPr lang="en-US" sz="2200" dirty="0"/>
              <a:t>SQL Server Database tuning Advisor</a:t>
            </a:r>
            <a:endParaRPr lang="en-US" dirty="0"/>
          </a:p>
          <a:p>
            <a:r>
              <a:rPr lang="en-US" sz="2200" dirty="0"/>
              <a:t>SQL Server Performance Tuning Tools</a:t>
            </a:r>
          </a:p>
          <a:p>
            <a:r>
              <a:rPr lang="en-US" sz="2200" dirty="0"/>
              <a:t>Azure SQL Performance Monitoring</a:t>
            </a:r>
          </a:p>
        </p:txBody>
      </p:sp>
    </p:spTree>
    <p:extLst>
      <p:ext uri="{BB962C8B-B14F-4D97-AF65-F5344CB8AC3E}">
        <p14:creationId xmlns:p14="http://schemas.microsoft.com/office/powerpoint/2010/main" val="1979873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01CD0A-13AF-6BEA-32F0-04CE9D993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SQL Server Performance Monitoring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A21EC-EC3E-D0FA-CDB9-B872137B1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8478" y="1942935"/>
            <a:ext cx="10202591" cy="4355200"/>
          </a:xfrm>
        </p:spPr>
        <p:txBody>
          <a:bodyPr anchor="ctr">
            <a:normAutofit/>
          </a:bodyPr>
          <a:lstStyle/>
          <a:p>
            <a:r>
              <a:rPr lang="en-US" sz="1700" dirty="0"/>
              <a:t>Monitoring SQL Server performance involves a combination of observing high-level system resources (CPU, memory, disk) and deep-diving into internal database events and query efficiency.</a:t>
            </a:r>
          </a:p>
          <a:p>
            <a:r>
              <a:rPr lang="en-US" sz="1700" dirty="0"/>
              <a:t> Effective monitoring helps establish performance baselines, identify bottlenecks early, and ensure high availability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83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4D5AD4-9F36-F7A2-D973-EF701D964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SQL Server Performance Monitoring Metrics</a:t>
            </a:r>
            <a:endParaRPr lang="en-US" sz="3600" dirty="0">
              <a:solidFill>
                <a:schemeClr val="tx1">
                  <a:lumMod val="85000"/>
                  <a:lumOff val="15000"/>
                </a:schemeClr>
              </a:solidFill>
              <a:ea typeface="Calibri Light"/>
              <a:cs typeface="Calibri Light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00775A7-30DF-6C72-DA61-EE240066B9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4453" y="1485454"/>
            <a:ext cx="6462214" cy="48239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103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75836F-94AA-AAEE-3F5E-FA2C41847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SQL Server Poor Performance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151C14-8131-CD79-D1B9-1D0B6ACD2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 Initial Triage &amp; Infrastructure Checks- </a:t>
            </a:r>
          </a:p>
          <a:p>
            <a:r>
              <a:rPr lang="en-US" sz="1600" b="1" dirty="0"/>
              <a:t>Identify the Scope</a:t>
            </a:r>
            <a:r>
              <a:rPr lang="en-US" sz="1600" dirty="0"/>
              <a:t>: Determine if slowness affects a single query, a specific application, or the entire server.</a:t>
            </a:r>
          </a:p>
          <a:p>
            <a:r>
              <a:rPr lang="en-US" sz="1600" b="1" dirty="0"/>
              <a:t>Check the OS &amp; Resource Usage</a:t>
            </a:r>
            <a:r>
              <a:rPr lang="en-US" sz="1600" dirty="0"/>
              <a:t>: Use </a:t>
            </a:r>
            <a:r>
              <a:rPr lang="en-US" sz="1600" dirty="0">
                <a:hlinkClick r:id="rId2"/>
              </a:rPr>
              <a:t>Windows Task Manager</a:t>
            </a:r>
            <a:r>
              <a:rPr lang="en-US" sz="1600" dirty="0"/>
              <a:t> or </a:t>
            </a:r>
            <a:r>
              <a:rPr lang="en-US" sz="1600" dirty="0">
                <a:hlinkClick r:id="rId3"/>
              </a:rPr>
              <a:t>Performance Monitor (</a:t>
            </a:r>
            <a:r>
              <a:rPr lang="en-US" sz="1600" dirty="0" err="1">
                <a:hlinkClick r:id="rId3"/>
              </a:rPr>
              <a:t>Perfmon</a:t>
            </a:r>
            <a:r>
              <a:rPr lang="en-US" sz="1600" dirty="0">
                <a:hlinkClick r:id="rId3"/>
              </a:rPr>
              <a:t>)</a:t>
            </a:r>
            <a:r>
              <a:rPr lang="en-US" sz="1600" dirty="0"/>
              <a:t> to check for CPU, memory, and disk I/O saturation.</a:t>
            </a:r>
          </a:p>
          <a:p>
            <a:r>
              <a:rPr lang="en-US" sz="1600" b="1" dirty="0"/>
              <a:t>Power Plan</a:t>
            </a:r>
            <a:r>
              <a:rPr lang="en-US" sz="1600" dirty="0"/>
              <a:t>: Ensure the Windows power plan is set to </a:t>
            </a:r>
            <a:r>
              <a:rPr lang="en-US" sz="1600" b="1" dirty="0"/>
              <a:t>"High Performance"</a:t>
            </a:r>
            <a:r>
              <a:rPr lang="en-US" sz="1600" dirty="0"/>
              <a:t>; the default "Balanced" plan can throttle CPU speed.</a:t>
            </a:r>
          </a:p>
          <a:p>
            <a:r>
              <a:rPr lang="en-US" sz="1600" b="1" dirty="0"/>
              <a:t>Avoid Restarting</a:t>
            </a:r>
            <a:r>
              <a:rPr lang="en-US" sz="1600" dirty="0"/>
              <a:t>: Restarting clears the plan cache and diagnostic data, making it impossible to perform root-cause analysis on the current incident. </a:t>
            </a:r>
          </a:p>
          <a:p>
            <a:r>
              <a:rPr lang="en-US" b="1" dirty="0"/>
              <a:t>Identify Wait Types and Bottlenecks</a:t>
            </a:r>
          </a:p>
          <a:p>
            <a:r>
              <a:rPr lang="en-US" sz="1600" dirty="0"/>
              <a:t>SQL Server uses "Wait Stats" to tell you exactly what it is waiting for. Query </a:t>
            </a:r>
            <a:r>
              <a:rPr lang="en-US" sz="1600" dirty="0" err="1"/>
              <a:t>sys.dm_os_wait_stats</a:t>
            </a:r>
            <a:r>
              <a:rPr lang="en-US" sz="1600" dirty="0"/>
              <a:t> to find dominant wait types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7016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117AB3D3-3C9C-4DED-809A-78734805B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9595C4-11D6-B1AA-E07E-B83B85A1C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dirty="0">
                <a:ea typeface="Calibri Light"/>
                <a:cs typeface="Calibri Light"/>
              </a:rPr>
              <a:t>SQL Server Poor Performance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0" name="Content Placeholder 1029">
            <a:extLst>
              <a:ext uri="{FF2B5EF4-FFF2-40B4-BE49-F238E27FC236}">
                <a16:creationId xmlns:a16="http://schemas.microsoft.com/office/drawing/2014/main" id="{EB12F5DE-84BF-A3BA-AC20-78988ABF9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196943"/>
            <a:ext cx="10587098" cy="404201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US" sz="2300" dirty="0">
              <a:highlight>
                <a:srgbClr val="FFFFFF"/>
              </a:highlight>
            </a:endParaRPr>
          </a:p>
          <a:p>
            <a:r>
              <a:rPr 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</a:rPr>
              <a:t>Tune Slow Queries</a:t>
            </a:r>
          </a:p>
          <a:p>
            <a:r>
              <a:rPr lang="en-US" sz="1700" b="1" dirty="0"/>
              <a:t>Analyze Execution Plans</a:t>
            </a:r>
            <a:r>
              <a:rPr lang="en-US" sz="1700" dirty="0"/>
              <a:t>: Use </a:t>
            </a:r>
            <a:r>
              <a:rPr lang="en-US" sz="1700" dirty="0">
                <a:hlinkClick r:id="rId2"/>
              </a:rPr>
              <a:t>SQL Server Management Studio (SSMS)</a:t>
            </a:r>
            <a:r>
              <a:rPr lang="en-US" sz="1700" dirty="0"/>
              <a:t> to generate "Actual Execution Plans." Look for "Index Scan" (slow) vs "Index Seek" (fast) and warning icons.</a:t>
            </a:r>
          </a:p>
          <a:p>
            <a:r>
              <a:rPr lang="en-US" sz="1700" b="1" dirty="0"/>
              <a:t>Update Statistics</a:t>
            </a:r>
            <a:r>
              <a:rPr lang="en-US" sz="1700" dirty="0"/>
              <a:t>: Outdated statistics lead the query optimizer to choose inefficient plans. Use UPDATE STATISTICS [</a:t>
            </a:r>
            <a:r>
              <a:rPr lang="en-US" sz="1700" dirty="0" err="1"/>
              <a:t>TableName</a:t>
            </a:r>
            <a:r>
              <a:rPr lang="en-US" sz="1700" dirty="0"/>
              <a:t>] or </a:t>
            </a:r>
            <a:r>
              <a:rPr lang="en-US" sz="1700" dirty="0" err="1"/>
              <a:t>sp_updatestats</a:t>
            </a:r>
            <a:r>
              <a:rPr lang="en-US" sz="1700" dirty="0"/>
              <a:t>.</a:t>
            </a:r>
          </a:p>
          <a:p>
            <a:r>
              <a:rPr lang="en-US" sz="1700" b="1" dirty="0"/>
              <a:t>Missing Indexes</a:t>
            </a:r>
            <a:r>
              <a:rPr lang="en-US" sz="1700" dirty="0"/>
              <a:t>: Check SSMS execution plans for green text suggesting missing indexes, or query </a:t>
            </a:r>
            <a:r>
              <a:rPr lang="en-US" sz="1700" dirty="0" err="1"/>
              <a:t>sys.dm_db_missing_index_details</a:t>
            </a:r>
            <a:r>
              <a:rPr lang="en-US" sz="1700" dirty="0"/>
              <a:t>.</a:t>
            </a:r>
          </a:p>
          <a:p>
            <a:r>
              <a:rPr lang="en-US" sz="1700" b="1" dirty="0" err="1"/>
              <a:t>SARGability</a:t>
            </a:r>
            <a:r>
              <a:rPr lang="en-US" sz="1700" dirty="0"/>
              <a:t>: Avoid using functions on columns in WHERE clauses (e.g., WHERE YEAR(</a:t>
            </a:r>
            <a:r>
              <a:rPr lang="en-US" sz="1700" dirty="0" err="1"/>
              <a:t>DateCol</a:t>
            </a:r>
            <a:r>
              <a:rPr lang="en-US" sz="1700" dirty="0"/>
              <a:t>) = 2024), as this prevents the use of indexes</a:t>
            </a:r>
          </a:p>
          <a:p>
            <a:pPr marL="0" indent="0">
              <a:buNone/>
            </a:pPr>
            <a:endParaRPr lang="en-US" sz="2400" b="1" dirty="0">
              <a:solidFill>
                <a:schemeClr val="tx1">
                  <a:lumMod val="85000"/>
                  <a:lumOff val="1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585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E0A08-4B1A-B8B0-4A32-998EA0564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Server Dynamic Management View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EABCE-4314-EE41-14B7-A041134C7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484" y="1523701"/>
            <a:ext cx="11076316" cy="46532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700" dirty="0"/>
              <a:t>Dynamic Management Views (DMVs) are system views in SQL Server that provide real-time insights into the health, performance, and internal operations of the database engine. </a:t>
            </a:r>
          </a:p>
          <a:p>
            <a:r>
              <a:rPr lang="en-US" sz="1700" dirty="0"/>
              <a:t>Introduced in SQL Server 2005, they are essential for database administrators (DBAs) to monitor activity, diagnose bottlenecks like high CPU or blocking, and optimize query performance. </a:t>
            </a:r>
          </a:p>
          <a:p>
            <a:endParaRPr lang="en-US" sz="1700" dirty="0"/>
          </a:p>
          <a:p>
            <a:r>
              <a:rPr lang="en-US" sz="1700" b="1" dirty="0"/>
              <a:t>Execution Related:</a:t>
            </a:r>
            <a:r>
              <a:rPr lang="en-US" sz="1700" dirty="0"/>
              <a:t> Monitor active queries and cached plans.</a:t>
            </a:r>
          </a:p>
          <a:p>
            <a:pPr lvl="1"/>
            <a:r>
              <a:rPr lang="en-US" sz="1700" dirty="0" err="1"/>
              <a:t>sys.dm_exec_requests</a:t>
            </a:r>
            <a:r>
              <a:rPr lang="en-US" sz="1700" dirty="0"/>
              <a:t>: Shows currently active requests, including their wait status and blocking information.</a:t>
            </a:r>
          </a:p>
          <a:p>
            <a:pPr lvl="1"/>
            <a:r>
              <a:rPr lang="en-US" sz="1700" dirty="0" err="1"/>
              <a:t>sys.dm_exec_sessions</a:t>
            </a:r>
            <a:r>
              <a:rPr lang="en-US" sz="1700" dirty="0"/>
              <a:t>: Provides details on all authenticated sessions.</a:t>
            </a:r>
          </a:p>
          <a:p>
            <a:pPr lvl="1"/>
            <a:r>
              <a:rPr lang="en-US" sz="1700" dirty="0" err="1"/>
              <a:t>sys.dm_exec_query_stats</a:t>
            </a:r>
            <a:r>
              <a:rPr lang="en-US" sz="1700" dirty="0"/>
              <a:t>: Aggregates performance statistics (CPU, duration, reads) for cached query plans.</a:t>
            </a:r>
          </a:p>
          <a:p>
            <a:r>
              <a:rPr lang="en-US" sz="1700" b="1" dirty="0"/>
              <a:t>Index Related:</a:t>
            </a:r>
            <a:r>
              <a:rPr lang="en-US" sz="1700" dirty="0"/>
              <a:t> Identify usage patterns and missing optimization opportunities.</a:t>
            </a:r>
          </a:p>
          <a:p>
            <a:pPr lvl="1"/>
            <a:r>
              <a:rPr lang="en-US" sz="1700" dirty="0" err="1"/>
              <a:t>sys.dm_db_index_usage_stats</a:t>
            </a:r>
            <a:r>
              <a:rPr lang="en-US" sz="1700" dirty="0"/>
              <a:t>: Tracks how many times each index has been used for seeks, scans, or updates.</a:t>
            </a:r>
          </a:p>
          <a:p>
            <a:pPr lvl="1"/>
            <a:r>
              <a:rPr lang="en-US" sz="1700" dirty="0" err="1"/>
              <a:t>sys.dm_db_missing_index_details</a:t>
            </a:r>
            <a:r>
              <a:rPr lang="en-US" sz="1700" dirty="0"/>
              <a:t>: Suggests new indexes that could improve performance for specific queries.</a:t>
            </a:r>
          </a:p>
          <a:p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457166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52EE7-505B-D75C-41C9-2170C90E3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SQL Server Database Tuning Advisor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6DC33-4756-BA4F-EDCD-D4E8AD68C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2456"/>
            <a:ext cx="10515600" cy="4624507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b="1" dirty="0"/>
          </a:p>
          <a:p>
            <a:endParaRPr lang="en-US" sz="1600" dirty="0">
              <a:cs typeface="Calibri"/>
            </a:endParaRPr>
          </a:p>
          <a:p>
            <a:r>
              <a:rPr lang="en-US" sz="1700" dirty="0"/>
              <a:t>The SQL Server Database Engine Tuning Advisor (DTA) is an automated tool that analyzes the performance of a database workload and provides recommendations for improving query execution speed. It suggests physical design structures like indexes, indexed views, and partitioning strategies. </a:t>
            </a:r>
          </a:p>
          <a:p>
            <a:endParaRPr lang="en-US" sz="1700" dirty="0"/>
          </a:p>
          <a:p>
            <a:r>
              <a:rPr lang="en-US" sz="1700" b="1" dirty="0"/>
              <a:t>Performance Analysis</a:t>
            </a:r>
            <a:r>
              <a:rPr lang="en-US" sz="1700" dirty="0"/>
              <a:t>: Evaluates how queries are processed and identifies bottlenecks.</a:t>
            </a:r>
          </a:p>
          <a:p>
            <a:r>
              <a:rPr lang="en-US" sz="1700" b="1" dirty="0"/>
              <a:t>Recommendations</a:t>
            </a:r>
            <a:r>
              <a:rPr lang="en-US" sz="1700" dirty="0"/>
              <a:t>: Suggests specific clustered and non-clustered indexes, statistics, or horizontal partitioning.</a:t>
            </a:r>
          </a:p>
          <a:p>
            <a:r>
              <a:rPr lang="en-US" sz="1700" b="1" dirty="0"/>
              <a:t>Automation</a:t>
            </a:r>
            <a:r>
              <a:rPr lang="en-US" sz="1700" dirty="0"/>
              <a:t>: Generates T-SQL scripts to implement suggested changes immediately or at a scheduled time.</a:t>
            </a:r>
          </a:p>
          <a:p>
            <a:r>
              <a:rPr lang="en-US" sz="1700" b="1" dirty="0"/>
              <a:t>What-If Analysis</a:t>
            </a:r>
            <a:r>
              <a:rPr lang="en-US" sz="1700" dirty="0"/>
              <a:t>: Allows you to simulate physical design changes to see their potential impact without actually implementing them</a:t>
            </a:r>
          </a:p>
          <a:p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863695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E346FE-4E09-C356-AB28-CB782DAC4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24" y="-299924"/>
            <a:ext cx="10068156" cy="1330841"/>
          </a:xfrm>
        </p:spPr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SQL Server Performance Tuning Tools </a:t>
            </a:r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4165D8A-08CF-CF42-6207-7215267B1A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221" y="762896"/>
            <a:ext cx="10735733" cy="5770811"/>
          </a:xfrm>
          <a:prstGeom prst="rect">
            <a:avLst/>
          </a:prstGeom>
          <a:solidFill>
            <a:srgbClr val="F3F5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700" b="1" dirty="0">
                <a:latin typeface="+mn-lt"/>
              </a:rPr>
              <a:t>Native Microsoft Tools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700" dirty="0">
                <a:latin typeface="+mn-lt"/>
              </a:rPr>
              <a:t>These tools are built into SQL Server and SQL Server Management Studio (SSMS) and provide essential monitoring and analysis capabilities.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700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700" dirty="0"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Query Store</a:t>
            </a:r>
            <a:r>
              <a:rPr lang="en-US" altLang="en-US" sz="1700" dirty="0">
                <a:latin typeface="+mn-lt"/>
              </a:rPr>
              <a:t>: Automatically captures a history of queries, execution plans, and runtime statistics to help identify performance regressions.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700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700" dirty="0">
                <a:latin typeface="+mn-lt"/>
              </a:rPr>
              <a:t>Execution Plans: Graphical representations of how the SQL engine processes a query, highlighting inefficiencies like expensive table scans or missing indexes.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700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700" dirty="0">
                <a:latin typeface="+mn-lt"/>
              </a:rPr>
              <a:t>Database Engine Tuning Advisor (DTA): Analyzes query workloads and provides automated recommendations for creating or dropping indexes and partitions.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700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700" dirty="0">
                <a:latin typeface="+mn-lt"/>
              </a:rPr>
              <a:t>Activity Monitor: Provides real-time insights into active processes, resource waits, and the most resource-intensive queries currently running.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700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700" dirty="0">
                <a:latin typeface="+mn-lt"/>
              </a:rPr>
              <a:t>Extended Events (</a:t>
            </a:r>
            <a:r>
              <a:rPr lang="en-US" altLang="en-US" sz="1700" dirty="0" err="1">
                <a:latin typeface="+mn-lt"/>
              </a:rPr>
              <a:t>XEvents</a:t>
            </a:r>
            <a:r>
              <a:rPr lang="en-US" altLang="en-US" sz="1700" dirty="0">
                <a:latin typeface="+mn-lt"/>
              </a:rPr>
              <a:t>): A modern, lightweight tracing system that replaces the deprecated SQL Server Profiler for capturing detailed database events.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700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700" dirty="0">
                <a:latin typeface="+mn-lt"/>
              </a:rPr>
              <a:t>Dynamic Management Views (DMVs): System views that provide granular data on server health, such as </a:t>
            </a:r>
            <a:r>
              <a:rPr lang="en-US" altLang="en-US" sz="1700" dirty="0" err="1">
                <a:latin typeface="+mn-lt"/>
              </a:rPr>
              <a:t>sys.dm_exec_query_stats</a:t>
            </a:r>
            <a:r>
              <a:rPr lang="en-US" altLang="en-US" sz="1700" dirty="0">
                <a:latin typeface="+mn-lt"/>
              </a:rPr>
              <a:t> for query metrics and </a:t>
            </a:r>
            <a:r>
              <a:rPr lang="en-US" altLang="en-US" sz="1700" dirty="0" err="1">
                <a:latin typeface="+mn-lt"/>
              </a:rPr>
              <a:t>sys.dm_os_wait_stats</a:t>
            </a:r>
            <a:r>
              <a:rPr lang="en-US" altLang="en-US" sz="1700" dirty="0">
                <a:latin typeface="+mn-lt"/>
              </a:rPr>
              <a:t> for bottleneck analysis.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454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31BAD53-4E89-4F62-BBB7-26359763E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2756DA2-40EB-4C6F-B962-5822FFB54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653438" cy="6858000"/>
          </a:xfrm>
          <a:custGeom>
            <a:avLst/>
            <a:gdLst>
              <a:gd name="connsiteX0" fmla="*/ 0 w 6096000"/>
              <a:gd name="connsiteY0" fmla="*/ 0 h 6858000"/>
              <a:gd name="connsiteX1" fmla="*/ 5567517 w 6096000"/>
              <a:gd name="connsiteY1" fmla="*/ 0 h 6858000"/>
              <a:gd name="connsiteX2" fmla="*/ 5566938 w 6096000"/>
              <a:gd name="connsiteY2" fmla="*/ 1705 h 6858000"/>
              <a:gd name="connsiteX3" fmla="*/ 5551594 w 6096000"/>
              <a:gd name="connsiteY3" fmla="*/ 17287 h 6858000"/>
              <a:gd name="connsiteX4" fmla="*/ 5545641 w 6096000"/>
              <a:gd name="connsiteY4" fmla="*/ 130336 h 6858000"/>
              <a:gd name="connsiteX5" fmla="*/ 5538289 w 6096000"/>
              <a:gd name="connsiteY5" fmla="*/ 187093 h 6858000"/>
              <a:gd name="connsiteX6" fmla="*/ 5545790 w 6096000"/>
              <a:gd name="connsiteY6" fmla="*/ 265704 h 6858000"/>
              <a:gd name="connsiteX7" fmla="*/ 5542313 w 6096000"/>
              <a:gd name="connsiteY7" fmla="*/ 354566 h 6858000"/>
              <a:gd name="connsiteX8" fmla="*/ 5524126 w 6096000"/>
              <a:gd name="connsiteY8" fmla="*/ 472000 h 6858000"/>
              <a:gd name="connsiteX9" fmla="*/ 5522170 w 6096000"/>
              <a:gd name="connsiteY9" fmla="*/ 473782 h 6858000"/>
              <a:gd name="connsiteX10" fmla="*/ 5521798 w 6096000"/>
              <a:gd name="connsiteY10" fmla="*/ 491380 h 6858000"/>
              <a:gd name="connsiteX11" fmla="*/ 5536419 w 6096000"/>
              <a:gd name="connsiteY11" fmla="*/ 531675 h 6858000"/>
              <a:gd name="connsiteX12" fmla="*/ 5533435 w 6096000"/>
              <a:gd name="connsiteY12" fmla="*/ 536015 h 6858000"/>
              <a:gd name="connsiteX13" fmla="*/ 5538088 w 6096000"/>
              <a:gd name="connsiteY13" fmla="*/ 572092 h 6858000"/>
              <a:gd name="connsiteX14" fmla="*/ 5536061 w 6096000"/>
              <a:gd name="connsiteY14" fmla="*/ 572511 h 6858000"/>
              <a:gd name="connsiteX15" fmla="*/ 5528218 w 6096000"/>
              <a:gd name="connsiteY15" fmla="*/ 582332 h 6858000"/>
              <a:gd name="connsiteX16" fmla="*/ 5518011 w 6096000"/>
              <a:gd name="connsiteY16" fmla="*/ 601285 h 6858000"/>
              <a:gd name="connsiteX17" fmla="*/ 5473174 w 6096000"/>
              <a:gd name="connsiteY17" fmla="*/ 681608 h 6858000"/>
              <a:gd name="connsiteX18" fmla="*/ 5472963 w 6096000"/>
              <a:gd name="connsiteY18" fmla="*/ 689151 h 6858000"/>
              <a:gd name="connsiteX19" fmla="*/ 5472485 w 6096000"/>
              <a:gd name="connsiteY19" fmla="*/ 689289 h 6858000"/>
              <a:gd name="connsiteX20" fmla="*/ 5471326 w 6096000"/>
              <a:gd name="connsiteY20" fmla="*/ 697222 h 6858000"/>
              <a:gd name="connsiteX21" fmla="*/ 5472164 w 6096000"/>
              <a:gd name="connsiteY21" fmla="*/ 717531 h 6858000"/>
              <a:gd name="connsiteX22" fmla="*/ 5468891 w 6096000"/>
              <a:gd name="connsiteY22" fmla="*/ 722494 h 6858000"/>
              <a:gd name="connsiteX23" fmla="*/ 5463081 w 6096000"/>
              <a:gd name="connsiteY23" fmla="*/ 724368 h 6858000"/>
              <a:gd name="connsiteX24" fmla="*/ 5446981 w 6096000"/>
              <a:gd name="connsiteY24" fmla="*/ 752692 h 6858000"/>
              <a:gd name="connsiteX25" fmla="*/ 5417190 w 6096000"/>
              <a:gd name="connsiteY25" fmla="*/ 816346 h 6858000"/>
              <a:gd name="connsiteX26" fmla="*/ 5388958 w 6096000"/>
              <a:gd name="connsiteY26" fmla="*/ 889417 h 6858000"/>
              <a:gd name="connsiteX27" fmla="*/ 5307044 w 6096000"/>
              <a:gd name="connsiteY27" fmla="*/ 1063288 h 6858000"/>
              <a:gd name="connsiteX28" fmla="*/ 5303837 w 6096000"/>
              <a:gd name="connsiteY28" fmla="*/ 1157176 h 6858000"/>
              <a:gd name="connsiteX29" fmla="*/ 5286494 w 6096000"/>
              <a:gd name="connsiteY29" fmla="*/ 1210776 h 6858000"/>
              <a:gd name="connsiteX30" fmla="*/ 5282463 w 6096000"/>
              <a:gd name="connsiteY30" fmla="*/ 1301993 h 6858000"/>
              <a:gd name="connsiteX31" fmla="*/ 5252235 w 6096000"/>
              <a:gd name="connsiteY31" fmla="*/ 1360879 h 6858000"/>
              <a:gd name="connsiteX32" fmla="*/ 5244497 w 6096000"/>
              <a:gd name="connsiteY32" fmla="*/ 1404045 h 6858000"/>
              <a:gd name="connsiteX33" fmla="*/ 5223823 w 6096000"/>
              <a:gd name="connsiteY33" fmla="*/ 1429568 h 6858000"/>
              <a:gd name="connsiteX34" fmla="*/ 5224851 w 6096000"/>
              <a:gd name="connsiteY34" fmla="*/ 1430305 h 6858000"/>
              <a:gd name="connsiteX35" fmla="*/ 5212394 w 6096000"/>
              <a:gd name="connsiteY35" fmla="*/ 1463304 h 6858000"/>
              <a:gd name="connsiteX36" fmla="*/ 5209958 w 6096000"/>
              <a:gd name="connsiteY36" fmla="*/ 1514846 h 6858000"/>
              <a:gd name="connsiteX37" fmla="*/ 5206417 w 6096000"/>
              <a:gd name="connsiteY37" fmla="*/ 1519731 h 6858000"/>
              <a:gd name="connsiteX38" fmla="*/ 5206640 w 6096000"/>
              <a:gd name="connsiteY38" fmla="*/ 1519929 h 6858000"/>
              <a:gd name="connsiteX39" fmla="*/ 5207632 w 6096000"/>
              <a:gd name="connsiteY39" fmla="*/ 1546022 h 6858000"/>
              <a:gd name="connsiteX40" fmla="*/ 5212030 w 6096000"/>
              <a:gd name="connsiteY40" fmla="*/ 1578752 h 6858000"/>
              <a:gd name="connsiteX41" fmla="*/ 5203533 w 6096000"/>
              <a:gd name="connsiteY41" fmla="*/ 1647555 h 6858000"/>
              <a:gd name="connsiteX42" fmla="*/ 5190877 w 6096000"/>
              <a:gd name="connsiteY42" fmla="*/ 1715685 h 6858000"/>
              <a:gd name="connsiteX43" fmla="*/ 5184235 w 6096000"/>
              <a:gd name="connsiteY43" fmla="*/ 1740358 h 6858000"/>
              <a:gd name="connsiteX44" fmla="*/ 5181475 w 6096000"/>
              <a:gd name="connsiteY44" fmla="*/ 1784314 h 6858000"/>
              <a:gd name="connsiteX45" fmla="*/ 5185845 w 6096000"/>
              <a:gd name="connsiteY45" fmla="*/ 1804434 h 6858000"/>
              <a:gd name="connsiteX46" fmla="*/ 5185068 w 6096000"/>
              <a:gd name="connsiteY46" fmla="*/ 1805316 h 6858000"/>
              <a:gd name="connsiteX47" fmla="*/ 5188593 w 6096000"/>
              <a:gd name="connsiteY47" fmla="*/ 1807109 h 6858000"/>
              <a:gd name="connsiteX48" fmla="*/ 5185920 w 6096000"/>
              <a:gd name="connsiteY48" fmla="*/ 1821003 h 6858000"/>
              <a:gd name="connsiteX49" fmla="*/ 5183543 w 6096000"/>
              <a:gd name="connsiteY49" fmla="*/ 1824832 h 6858000"/>
              <a:gd name="connsiteX50" fmla="*/ 5182235 w 6096000"/>
              <a:gd name="connsiteY50" fmla="*/ 1830429 h 6858000"/>
              <a:gd name="connsiteX51" fmla="*/ 5182525 w 6096000"/>
              <a:gd name="connsiteY51" fmla="*/ 1830569 h 6858000"/>
              <a:gd name="connsiteX52" fmla="*/ 5180663 w 6096000"/>
              <a:gd name="connsiteY52" fmla="*/ 1835810 h 6858000"/>
              <a:gd name="connsiteX53" fmla="*/ 5167452 w 6096000"/>
              <a:gd name="connsiteY53" fmla="*/ 1861483 h 6858000"/>
              <a:gd name="connsiteX54" fmla="*/ 5174266 w 6096000"/>
              <a:gd name="connsiteY54" fmla="*/ 1892417 h 6858000"/>
              <a:gd name="connsiteX55" fmla="*/ 5189262 w 6096000"/>
              <a:gd name="connsiteY55" fmla="*/ 1895114 h 6858000"/>
              <a:gd name="connsiteX56" fmla="*/ 5187100 w 6096000"/>
              <a:gd name="connsiteY56" fmla="*/ 1899379 h 6858000"/>
              <a:gd name="connsiteX57" fmla="*/ 5180471 w 6096000"/>
              <a:gd name="connsiteY57" fmla="*/ 1907867 h 6858000"/>
              <a:gd name="connsiteX58" fmla="*/ 5181361 w 6096000"/>
              <a:gd name="connsiteY58" fmla="*/ 1910265 h 6858000"/>
              <a:gd name="connsiteX59" fmla="*/ 5178268 w 6096000"/>
              <a:gd name="connsiteY59" fmla="*/ 1935584 h 6858000"/>
              <a:gd name="connsiteX60" fmla="*/ 5183619 w 6096000"/>
              <a:gd name="connsiteY60" fmla="*/ 1942021 h 6858000"/>
              <a:gd name="connsiteX61" fmla="*/ 5184480 w 6096000"/>
              <a:gd name="connsiteY61" fmla="*/ 1945112 h 6858000"/>
              <a:gd name="connsiteX62" fmla="*/ 5172776 w 6096000"/>
              <a:gd name="connsiteY62" fmla="*/ 1961162 h 6858000"/>
              <a:gd name="connsiteX63" fmla="*/ 5168513 w 6096000"/>
              <a:gd name="connsiteY63" fmla="*/ 1969445 h 6858000"/>
              <a:gd name="connsiteX64" fmla="*/ 5126597 w 6096000"/>
              <a:gd name="connsiteY64" fmla="*/ 2024270 h 6858000"/>
              <a:gd name="connsiteX65" fmla="*/ 5119528 w 6096000"/>
              <a:gd name="connsiteY65" fmla="*/ 2107942 h 6858000"/>
              <a:gd name="connsiteX66" fmla="*/ 5110356 w 6096000"/>
              <a:gd name="connsiteY66" fmla="*/ 2193455 h 6858000"/>
              <a:gd name="connsiteX67" fmla="*/ 5104992 w 6096000"/>
              <a:gd name="connsiteY67" fmla="*/ 2260088 h 6858000"/>
              <a:gd name="connsiteX68" fmla="*/ 5059439 w 6096000"/>
              <a:gd name="connsiteY68" fmla="*/ 2335735 h 6858000"/>
              <a:gd name="connsiteX69" fmla="*/ 5022061 w 6096000"/>
              <a:gd name="connsiteY69" fmla="*/ 2408995 h 6858000"/>
              <a:gd name="connsiteX70" fmla="*/ 5022253 w 6096000"/>
              <a:gd name="connsiteY70" fmla="*/ 2445869 h 6858000"/>
              <a:gd name="connsiteX71" fmla="*/ 5011426 w 6096000"/>
              <a:gd name="connsiteY71" fmla="*/ 2496499 h 6858000"/>
              <a:gd name="connsiteX72" fmla="*/ 4994224 w 6096000"/>
              <a:gd name="connsiteY72" fmla="*/ 2549900 h 6858000"/>
              <a:gd name="connsiteX73" fmla="*/ 4995245 w 6096000"/>
              <a:gd name="connsiteY73" fmla="*/ 2596456 h 6858000"/>
              <a:gd name="connsiteX74" fmla="*/ 4988570 w 6096000"/>
              <a:gd name="connsiteY74" fmla="*/ 2606088 h 6858000"/>
              <a:gd name="connsiteX75" fmla="*/ 4988371 w 6096000"/>
              <a:gd name="connsiteY75" fmla="*/ 2635351 h 6858000"/>
              <a:gd name="connsiteX76" fmla="*/ 4983212 w 6096000"/>
              <a:gd name="connsiteY76" fmla="*/ 2665666 h 6858000"/>
              <a:gd name="connsiteX77" fmla="*/ 4968234 w 6096000"/>
              <a:gd name="connsiteY77" fmla="*/ 2715895 h 6858000"/>
              <a:gd name="connsiteX78" fmla="*/ 4975888 w 6096000"/>
              <a:gd name="connsiteY78" fmla="*/ 2725052 h 6858000"/>
              <a:gd name="connsiteX79" fmla="*/ 4980195 w 6096000"/>
              <a:gd name="connsiteY79" fmla="*/ 2726489 h 6858000"/>
              <a:gd name="connsiteX80" fmla="*/ 4976218 w 6096000"/>
              <a:gd name="connsiteY80" fmla="*/ 2740278 h 6858000"/>
              <a:gd name="connsiteX81" fmla="*/ 4980571 w 6096000"/>
              <a:gd name="connsiteY81" fmla="*/ 2751112 h 6858000"/>
              <a:gd name="connsiteX82" fmla="*/ 4973893 w 6096000"/>
              <a:gd name="connsiteY82" fmla="*/ 2760208 h 6858000"/>
              <a:gd name="connsiteX83" fmla="*/ 4979005 w 6096000"/>
              <a:gd name="connsiteY83" fmla="*/ 2790136 h 6858000"/>
              <a:gd name="connsiteX84" fmla="*/ 4986137 w 6096000"/>
              <a:gd name="connsiteY84" fmla="*/ 2804183 h 6858000"/>
              <a:gd name="connsiteX85" fmla="*/ 4986175 w 6096000"/>
              <a:gd name="connsiteY85" fmla="*/ 2825860 h 6858000"/>
              <a:gd name="connsiteX86" fmla="*/ 4993936 w 6096000"/>
              <a:gd name="connsiteY86" fmla="*/ 2911749 h 6858000"/>
              <a:gd name="connsiteX87" fmla="*/ 4992563 w 6096000"/>
              <a:gd name="connsiteY87" fmla="*/ 2977278 h 6858000"/>
              <a:gd name="connsiteX88" fmla="*/ 4980516 w 6096000"/>
              <a:gd name="connsiteY88" fmla="*/ 2991092 h 6858000"/>
              <a:gd name="connsiteX89" fmla="*/ 4992801 w 6096000"/>
              <a:gd name="connsiteY89" fmla="*/ 3020247 h 6858000"/>
              <a:gd name="connsiteX90" fmla="*/ 5014805 w 6096000"/>
              <a:gd name="connsiteY90" fmla="*/ 3065434 h 6858000"/>
              <a:gd name="connsiteX91" fmla="*/ 5002733 w 6096000"/>
              <a:gd name="connsiteY91" fmla="*/ 3103777 h 6858000"/>
              <a:gd name="connsiteX92" fmla="*/ 5002941 w 6096000"/>
              <a:gd name="connsiteY92" fmla="*/ 3151828 h 6858000"/>
              <a:gd name="connsiteX93" fmla="*/ 5002883 w 6096000"/>
              <a:gd name="connsiteY93" fmla="*/ 3180546 h 6858000"/>
              <a:gd name="connsiteX94" fmla="*/ 5016711 w 6096000"/>
              <a:gd name="connsiteY94" fmla="*/ 3258677 h 6858000"/>
              <a:gd name="connsiteX95" fmla="*/ 5017918 w 6096000"/>
              <a:gd name="connsiteY95" fmla="*/ 3262610 h 6858000"/>
              <a:gd name="connsiteX96" fmla="*/ 5011672 w 6096000"/>
              <a:gd name="connsiteY96" fmla="*/ 3277179 h 6858000"/>
              <a:gd name="connsiteX97" fmla="*/ 5009344 w 6096000"/>
              <a:gd name="connsiteY97" fmla="*/ 3278130 h 6858000"/>
              <a:gd name="connsiteX98" fmla="*/ 5026770 w 6096000"/>
              <a:gd name="connsiteY98" fmla="*/ 3325671 h 6858000"/>
              <a:gd name="connsiteX99" fmla="*/ 5024571 w 6096000"/>
              <a:gd name="connsiteY99" fmla="*/ 3332072 h 6858000"/>
              <a:gd name="connsiteX100" fmla="*/ 5041705 w 6096000"/>
              <a:gd name="connsiteY100" fmla="*/ 3362948 h 6858000"/>
              <a:gd name="connsiteX101" fmla="*/ 5047477 w 6096000"/>
              <a:gd name="connsiteY101" fmla="*/ 3378959 h 6858000"/>
              <a:gd name="connsiteX102" fmla="*/ 5060758 w 6096000"/>
              <a:gd name="connsiteY102" fmla="*/ 3407057 h 6858000"/>
              <a:gd name="connsiteX103" fmla="*/ 5058968 w 6096000"/>
              <a:gd name="connsiteY103" fmla="*/ 3409825 h 6858000"/>
              <a:gd name="connsiteX104" fmla="*/ 5062667 w 6096000"/>
              <a:gd name="connsiteY104" fmla="*/ 3415218 h 6858000"/>
              <a:gd name="connsiteX105" fmla="*/ 5060928 w 6096000"/>
              <a:gd name="connsiteY105" fmla="*/ 3419880 h 6858000"/>
              <a:gd name="connsiteX106" fmla="*/ 5062923 w 6096000"/>
              <a:gd name="connsiteY106" fmla="*/ 3424545 h 6858000"/>
              <a:gd name="connsiteX107" fmla="*/ 5064623 w 6096000"/>
              <a:gd name="connsiteY107" fmla="*/ 3476412 h 6858000"/>
              <a:gd name="connsiteX108" fmla="*/ 5069684 w 6096000"/>
              <a:gd name="connsiteY108" fmla="*/ 3486850 h 6858000"/>
              <a:gd name="connsiteX109" fmla="*/ 5063339 w 6096000"/>
              <a:gd name="connsiteY109" fmla="*/ 3496391 h 6858000"/>
              <a:gd name="connsiteX110" fmla="*/ 5070139 w 6096000"/>
              <a:gd name="connsiteY110" fmla="*/ 3531201 h 6858000"/>
              <a:gd name="connsiteX111" fmla="*/ 5079896 w 6096000"/>
              <a:gd name="connsiteY111" fmla="*/ 3542019 h 6858000"/>
              <a:gd name="connsiteX112" fmla="*/ 5087540 w 6096000"/>
              <a:gd name="connsiteY112" fmla="*/ 3552249 h 6858000"/>
              <a:gd name="connsiteX113" fmla="*/ 5087902 w 6096000"/>
              <a:gd name="connsiteY113" fmla="*/ 3553678 h 6858000"/>
              <a:gd name="connsiteX114" fmla="*/ 5091509 w 6096000"/>
              <a:gd name="connsiteY114" fmla="*/ 3568021 h 6858000"/>
              <a:gd name="connsiteX115" fmla="*/ 5091934 w 6096000"/>
              <a:gd name="connsiteY115" fmla="*/ 3569719 h 6858000"/>
              <a:gd name="connsiteX116" fmla="*/ 5089362 w 6096000"/>
              <a:gd name="connsiteY116" fmla="*/ 3586412 h 6858000"/>
              <a:gd name="connsiteX117" fmla="*/ 5092358 w 6096000"/>
              <a:gd name="connsiteY117" fmla="*/ 3597336 h 6858000"/>
              <a:gd name="connsiteX118" fmla="*/ 5084254 w 6096000"/>
              <a:gd name="connsiteY118" fmla="*/ 3606007 h 6858000"/>
              <a:gd name="connsiteX119" fmla="*/ 5084281 w 6096000"/>
              <a:gd name="connsiteY119" fmla="*/ 3641228 h 6858000"/>
              <a:gd name="connsiteX120" fmla="*/ 5091848 w 6096000"/>
              <a:gd name="connsiteY120" fmla="*/ 3653088 h 6858000"/>
              <a:gd name="connsiteX121" fmla="*/ 5097436 w 6096000"/>
              <a:gd name="connsiteY121" fmla="*/ 3664114 h 6858000"/>
              <a:gd name="connsiteX122" fmla="*/ 5097518 w 6096000"/>
              <a:gd name="connsiteY122" fmla="*/ 3665569 h 6858000"/>
              <a:gd name="connsiteX123" fmla="*/ 5099829 w 6096000"/>
              <a:gd name="connsiteY123" fmla="*/ 3707357 h 6858000"/>
              <a:gd name="connsiteX124" fmla="*/ 5114696 w 6096000"/>
              <a:gd name="connsiteY124" fmla="*/ 3778166 h 6858000"/>
              <a:gd name="connsiteX125" fmla="*/ 5135379 w 6096000"/>
              <a:gd name="connsiteY125" fmla="*/ 3878222 h 6858000"/>
              <a:gd name="connsiteX126" fmla="*/ 5130138 w 6096000"/>
              <a:gd name="connsiteY126" fmla="*/ 4048117 h 6858000"/>
              <a:gd name="connsiteX127" fmla="*/ 5090040 w 6096000"/>
              <a:gd name="connsiteY127" fmla="*/ 4219510 h 6858000"/>
              <a:gd name="connsiteX128" fmla="*/ 5092812 w 6096000"/>
              <a:gd name="connsiteY128" fmla="*/ 4411258 h 6858000"/>
              <a:gd name="connsiteX129" fmla="*/ 5084599 w 6096000"/>
              <a:gd name="connsiteY129" fmla="*/ 4488531 h 6858000"/>
              <a:gd name="connsiteX130" fmla="*/ 5084072 w 6096000"/>
              <a:gd name="connsiteY130" fmla="*/ 4539168 h 6858000"/>
              <a:gd name="connsiteX131" fmla="*/ 5068936 w 6096000"/>
              <a:gd name="connsiteY131" fmla="*/ 4625153 h 6858000"/>
              <a:gd name="connsiteX132" fmla="*/ 5059114 w 6096000"/>
              <a:gd name="connsiteY132" fmla="*/ 4733115 h 6858000"/>
              <a:gd name="connsiteX133" fmla="*/ 5037209 w 6096000"/>
              <a:gd name="connsiteY133" fmla="*/ 4844323 h 6858000"/>
              <a:gd name="connsiteX134" fmla="*/ 5020638 w 6096000"/>
              <a:gd name="connsiteY134" fmla="*/ 4877992 h 6858000"/>
              <a:gd name="connsiteX135" fmla="*/ 5006413 w 6096000"/>
              <a:gd name="connsiteY135" fmla="*/ 4925805 h 6858000"/>
              <a:gd name="connsiteX136" fmla="*/ 4971037 w 6096000"/>
              <a:gd name="connsiteY136" fmla="*/ 5009272 h 6858000"/>
              <a:gd name="connsiteX137" fmla="*/ 4963105 w 6096000"/>
              <a:gd name="connsiteY137" fmla="*/ 5111369 h 6858000"/>
              <a:gd name="connsiteX138" fmla="*/ 4976341 w 6096000"/>
              <a:gd name="connsiteY138" fmla="*/ 5210876 h 6858000"/>
              <a:gd name="connsiteX139" fmla="*/ 4980617 w 6096000"/>
              <a:gd name="connsiteY139" fmla="*/ 5269726 h 6858000"/>
              <a:gd name="connsiteX140" fmla="*/ 4997733 w 6096000"/>
              <a:gd name="connsiteY140" fmla="*/ 5464225 h 6858000"/>
              <a:gd name="connsiteX141" fmla="*/ 5001400 w 6096000"/>
              <a:gd name="connsiteY141" fmla="*/ 5594585 h 6858000"/>
              <a:gd name="connsiteX142" fmla="*/ 4983700 w 6096000"/>
              <a:gd name="connsiteY142" fmla="*/ 5667896 h 6858000"/>
              <a:gd name="connsiteX143" fmla="*/ 4968506 w 6096000"/>
              <a:gd name="connsiteY143" fmla="*/ 5769225 h 6858000"/>
              <a:gd name="connsiteX144" fmla="*/ 4969765 w 6096000"/>
              <a:gd name="connsiteY144" fmla="*/ 5823324 h 6858000"/>
              <a:gd name="connsiteX145" fmla="*/ 4966129 w 6096000"/>
              <a:gd name="connsiteY145" fmla="*/ 5862699 h 6858000"/>
              <a:gd name="connsiteX146" fmla="*/ 4970695 w 6096000"/>
              <a:gd name="connsiteY146" fmla="*/ 5906467 h 6858000"/>
              <a:gd name="connsiteX147" fmla="*/ 4991568 w 6096000"/>
              <a:gd name="connsiteY147" fmla="*/ 5939847 h 6858000"/>
              <a:gd name="connsiteX148" fmla="*/ 4986815 w 6096000"/>
              <a:gd name="connsiteY148" fmla="*/ 5973994 h 6858000"/>
              <a:gd name="connsiteX149" fmla="*/ 4987776 w 6096000"/>
              <a:gd name="connsiteY149" fmla="*/ 6089693 h 6858000"/>
              <a:gd name="connsiteX150" fmla="*/ 4991621 w 6096000"/>
              <a:gd name="connsiteY150" fmla="*/ 6224938 h 6858000"/>
              <a:gd name="connsiteX151" fmla="*/ 5017157 w 6096000"/>
              <a:gd name="connsiteY151" fmla="*/ 6370251 h 6858000"/>
              <a:gd name="connsiteX152" fmla="*/ 5040797 w 6096000"/>
              <a:gd name="connsiteY152" fmla="*/ 6541313 h 6858000"/>
              <a:gd name="connsiteX153" fmla="*/ 5045375 w 6096000"/>
              <a:gd name="connsiteY153" fmla="*/ 6640957 h 6858000"/>
              <a:gd name="connsiteX154" fmla="*/ 5058442 w 6096000"/>
              <a:gd name="connsiteY154" fmla="*/ 6705297 h 6858000"/>
              <a:gd name="connsiteX155" fmla="*/ 5071125 w 6096000"/>
              <a:gd name="connsiteY155" fmla="*/ 6759582 h 6858000"/>
              <a:gd name="connsiteX156" fmla="*/ 5069172 w 6096000"/>
              <a:gd name="connsiteY156" fmla="*/ 6817746 h 6858000"/>
              <a:gd name="connsiteX157" fmla="*/ 5072322 w 6096000"/>
              <a:gd name="connsiteY157" fmla="*/ 6843646 h 6858000"/>
              <a:gd name="connsiteX158" fmla="*/ 5091388 w 6096000"/>
              <a:gd name="connsiteY158" fmla="*/ 6857998 h 6858000"/>
              <a:gd name="connsiteX159" fmla="*/ 6096000 w 6096000"/>
              <a:gd name="connsiteY159" fmla="*/ 6857998 h 6858000"/>
              <a:gd name="connsiteX160" fmla="*/ 6096000 w 6096000"/>
              <a:gd name="connsiteY160" fmla="*/ 6858000 h 6858000"/>
              <a:gd name="connsiteX161" fmla="*/ 0 w 6096000"/>
              <a:gd name="connsiteY16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5567517" y="0"/>
                </a:lnTo>
                <a:lnTo>
                  <a:pt x="5566938" y="1705"/>
                </a:lnTo>
                <a:cubicBezTo>
                  <a:pt x="5563126" y="8440"/>
                  <a:pt x="5558112" y="13784"/>
                  <a:pt x="5551594" y="17287"/>
                </a:cubicBezTo>
                <a:cubicBezTo>
                  <a:pt x="5562364" y="82036"/>
                  <a:pt x="5510349" y="69804"/>
                  <a:pt x="5545641" y="130336"/>
                </a:cubicBezTo>
                <a:cubicBezTo>
                  <a:pt x="5526953" y="117589"/>
                  <a:pt x="5536978" y="162458"/>
                  <a:pt x="5538289" y="187093"/>
                </a:cubicBezTo>
                <a:cubicBezTo>
                  <a:pt x="5536205" y="226511"/>
                  <a:pt x="5545722" y="205530"/>
                  <a:pt x="5545790" y="265704"/>
                </a:cubicBezTo>
                <a:cubicBezTo>
                  <a:pt x="5542296" y="317533"/>
                  <a:pt x="5543813" y="325288"/>
                  <a:pt x="5542313" y="354566"/>
                </a:cubicBezTo>
                <a:lnTo>
                  <a:pt x="5524126" y="472000"/>
                </a:lnTo>
                <a:lnTo>
                  <a:pt x="5522170" y="473782"/>
                </a:lnTo>
                <a:cubicBezTo>
                  <a:pt x="5517847" y="482008"/>
                  <a:pt x="5518682" y="487340"/>
                  <a:pt x="5521798" y="491380"/>
                </a:cubicBezTo>
                <a:lnTo>
                  <a:pt x="5536419" y="531675"/>
                </a:lnTo>
                <a:lnTo>
                  <a:pt x="5533435" y="536015"/>
                </a:lnTo>
                <a:lnTo>
                  <a:pt x="5538088" y="572092"/>
                </a:lnTo>
                <a:lnTo>
                  <a:pt x="5536061" y="572511"/>
                </a:lnTo>
                <a:cubicBezTo>
                  <a:pt x="5531611" y="574271"/>
                  <a:pt x="5528529" y="577121"/>
                  <a:pt x="5528218" y="582332"/>
                </a:cubicBezTo>
                <a:cubicBezTo>
                  <a:pt x="5498002" y="573171"/>
                  <a:pt x="5516262" y="585107"/>
                  <a:pt x="5518011" y="601285"/>
                </a:cubicBezTo>
                <a:cubicBezTo>
                  <a:pt x="5508838" y="617831"/>
                  <a:pt x="5480684" y="666964"/>
                  <a:pt x="5473174" y="681608"/>
                </a:cubicBezTo>
                <a:cubicBezTo>
                  <a:pt x="5473102" y="684122"/>
                  <a:pt x="5473033" y="686637"/>
                  <a:pt x="5472963" y="689151"/>
                </a:cubicBezTo>
                <a:lnTo>
                  <a:pt x="5472485" y="689289"/>
                </a:lnTo>
                <a:cubicBezTo>
                  <a:pt x="5471434" y="690905"/>
                  <a:pt x="5470986" y="693376"/>
                  <a:pt x="5471326" y="697222"/>
                </a:cubicBezTo>
                <a:cubicBezTo>
                  <a:pt x="5471606" y="703992"/>
                  <a:pt x="5471884" y="710761"/>
                  <a:pt x="5472164" y="717531"/>
                </a:cubicBezTo>
                <a:lnTo>
                  <a:pt x="5468891" y="722494"/>
                </a:lnTo>
                <a:lnTo>
                  <a:pt x="5463081" y="724368"/>
                </a:lnTo>
                <a:lnTo>
                  <a:pt x="5446981" y="752692"/>
                </a:lnTo>
                <a:cubicBezTo>
                  <a:pt x="5454691" y="764380"/>
                  <a:pt x="5422719" y="808083"/>
                  <a:pt x="5417190" y="816346"/>
                </a:cubicBezTo>
                <a:lnTo>
                  <a:pt x="5388958" y="889417"/>
                </a:lnTo>
                <a:cubicBezTo>
                  <a:pt x="5320491" y="969963"/>
                  <a:pt x="5321907" y="1005331"/>
                  <a:pt x="5307044" y="1063288"/>
                </a:cubicBezTo>
                <a:cubicBezTo>
                  <a:pt x="5313332" y="1111028"/>
                  <a:pt x="5317096" y="1110140"/>
                  <a:pt x="5303837" y="1157176"/>
                </a:cubicBezTo>
                <a:cubicBezTo>
                  <a:pt x="5301103" y="1192124"/>
                  <a:pt x="5301884" y="1197232"/>
                  <a:pt x="5286494" y="1210776"/>
                </a:cubicBezTo>
                <a:lnTo>
                  <a:pt x="5282463" y="1301993"/>
                </a:lnTo>
                <a:lnTo>
                  <a:pt x="5252235" y="1360879"/>
                </a:lnTo>
                <a:lnTo>
                  <a:pt x="5244497" y="1404045"/>
                </a:lnTo>
                <a:lnTo>
                  <a:pt x="5223823" y="1429568"/>
                </a:lnTo>
                <a:lnTo>
                  <a:pt x="5224851" y="1430305"/>
                </a:lnTo>
                <a:cubicBezTo>
                  <a:pt x="5226697" y="1432466"/>
                  <a:pt x="5214738" y="1459891"/>
                  <a:pt x="5212394" y="1463304"/>
                </a:cubicBezTo>
                <a:cubicBezTo>
                  <a:pt x="5209912" y="1477394"/>
                  <a:pt x="5213027" y="1501295"/>
                  <a:pt x="5209958" y="1514846"/>
                </a:cubicBezTo>
                <a:lnTo>
                  <a:pt x="5206417" y="1519731"/>
                </a:lnTo>
                <a:lnTo>
                  <a:pt x="5206640" y="1519929"/>
                </a:lnTo>
                <a:cubicBezTo>
                  <a:pt x="5206490" y="1521210"/>
                  <a:pt x="5209710" y="1543635"/>
                  <a:pt x="5207632" y="1546022"/>
                </a:cubicBezTo>
                <a:lnTo>
                  <a:pt x="5212030" y="1578752"/>
                </a:lnTo>
                <a:cubicBezTo>
                  <a:pt x="5206147" y="1605585"/>
                  <a:pt x="5226381" y="1622803"/>
                  <a:pt x="5203533" y="1647555"/>
                </a:cubicBezTo>
                <a:cubicBezTo>
                  <a:pt x="5198128" y="1672675"/>
                  <a:pt x="5203213" y="1694404"/>
                  <a:pt x="5190877" y="1715685"/>
                </a:cubicBezTo>
                <a:cubicBezTo>
                  <a:pt x="5196815" y="1724301"/>
                  <a:pt x="5198098" y="1732435"/>
                  <a:pt x="5184235" y="1740358"/>
                </a:cubicBezTo>
                <a:cubicBezTo>
                  <a:pt x="5182625" y="1763793"/>
                  <a:pt x="5198368" y="1769422"/>
                  <a:pt x="5181475" y="1784314"/>
                </a:cubicBezTo>
                <a:cubicBezTo>
                  <a:pt x="5205987" y="1797417"/>
                  <a:pt x="5195246" y="1798221"/>
                  <a:pt x="5185845" y="1804434"/>
                </a:cubicBezTo>
                <a:lnTo>
                  <a:pt x="5185068" y="1805316"/>
                </a:lnTo>
                <a:lnTo>
                  <a:pt x="5188593" y="1807109"/>
                </a:lnTo>
                <a:lnTo>
                  <a:pt x="5185920" y="1821003"/>
                </a:lnTo>
                <a:lnTo>
                  <a:pt x="5183543" y="1824832"/>
                </a:lnTo>
                <a:cubicBezTo>
                  <a:pt x="5182284" y="1827468"/>
                  <a:pt x="5181937" y="1829219"/>
                  <a:pt x="5182235" y="1830429"/>
                </a:cubicBezTo>
                <a:lnTo>
                  <a:pt x="5182525" y="1830569"/>
                </a:lnTo>
                <a:lnTo>
                  <a:pt x="5180663" y="1835810"/>
                </a:lnTo>
                <a:cubicBezTo>
                  <a:pt x="5176779" y="1844665"/>
                  <a:pt x="5172297" y="1853278"/>
                  <a:pt x="5167452" y="1861483"/>
                </a:cubicBezTo>
                <a:cubicBezTo>
                  <a:pt x="5179827" y="1866643"/>
                  <a:pt x="5166788" y="1884999"/>
                  <a:pt x="5174266" y="1892417"/>
                </a:cubicBezTo>
                <a:lnTo>
                  <a:pt x="5189262" y="1895114"/>
                </a:lnTo>
                <a:lnTo>
                  <a:pt x="5187100" y="1899379"/>
                </a:lnTo>
                <a:lnTo>
                  <a:pt x="5180471" y="1907867"/>
                </a:lnTo>
                <a:cubicBezTo>
                  <a:pt x="5179609" y="1909162"/>
                  <a:pt x="5179647" y="1909994"/>
                  <a:pt x="5181361" y="1910265"/>
                </a:cubicBezTo>
                <a:cubicBezTo>
                  <a:pt x="5180995" y="1914884"/>
                  <a:pt x="5177893" y="1930292"/>
                  <a:pt x="5178268" y="1935584"/>
                </a:cubicBezTo>
                <a:lnTo>
                  <a:pt x="5183619" y="1942021"/>
                </a:lnTo>
                <a:lnTo>
                  <a:pt x="5184480" y="1945112"/>
                </a:lnTo>
                <a:lnTo>
                  <a:pt x="5172776" y="1961162"/>
                </a:lnTo>
                <a:lnTo>
                  <a:pt x="5168513" y="1969445"/>
                </a:lnTo>
                <a:lnTo>
                  <a:pt x="5126597" y="2024270"/>
                </a:lnTo>
                <a:lnTo>
                  <a:pt x="5119528" y="2107942"/>
                </a:lnTo>
                <a:cubicBezTo>
                  <a:pt x="5089290" y="2138038"/>
                  <a:pt x="5110415" y="2159228"/>
                  <a:pt x="5110356" y="2193455"/>
                </a:cubicBezTo>
                <a:cubicBezTo>
                  <a:pt x="5101302" y="2220953"/>
                  <a:pt x="5110381" y="2224200"/>
                  <a:pt x="5104992" y="2260088"/>
                </a:cubicBezTo>
                <a:cubicBezTo>
                  <a:pt x="5096504" y="2291744"/>
                  <a:pt x="5078225" y="2299003"/>
                  <a:pt x="5059439" y="2335735"/>
                </a:cubicBezTo>
                <a:cubicBezTo>
                  <a:pt x="5029465" y="2329020"/>
                  <a:pt x="5058046" y="2407546"/>
                  <a:pt x="5022061" y="2408995"/>
                </a:cubicBezTo>
                <a:cubicBezTo>
                  <a:pt x="5023289" y="2413465"/>
                  <a:pt x="5019654" y="2441580"/>
                  <a:pt x="5022253" y="2445869"/>
                </a:cubicBezTo>
                <a:cubicBezTo>
                  <a:pt x="5022440" y="2449625"/>
                  <a:pt x="5011241" y="2492743"/>
                  <a:pt x="5011426" y="2496499"/>
                </a:cubicBezTo>
                <a:lnTo>
                  <a:pt x="4994224" y="2549900"/>
                </a:lnTo>
                <a:cubicBezTo>
                  <a:pt x="4992353" y="2564757"/>
                  <a:pt x="4998952" y="2582253"/>
                  <a:pt x="4995245" y="2596456"/>
                </a:cubicBezTo>
                <a:lnTo>
                  <a:pt x="4988570" y="2606088"/>
                </a:lnTo>
                <a:cubicBezTo>
                  <a:pt x="4988504" y="2615842"/>
                  <a:pt x="4988436" y="2625597"/>
                  <a:pt x="4988371" y="2635351"/>
                </a:cubicBezTo>
                <a:lnTo>
                  <a:pt x="4983212" y="2665666"/>
                </a:lnTo>
                <a:lnTo>
                  <a:pt x="4968234" y="2715895"/>
                </a:lnTo>
                <a:lnTo>
                  <a:pt x="4975888" y="2725052"/>
                </a:lnTo>
                <a:lnTo>
                  <a:pt x="4980195" y="2726489"/>
                </a:lnTo>
                <a:lnTo>
                  <a:pt x="4976218" y="2740278"/>
                </a:lnTo>
                <a:lnTo>
                  <a:pt x="4980571" y="2751112"/>
                </a:lnTo>
                <a:lnTo>
                  <a:pt x="4973893" y="2760208"/>
                </a:lnTo>
                <a:lnTo>
                  <a:pt x="4979005" y="2790136"/>
                </a:lnTo>
                <a:lnTo>
                  <a:pt x="4986137" y="2804183"/>
                </a:lnTo>
                <a:cubicBezTo>
                  <a:pt x="4986150" y="2811409"/>
                  <a:pt x="4986162" y="2818634"/>
                  <a:pt x="4986175" y="2825860"/>
                </a:cubicBezTo>
                <a:cubicBezTo>
                  <a:pt x="4987474" y="2843788"/>
                  <a:pt x="4992871" y="2886513"/>
                  <a:pt x="4993936" y="2911749"/>
                </a:cubicBezTo>
                <a:cubicBezTo>
                  <a:pt x="4993313" y="2946689"/>
                  <a:pt x="4980300" y="2954448"/>
                  <a:pt x="4992563" y="2977278"/>
                </a:cubicBezTo>
                <a:cubicBezTo>
                  <a:pt x="4985688" y="2983455"/>
                  <a:pt x="4982051" y="2987749"/>
                  <a:pt x="4980516" y="2991092"/>
                </a:cubicBezTo>
                <a:cubicBezTo>
                  <a:pt x="4975910" y="3001119"/>
                  <a:pt x="4990216" y="3002537"/>
                  <a:pt x="4992801" y="3020247"/>
                </a:cubicBezTo>
                <a:cubicBezTo>
                  <a:pt x="4998517" y="3032637"/>
                  <a:pt x="5013148" y="3051512"/>
                  <a:pt x="5014805" y="3065434"/>
                </a:cubicBezTo>
                <a:cubicBezTo>
                  <a:pt x="4998836" y="3057428"/>
                  <a:pt x="5016840" y="3105196"/>
                  <a:pt x="5002733" y="3103777"/>
                </a:cubicBezTo>
                <a:cubicBezTo>
                  <a:pt x="5022381" y="3124610"/>
                  <a:pt x="4997365" y="3128169"/>
                  <a:pt x="5002941" y="3151828"/>
                </a:cubicBezTo>
                <a:cubicBezTo>
                  <a:pt x="5010264" y="3163902"/>
                  <a:pt x="5011356" y="3171780"/>
                  <a:pt x="5002883" y="3180546"/>
                </a:cubicBezTo>
                <a:cubicBezTo>
                  <a:pt x="5038586" y="3236545"/>
                  <a:pt x="5003723" y="3210316"/>
                  <a:pt x="5016711" y="3258677"/>
                </a:cubicBezTo>
                <a:lnTo>
                  <a:pt x="5017918" y="3262610"/>
                </a:lnTo>
                <a:lnTo>
                  <a:pt x="5011672" y="3277179"/>
                </a:lnTo>
                <a:lnTo>
                  <a:pt x="5009344" y="3278130"/>
                </a:lnTo>
                <a:lnTo>
                  <a:pt x="5026770" y="3325671"/>
                </a:lnTo>
                <a:lnTo>
                  <a:pt x="5024571" y="3332072"/>
                </a:lnTo>
                <a:lnTo>
                  <a:pt x="5041705" y="3362948"/>
                </a:lnTo>
                <a:lnTo>
                  <a:pt x="5047477" y="3378959"/>
                </a:lnTo>
                <a:lnTo>
                  <a:pt x="5060758" y="3407057"/>
                </a:lnTo>
                <a:lnTo>
                  <a:pt x="5058968" y="3409825"/>
                </a:lnTo>
                <a:lnTo>
                  <a:pt x="5062667" y="3415218"/>
                </a:lnTo>
                <a:lnTo>
                  <a:pt x="5060928" y="3419880"/>
                </a:lnTo>
                <a:lnTo>
                  <a:pt x="5062923" y="3424545"/>
                </a:lnTo>
                <a:cubicBezTo>
                  <a:pt x="5063537" y="3433967"/>
                  <a:pt x="5063494" y="3466028"/>
                  <a:pt x="5064623" y="3476412"/>
                </a:cubicBezTo>
                <a:lnTo>
                  <a:pt x="5069684" y="3486850"/>
                </a:lnTo>
                <a:lnTo>
                  <a:pt x="5063339" y="3496391"/>
                </a:lnTo>
                <a:lnTo>
                  <a:pt x="5070139" y="3531201"/>
                </a:lnTo>
                <a:lnTo>
                  <a:pt x="5079896" y="3542019"/>
                </a:lnTo>
                <a:lnTo>
                  <a:pt x="5087540" y="3552249"/>
                </a:lnTo>
                <a:lnTo>
                  <a:pt x="5087902" y="3553678"/>
                </a:lnTo>
                <a:lnTo>
                  <a:pt x="5091509" y="3568021"/>
                </a:lnTo>
                <a:lnTo>
                  <a:pt x="5091934" y="3569719"/>
                </a:lnTo>
                <a:lnTo>
                  <a:pt x="5089362" y="3586412"/>
                </a:lnTo>
                <a:lnTo>
                  <a:pt x="5092358" y="3597336"/>
                </a:lnTo>
                <a:lnTo>
                  <a:pt x="5084254" y="3606007"/>
                </a:lnTo>
                <a:cubicBezTo>
                  <a:pt x="5084262" y="3617747"/>
                  <a:pt x="5084273" y="3629488"/>
                  <a:pt x="5084281" y="3641228"/>
                </a:cubicBezTo>
                <a:lnTo>
                  <a:pt x="5091848" y="3653088"/>
                </a:lnTo>
                <a:lnTo>
                  <a:pt x="5097436" y="3664114"/>
                </a:lnTo>
                <a:cubicBezTo>
                  <a:pt x="5097463" y="3664599"/>
                  <a:pt x="5097491" y="3665084"/>
                  <a:pt x="5097518" y="3665569"/>
                </a:cubicBezTo>
                <a:cubicBezTo>
                  <a:pt x="5097915" y="3672776"/>
                  <a:pt x="5096966" y="3688591"/>
                  <a:pt x="5099829" y="3707357"/>
                </a:cubicBezTo>
                <a:cubicBezTo>
                  <a:pt x="5100505" y="3724716"/>
                  <a:pt x="5118078" y="3760234"/>
                  <a:pt x="5114696" y="3778166"/>
                </a:cubicBezTo>
                <a:cubicBezTo>
                  <a:pt x="5141627" y="3845122"/>
                  <a:pt x="5125427" y="3821305"/>
                  <a:pt x="5135379" y="3878222"/>
                </a:cubicBezTo>
                <a:cubicBezTo>
                  <a:pt x="5161519" y="3905047"/>
                  <a:pt x="5125417" y="4015047"/>
                  <a:pt x="5130138" y="4048117"/>
                </a:cubicBezTo>
                <a:cubicBezTo>
                  <a:pt x="5081804" y="4192084"/>
                  <a:pt x="5096262" y="4158987"/>
                  <a:pt x="5090040" y="4219510"/>
                </a:cubicBezTo>
                <a:cubicBezTo>
                  <a:pt x="5104553" y="4280033"/>
                  <a:pt x="5065380" y="4345686"/>
                  <a:pt x="5092812" y="4411258"/>
                </a:cubicBezTo>
                <a:cubicBezTo>
                  <a:pt x="5090630" y="4437329"/>
                  <a:pt x="5083878" y="4473140"/>
                  <a:pt x="5084599" y="4488531"/>
                </a:cubicBezTo>
                <a:cubicBezTo>
                  <a:pt x="5084423" y="4505410"/>
                  <a:pt x="5084248" y="4522289"/>
                  <a:pt x="5084072" y="4539168"/>
                </a:cubicBezTo>
                <a:cubicBezTo>
                  <a:pt x="5072114" y="4567830"/>
                  <a:pt x="5064305" y="4588197"/>
                  <a:pt x="5068936" y="4625153"/>
                </a:cubicBezTo>
                <a:cubicBezTo>
                  <a:pt x="5077433" y="4662889"/>
                  <a:pt x="5065899" y="4679357"/>
                  <a:pt x="5059114" y="4733115"/>
                </a:cubicBezTo>
                <a:cubicBezTo>
                  <a:pt x="5068687" y="4752352"/>
                  <a:pt x="5055370" y="4832308"/>
                  <a:pt x="5037209" y="4844323"/>
                </a:cubicBezTo>
                <a:cubicBezTo>
                  <a:pt x="5033444" y="4857054"/>
                  <a:pt x="5040194" y="4871554"/>
                  <a:pt x="5020638" y="4877992"/>
                </a:cubicBezTo>
                <a:cubicBezTo>
                  <a:pt x="4997151" y="4888353"/>
                  <a:pt x="5034418" y="4931200"/>
                  <a:pt x="5006413" y="4925805"/>
                </a:cubicBezTo>
                <a:cubicBezTo>
                  <a:pt x="5031964" y="4956261"/>
                  <a:pt x="4982840" y="4982633"/>
                  <a:pt x="4971037" y="5009272"/>
                </a:cubicBezTo>
                <a:cubicBezTo>
                  <a:pt x="4973259" y="5034036"/>
                  <a:pt x="4968375" y="5053859"/>
                  <a:pt x="4963105" y="5111369"/>
                </a:cubicBezTo>
                <a:cubicBezTo>
                  <a:pt x="4973224" y="5141336"/>
                  <a:pt x="4937413" y="5161742"/>
                  <a:pt x="4976341" y="5210876"/>
                </a:cubicBezTo>
                <a:cubicBezTo>
                  <a:pt x="4972455" y="5212581"/>
                  <a:pt x="4977054" y="5227501"/>
                  <a:pt x="4980617" y="5269726"/>
                </a:cubicBezTo>
                <a:cubicBezTo>
                  <a:pt x="4984182" y="5311951"/>
                  <a:pt x="4990390" y="5400671"/>
                  <a:pt x="4997733" y="5464225"/>
                </a:cubicBezTo>
                <a:cubicBezTo>
                  <a:pt x="5001765" y="5536542"/>
                  <a:pt x="4990225" y="5517959"/>
                  <a:pt x="5001400" y="5594585"/>
                </a:cubicBezTo>
                <a:cubicBezTo>
                  <a:pt x="4999908" y="5619318"/>
                  <a:pt x="4974042" y="5647975"/>
                  <a:pt x="4983700" y="5667896"/>
                </a:cubicBezTo>
                <a:cubicBezTo>
                  <a:pt x="4976834" y="5696311"/>
                  <a:pt x="4975579" y="5738356"/>
                  <a:pt x="4968506" y="5769225"/>
                </a:cubicBezTo>
                <a:cubicBezTo>
                  <a:pt x="4968926" y="5787258"/>
                  <a:pt x="4969344" y="5805291"/>
                  <a:pt x="4969765" y="5823324"/>
                </a:cubicBezTo>
                <a:cubicBezTo>
                  <a:pt x="4966122" y="5853058"/>
                  <a:pt x="4965608" y="5838948"/>
                  <a:pt x="4966129" y="5862699"/>
                </a:cubicBezTo>
                <a:lnTo>
                  <a:pt x="4970695" y="5906467"/>
                </a:lnTo>
                <a:lnTo>
                  <a:pt x="4991568" y="5939847"/>
                </a:lnTo>
                <a:cubicBezTo>
                  <a:pt x="4998848" y="5955713"/>
                  <a:pt x="4974731" y="5940131"/>
                  <a:pt x="4986815" y="5973994"/>
                </a:cubicBezTo>
                <a:cubicBezTo>
                  <a:pt x="4961187" y="5997051"/>
                  <a:pt x="4983444" y="6032039"/>
                  <a:pt x="4987776" y="6089693"/>
                </a:cubicBezTo>
                <a:lnTo>
                  <a:pt x="4991621" y="6224938"/>
                </a:lnTo>
                <a:cubicBezTo>
                  <a:pt x="4988442" y="6270972"/>
                  <a:pt x="5008962" y="6317522"/>
                  <a:pt x="5017157" y="6370251"/>
                </a:cubicBezTo>
                <a:cubicBezTo>
                  <a:pt x="5025353" y="6422980"/>
                  <a:pt x="5039938" y="6490855"/>
                  <a:pt x="5040797" y="6541313"/>
                </a:cubicBezTo>
                <a:cubicBezTo>
                  <a:pt x="5039898" y="6576319"/>
                  <a:pt x="5031912" y="6591883"/>
                  <a:pt x="5045375" y="6640957"/>
                </a:cubicBezTo>
                <a:cubicBezTo>
                  <a:pt x="5057505" y="6669536"/>
                  <a:pt x="5052276" y="6675394"/>
                  <a:pt x="5058442" y="6705297"/>
                </a:cubicBezTo>
                <a:cubicBezTo>
                  <a:pt x="5057367" y="6727133"/>
                  <a:pt x="5067901" y="6732087"/>
                  <a:pt x="5071125" y="6759582"/>
                </a:cubicBezTo>
                <a:cubicBezTo>
                  <a:pt x="5055614" y="6796071"/>
                  <a:pt x="5051656" y="6769544"/>
                  <a:pt x="5069172" y="6817746"/>
                </a:cubicBezTo>
                <a:cubicBezTo>
                  <a:pt x="5060956" y="6828354"/>
                  <a:pt x="5064525" y="6836369"/>
                  <a:pt x="5072322" y="6843646"/>
                </a:cubicBezTo>
                <a:lnTo>
                  <a:pt x="5091388" y="6857998"/>
                </a:lnTo>
                <a:lnTo>
                  <a:pt x="6096000" y="6857998"/>
                </a:lnTo>
                <a:lnTo>
                  <a:pt x="6096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CE5504-5476-50E1-7AAF-3C5E510D8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9600"/>
            <a:ext cx="9605303" cy="1330839"/>
          </a:xfrm>
        </p:spPr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SQL Server Performance Tuning Tools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2724B-90E2-3EA5-37A9-8457D0A9F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3612" y="1705272"/>
            <a:ext cx="9868056" cy="439741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1600" b="1" dirty="0"/>
              <a:t>SolarWinds Database Performance Analyzer (DPA):</a:t>
            </a:r>
            <a:r>
              <a:rPr lang="en-US" sz="1600" dirty="0"/>
              <a:t> Focuses on "Response Time Analysis" to pinpoint exactly where end-users are experiencing delays.</a:t>
            </a:r>
          </a:p>
          <a:p>
            <a:r>
              <a:rPr lang="en-US" sz="1600" b="1" dirty="0"/>
              <a:t>Redgate SQL Monitor:</a:t>
            </a:r>
            <a:r>
              <a:rPr lang="en-US" sz="1600" dirty="0"/>
              <a:t> An enterprise-grade tool known for its proactive alerting and ability to monitor hybrid (cloud and on-premises) environments in one view.</a:t>
            </a:r>
          </a:p>
          <a:p>
            <a:r>
              <a:rPr lang="en-US" sz="1600" b="1" dirty="0"/>
              <a:t>SQL Sentry:</a:t>
            </a:r>
            <a:r>
              <a:rPr lang="en-US" sz="1600" dirty="0"/>
              <a:t> Provides deep visibility into query performance and includes the Plan Explorer tool for advanced query plan analysis.</a:t>
            </a:r>
          </a:p>
          <a:p>
            <a:r>
              <a:rPr lang="en-US" sz="1600" dirty="0">
                <a:hlinkClick r:id="rId2"/>
              </a:rPr>
              <a:t>Quest </a:t>
            </a:r>
            <a:r>
              <a:rPr lang="en-US" sz="1600" dirty="0" err="1">
                <a:hlinkClick r:id="rId2"/>
              </a:rPr>
              <a:t>Foglight</a:t>
            </a:r>
            <a:r>
              <a:rPr lang="en-US" sz="1600" b="1" dirty="0"/>
              <a:t>:</a:t>
            </a:r>
            <a:r>
              <a:rPr lang="en-US" sz="1600" dirty="0"/>
              <a:t> Offers real-time and historical diagnostics across multiple database platforms from a single console.</a:t>
            </a:r>
          </a:p>
          <a:p>
            <a:r>
              <a:rPr lang="en-US" sz="1600" b="1" dirty="0" err="1"/>
              <a:t>Idera</a:t>
            </a:r>
            <a:r>
              <a:rPr lang="en-US" sz="1600" b="1" dirty="0"/>
              <a:t> SQL Diagnostic Manager:</a:t>
            </a:r>
            <a:r>
              <a:rPr lang="en-US" sz="1600" dirty="0"/>
              <a:t> Focuses on predictive alerting and cross-tier visibility, monitoring everything from the SQL engine to the underlying OS and storage. </a:t>
            </a:r>
          </a:p>
        </p:txBody>
      </p:sp>
    </p:spTree>
    <p:extLst>
      <p:ext uri="{BB962C8B-B14F-4D97-AF65-F5344CB8AC3E}">
        <p14:creationId xmlns:p14="http://schemas.microsoft.com/office/powerpoint/2010/main" val="2562354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275002-1ED1-EFB6-B864-C7DA683F5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770" y="5748"/>
            <a:ext cx="10068156" cy="1417105"/>
          </a:xfrm>
        </p:spPr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Azure SQL Performance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93B46-87CE-FCD3-578C-CC70F36DF6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033" y="1421985"/>
            <a:ext cx="7939234" cy="4794791"/>
          </a:xfrm>
        </p:spPr>
        <p:txBody>
          <a:bodyPr vert="horz" lIns="91440" tIns="45720" rIns="91440" bIns="45720" rtlCol="0" anchor="t">
            <a:noAutofit/>
          </a:bodyPr>
          <a:lstStyle/>
          <a:p>
            <a:endParaRPr lang="en-US" b="1" dirty="0"/>
          </a:p>
          <a:p>
            <a:r>
              <a:rPr lang="en-US" sz="1600" dirty="0"/>
              <a:t>Azure SQL performance monitoring involves tracking resource utilization, identifying query bottlenecks, and applying intelligent tuning recommendations through a variety of built-in and integrated tools. </a:t>
            </a:r>
          </a:p>
          <a:p>
            <a:endParaRPr lang="en-US" sz="1600" dirty="0">
              <a:highlight>
                <a:srgbClr val="1F1F1F"/>
              </a:highlight>
              <a:latin typeface="Segoe UI"/>
              <a:ea typeface="Calibri"/>
              <a:cs typeface="Segoe UI"/>
            </a:endParaRPr>
          </a:p>
          <a:p>
            <a:r>
              <a:rPr lang="en-US" sz="1600" b="1" dirty="0"/>
              <a:t>Azure Monitor:</a:t>
            </a:r>
            <a:r>
              <a:rPr lang="en-US" sz="1600" dirty="0"/>
              <a:t> The primary hub for viewing real-time metrics such as CPU percentage, DTU usage, and storage consumption. You can use the Azure Metrics Explorer to create custom charts and pin them to dashboards.</a:t>
            </a:r>
          </a:p>
          <a:p>
            <a:r>
              <a:rPr lang="en-US" sz="1600" dirty="0">
                <a:hlinkClick r:id="rId2"/>
              </a:rPr>
              <a:t>Database Watcher (Preview)</a:t>
            </a:r>
            <a:r>
              <a:rPr lang="en-US" sz="1600" b="1" dirty="0"/>
              <a:t>:</a:t>
            </a:r>
            <a:r>
              <a:rPr lang="en-US" sz="1600" dirty="0"/>
              <a:t> A managed monitoring solution that provides in-depth dashboards across your entire Azure SQL estate. It collects data from over 70 catalog and dynamic management views into a central Azure Data Explorer store.</a:t>
            </a:r>
          </a:p>
          <a:p>
            <a:r>
              <a:rPr lang="en-US" sz="1600" dirty="0">
                <a:hlinkClick r:id="rId3"/>
              </a:rPr>
              <a:t>Query Performance Insight</a:t>
            </a:r>
            <a:r>
              <a:rPr lang="en-US" sz="1600" b="1" dirty="0"/>
              <a:t>:</a:t>
            </a:r>
            <a:r>
              <a:rPr lang="en-US" sz="1600" dirty="0"/>
              <a:t> Visualizes the top resource-consuming queries by CPU, duration, and execution count. It relies on </a:t>
            </a:r>
            <a:r>
              <a:rPr lang="en-US" sz="1600" dirty="0">
                <a:hlinkClick r:id="rId4"/>
              </a:rPr>
              <a:t>Query Store</a:t>
            </a:r>
            <a:r>
              <a:rPr lang="en-US" sz="1600" dirty="0"/>
              <a:t> data to identify problematic SQL statements</a:t>
            </a:r>
          </a:p>
          <a:p>
            <a:endParaRPr lang="en-US" sz="1600" dirty="0">
              <a:highlight>
                <a:srgbClr val="1F1F1F"/>
              </a:highlight>
              <a:latin typeface="Segoe UI"/>
              <a:ea typeface="Calibri"/>
              <a:cs typeface="Segoe UI"/>
            </a:endParaRPr>
          </a:p>
        </p:txBody>
      </p:sp>
      <p:pic>
        <p:nvPicPr>
          <p:cNvPr id="28" name="Graphic 27" descr="Database">
            <a:extLst>
              <a:ext uri="{FF2B5EF4-FFF2-40B4-BE49-F238E27FC236}">
                <a16:creationId xmlns:a16="http://schemas.microsoft.com/office/drawing/2014/main" id="{CCBC0961-34A1-EB79-116D-76876B831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36084" y="1814516"/>
            <a:ext cx="3755915" cy="3755915"/>
          </a:xfrm>
          <a:prstGeom prst="rect">
            <a:avLst/>
          </a:prstGeom>
        </p:spPr>
      </p:pic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16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BE521-14AE-1695-9722-084088DF9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Azure SQL Performance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C8CF4-AF75-D5DF-DB24-0B15E25B9D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900" dirty="0">
                <a:hlinkClick r:id="rId2"/>
              </a:rPr>
              <a:t>Database Advisors</a:t>
            </a:r>
            <a:r>
              <a:rPr lang="en-US" sz="1900" b="1" dirty="0"/>
              <a:t>:</a:t>
            </a:r>
            <a:r>
              <a:rPr lang="en-US" sz="1900" dirty="0"/>
              <a:t> Automatically identifies missing indexes, redundant indexes, and query parameterization opportunities based on workload patterns.</a:t>
            </a:r>
          </a:p>
          <a:p>
            <a:r>
              <a:rPr lang="en-US" sz="1900" dirty="0">
                <a:hlinkClick r:id="rId3"/>
              </a:rPr>
              <a:t>Automatic Tuning</a:t>
            </a:r>
            <a:r>
              <a:rPr lang="en-US" sz="1900" b="1" dirty="0"/>
              <a:t>:</a:t>
            </a:r>
            <a:r>
              <a:rPr lang="en-US" sz="1900" dirty="0"/>
              <a:t> Can be enabled to automatically implement advisor recommendations, such as forcing the last known good query plan if a regression is detected.</a:t>
            </a:r>
          </a:p>
          <a:p>
            <a:r>
              <a:rPr lang="en-US" sz="1900" b="1" dirty="0"/>
              <a:t>Intelligent Insights:</a:t>
            </a:r>
            <a:r>
              <a:rPr lang="en-US" sz="1900" dirty="0"/>
              <a:t> Uses AI to detect disruptive events causing poor performance and generates logs with root cause analysis and mitigation steps. </a:t>
            </a:r>
          </a:p>
          <a:p>
            <a:endParaRPr lang="en-US" sz="1900" dirty="0"/>
          </a:p>
          <a:p>
            <a:r>
              <a:rPr lang="en-US" sz="1900" b="1" dirty="0"/>
              <a:t>Dynamic Management Views (DMVs):</a:t>
            </a:r>
            <a:r>
              <a:rPr lang="en-US" sz="1900" dirty="0"/>
              <a:t> T-SQL system views like </a:t>
            </a:r>
            <a:r>
              <a:rPr lang="en-US" sz="1900" dirty="0" err="1"/>
              <a:t>sys.dm_db_resource_stats</a:t>
            </a:r>
            <a:r>
              <a:rPr lang="en-US" sz="1900" dirty="0"/>
              <a:t> provide near real-time and historical performance data for custom scripting and deep troubleshooting.</a:t>
            </a:r>
          </a:p>
          <a:p>
            <a:r>
              <a:rPr lang="en-US" sz="1900" b="1" dirty="0"/>
              <a:t>Extended Events:</a:t>
            </a:r>
            <a:r>
              <a:rPr lang="en-US" sz="1900" dirty="0"/>
              <a:t> A lightweight tracing tool used for capturing specific events like deadlocks or connection issues, which can be stored in Azure Blob Storage.</a:t>
            </a:r>
          </a:p>
          <a:p>
            <a:r>
              <a:rPr lang="en-US" sz="1900" b="1" dirty="0"/>
              <a:t>Diagnostic Settings:</a:t>
            </a:r>
            <a:r>
              <a:rPr lang="en-US" sz="1900" dirty="0"/>
              <a:t> Enable the streaming of </a:t>
            </a:r>
            <a:r>
              <a:rPr lang="en-US" sz="1900" dirty="0" err="1"/>
              <a:t>SQLInsights</a:t>
            </a:r>
            <a:r>
              <a:rPr lang="en-US" sz="1900" dirty="0"/>
              <a:t> logs to a Log Analytics workspace for long-term retention and advanced KQL (Kusto Query Language) analysis. 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19536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B950E-C0A1-C9BF-2502-54EA9A095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Wrap Up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92360-20AC-B4B9-E6D4-F21EB8C73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SQL Server Performance Monitoring</a:t>
            </a:r>
            <a:endParaRPr lang="en-US" dirty="0"/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Server Database Management Views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Server Performance Tuning Tools</a:t>
            </a:r>
          </a:p>
          <a:p>
            <a:pPr marL="0" indent="0">
              <a:buNone/>
            </a:pPr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 Azure SQL Performance Tuning</a:t>
            </a:r>
          </a:p>
        </p:txBody>
      </p:sp>
    </p:spTree>
    <p:extLst>
      <p:ext uri="{BB962C8B-B14F-4D97-AF65-F5344CB8AC3E}">
        <p14:creationId xmlns:p14="http://schemas.microsoft.com/office/powerpoint/2010/main" val="81615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344</TotalTime>
  <Words>1307</Words>
  <Application>Microsoft Office PowerPoint</Application>
  <PresentationFormat>Widescreen</PresentationFormat>
  <Paragraphs>91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Segoe UI</vt:lpstr>
      <vt:lpstr>Office 2013 - 2022 Theme</vt:lpstr>
      <vt:lpstr>SQL Server Administration &amp; Azure Data Engineering</vt:lpstr>
      <vt:lpstr>Agenda</vt:lpstr>
      <vt:lpstr>SQL Server Performance Monitoring</vt:lpstr>
      <vt:lpstr>SQL Server Performance Monitoring Metrics</vt:lpstr>
      <vt:lpstr>SQL Server Poor Performance</vt:lpstr>
      <vt:lpstr>SQL Server Poor Performance</vt:lpstr>
      <vt:lpstr>SQL Server Dynamic Management View</vt:lpstr>
      <vt:lpstr>SQL Server Database Tuning Advisor</vt:lpstr>
      <vt:lpstr>SQL Server Performance Tuning Tools </vt:lpstr>
      <vt:lpstr>SQL Server Performance Tuning Tools</vt:lpstr>
      <vt:lpstr>Azure SQL Performance Tuning</vt:lpstr>
      <vt:lpstr>Azure SQL Performance Tuning</vt:lpstr>
      <vt:lpstr>Wrap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Anindita Basak</dc:creator>
  <cp:lastModifiedBy>Anindita Basak</cp:lastModifiedBy>
  <cp:revision>568</cp:revision>
  <dcterms:created xsi:type="dcterms:W3CDTF">2026-04-11T17:33:10Z</dcterms:created>
  <dcterms:modified xsi:type="dcterms:W3CDTF">2026-04-18T17:19:56Z</dcterms:modified>
</cp:coreProperties>
</file>