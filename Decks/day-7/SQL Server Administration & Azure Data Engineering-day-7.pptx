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3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9" r:id="rId12"/>
    <p:sldId id="284" r:id="rId13"/>
    <p:sldId id="28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40EAC-CC0A-5485-BCEE-37BDB29D673B}" v="625" dt="2026-04-12T15:19:31.891"/>
    <p1510:client id="{126C75FD-9A41-3249-608E-772329B48536}" v="830" dt="2026-04-14T10:02:26.744"/>
    <p1510:client id="{22D66706-7690-ACC8-E32C-921547D31D47}" v="2" dt="2026-04-13T12:37:38.606"/>
    <p1510:client id="{44FD2894-0480-9C1E-A647-D0E7979760DA}" v="446" dt="2026-04-13T16:01:21.507"/>
    <p1510:client id="{8E12EF59-2A41-92D6-385B-F56135F5B8D7}" v="210" dt="2026-04-12T17:52:18.371"/>
    <p1510:client id="{9927AD77-2696-5238-F9B1-88B863DA5C57}" v="278" dt="2026-04-14T09:47:33.089"/>
    <p1510:client id="{E5DF0B76-E98F-2D85-D1E5-931E795B41E8}" v="1505" dt="2026-04-12T17:04:41.141"/>
    <p1510:client id="{E896230E-595A-DF97-A919-F4C2974567C3}" v="185" dt="2026-04-13T15:16:48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23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2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3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6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6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4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oubleshoot/sql/database-engine/performance/troubleshoot-entire-sqlserver-slow" TargetMode="External"/><Relationship Id="rId2" Type="http://schemas.openxmlformats.org/officeDocument/2006/relationships/hyperlink" Target="https://learn.microsoft.com/en-us/troubleshoot/sql/database-engine/performance/troubleshoot-high-cpu-usage-issue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nswers/questions/1350787/how-to-identify-slow-running-queries-in-sql-serve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sql/relational-databases/performance/tune-performance-with-the-query-store?view=sql-server-ver17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quest.com/products/foglight-for-sql-server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zure-sql/database/query-performance-insight-use?view=azuresql" TargetMode="External"/><Relationship Id="rId2" Type="http://schemas.openxmlformats.org/officeDocument/2006/relationships/hyperlink" Target="https://learn.microsoft.com/en-us/azure/azure-sql/database-watcher-overview?view=azuresq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hyperlink" Target="https://learn.microsoft.com/en-us/sql/relational-databases/performance/monitoring-performance-by-using-the-query-store?view=sql-server-ver17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zure-sql/database/monitor-tune-overview?view=azuresql" TargetMode="External"/><Relationship Id="rId2" Type="http://schemas.openxmlformats.org/officeDocument/2006/relationships/hyperlink" Target="https://learn.microsoft.com/en-us/azure/azure-sql/database/database-advisor-implement-performance-recommendations?view=azuresq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670B7-BE47-7E35-0D27-0BAB2C56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219B7A-2A46-EAB6-DB28-580FA3519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BC140-2EEB-8EEA-E87E-6A111266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6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Graphic 1">
            <a:extLst>
              <a:ext uri="{FF2B5EF4-FFF2-40B4-BE49-F238E27FC236}">
                <a16:creationId xmlns:a16="http://schemas.microsoft.com/office/drawing/2014/main" id="{83B80ED1-C27B-6D48-B5D8-A825BB88C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9ED15-CDB1-785A-7695-72DF53472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en-US" sz="3700"/>
              <a:t>SQL Server Administration &amp; Azure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7AC54-0FE9-0C64-0851-2225707E0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Day 7</a:t>
            </a:r>
          </a:p>
        </p:txBody>
      </p:sp>
    </p:spTree>
    <p:extLst>
      <p:ext uri="{BB962C8B-B14F-4D97-AF65-F5344CB8AC3E}">
        <p14:creationId xmlns:p14="http://schemas.microsoft.com/office/powerpoint/2010/main" val="20063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BB31E-A9BD-D8C3-F865-874E07BC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Agenda</a:t>
            </a:r>
          </a:p>
        </p:txBody>
      </p:sp>
      <p:pic>
        <p:nvPicPr>
          <p:cNvPr id="22" name="Picture 21" descr="Computer script on a screen">
            <a:extLst>
              <a:ext uri="{FF2B5EF4-FFF2-40B4-BE49-F238E27FC236}">
                <a16:creationId xmlns:a16="http://schemas.microsoft.com/office/drawing/2014/main" id="{E3E24C0B-1BDE-A4F0-4482-865C265AC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882D-3313-EA10-DF38-9C2AAE0C7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49756"/>
            <a:ext cx="6251110" cy="34407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SQL Server Performance Monitoring</a:t>
            </a:r>
          </a:p>
          <a:p>
            <a:r>
              <a:rPr lang="en-US" sz="2200" dirty="0"/>
              <a:t>SQL Server Dynamic Management Views</a:t>
            </a:r>
            <a:endParaRPr lang="en-US" dirty="0"/>
          </a:p>
          <a:p>
            <a:r>
              <a:rPr lang="en-US" sz="2200" dirty="0"/>
              <a:t>SQL Server Database tuning Advisor</a:t>
            </a:r>
            <a:endParaRPr lang="en-US" dirty="0"/>
          </a:p>
          <a:p>
            <a:r>
              <a:rPr lang="en-US" sz="2200" dirty="0"/>
              <a:t>SQL Server Performance Tuning Tools</a:t>
            </a:r>
          </a:p>
          <a:p>
            <a:r>
              <a:rPr lang="en-US" sz="2200" dirty="0"/>
              <a:t>Azure SQL Performance Monitoring</a:t>
            </a:r>
          </a:p>
        </p:txBody>
      </p:sp>
    </p:spTree>
    <p:extLst>
      <p:ext uri="{BB962C8B-B14F-4D97-AF65-F5344CB8AC3E}">
        <p14:creationId xmlns:p14="http://schemas.microsoft.com/office/powerpoint/2010/main" val="197987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1CD0A-13AF-6BEA-32F0-04CE9D993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SQL Server Performance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A21EC-EC3E-D0FA-CDB9-B872137B1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478" y="1942935"/>
            <a:ext cx="10202591" cy="4355200"/>
          </a:xfrm>
        </p:spPr>
        <p:txBody>
          <a:bodyPr anchor="ctr">
            <a:normAutofit/>
          </a:bodyPr>
          <a:lstStyle/>
          <a:p>
            <a:r>
              <a:rPr lang="en-US" sz="1700" dirty="0"/>
              <a:t>Monitoring SQL Server performance involves a combination of observing high-level system resources (CPU, memory, disk) and deep-diving into internal database events and query efficiency.</a:t>
            </a:r>
          </a:p>
          <a:p>
            <a:r>
              <a:rPr lang="en-US" sz="1700" dirty="0"/>
              <a:t> Effective monitoring helps establish performance baselines, identify bottlenecks early, and ensure high availability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D5AD4-9F36-F7A2-D973-EF701D964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SQL Server Performance Monitoring Metrics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ea typeface="Calibri Light"/>
              <a:cs typeface="Calibri Ligh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0775A7-30DF-6C72-DA61-EE240066B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453" y="1485454"/>
            <a:ext cx="6462214" cy="48239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0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5836F-94AA-AAEE-3F5E-FA2C4184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SQL Server Poor Performance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151C14-8131-CD79-D1B9-1D0B6ACD2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Initial Triage &amp; Infrastructure Checks- </a:t>
            </a:r>
          </a:p>
          <a:p>
            <a:r>
              <a:rPr lang="en-US" sz="1600" b="1" dirty="0"/>
              <a:t>Identify the Scope</a:t>
            </a:r>
            <a:r>
              <a:rPr lang="en-US" sz="1600" dirty="0"/>
              <a:t>: Determine if slowness affects a single query, a specific application, or the entire server.</a:t>
            </a:r>
          </a:p>
          <a:p>
            <a:r>
              <a:rPr lang="en-US" sz="1600" b="1" dirty="0"/>
              <a:t>Check the OS &amp; Resource Usage</a:t>
            </a:r>
            <a:r>
              <a:rPr lang="en-US" sz="1600" dirty="0"/>
              <a:t>: Use </a:t>
            </a:r>
            <a:r>
              <a:rPr lang="en-US" sz="1600" dirty="0">
                <a:hlinkClick r:id="rId2"/>
              </a:rPr>
              <a:t>Windows Task Manager</a:t>
            </a:r>
            <a:r>
              <a:rPr lang="en-US" sz="1600" dirty="0"/>
              <a:t> or </a:t>
            </a:r>
            <a:r>
              <a:rPr lang="en-US" sz="1600" dirty="0">
                <a:hlinkClick r:id="rId3"/>
              </a:rPr>
              <a:t>Performance Monitor (</a:t>
            </a:r>
            <a:r>
              <a:rPr lang="en-US" sz="1600" dirty="0" err="1">
                <a:hlinkClick r:id="rId3"/>
              </a:rPr>
              <a:t>Perfmon</a:t>
            </a:r>
            <a:r>
              <a:rPr lang="en-US" sz="1600" dirty="0">
                <a:hlinkClick r:id="rId3"/>
              </a:rPr>
              <a:t>)</a:t>
            </a:r>
            <a:r>
              <a:rPr lang="en-US" sz="1600" dirty="0"/>
              <a:t> to check for CPU, memory, and disk I/O saturation.</a:t>
            </a:r>
          </a:p>
          <a:p>
            <a:r>
              <a:rPr lang="en-US" sz="1600" b="1" dirty="0"/>
              <a:t>Power Plan</a:t>
            </a:r>
            <a:r>
              <a:rPr lang="en-US" sz="1600" dirty="0"/>
              <a:t>: Ensure the Windows power plan is set to </a:t>
            </a:r>
            <a:r>
              <a:rPr lang="en-US" sz="1600" b="1" dirty="0"/>
              <a:t>"High Performance"</a:t>
            </a:r>
            <a:r>
              <a:rPr lang="en-US" sz="1600" dirty="0"/>
              <a:t>; the default "Balanced" plan can throttle CPU speed.</a:t>
            </a:r>
          </a:p>
          <a:p>
            <a:r>
              <a:rPr lang="en-US" sz="1600" b="1" dirty="0"/>
              <a:t>Avoid Restarting</a:t>
            </a:r>
            <a:r>
              <a:rPr lang="en-US" sz="1600" dirty="0"/>
              <a:t>: Restarting clears the plan cache and diagnostic data, making it impossible to perform root-cause analysis on the current incident. </a:t>
            </a:r>
          </a:p>
          <a:p>
            <a:r>
              <a:rPr lang="en-US" b="1" dirty="0"/>
              <a:t>Identify Wait Types and Bottlenecks</a:t>
            </a:r>
          </a:p>
          <a:p>
            <a:r>
              <a:rPr lang="en-US" sz="1600" dirty="0"/>
              <a:t>SQL Server uses "Wait Stats" to tell you exactly what it is waiting for. Query </a:t>
            </a:r>
            <a:r>
              <a:rPr lang="en-US" sz="1600" dirty="0" err="1"/>
              <a:t>sys.dm_os_wait_stats</a:t>
            </a:r>
            <a:r>
              <a:rPr lang="en-US" sz="1600" dirty="0"/>
              <a:t> to find dominant wait 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01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595C4-11D6-B1AA-E07E-B83B85A1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>
                <a:ea typeface="Calibri Light"/>
                <a:cs typeface="Calibri Light"/>
              </a:rPr>
              <a:t>SQL Server Poor Performance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EB12F5DE-84BF-A3BA-AC20-78988ABF9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196943"/>
            <a:ext cx="10587098" cy="404201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300" dirty="0">
              <a:highlight>
                <a:srgbClr val="FFFFFF"/>
              </a:highlight>
            </a:endParaRPr>
          </a:p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</a:rPr>
              <a:t>Tune Slow Queries</a:t>
            </a:r>
          </a:p>
          <a:p>
            <a:r>
              <a:rPr lang="en-US" sz="1700" b="1" dirty="0"/>
              <a:t>Analyze Execution Plans</a:t>
            </a:r>
            <a:r>
              <a:rPr lang="en-US" sz="1700" dirty="0"/>
              <a:t>: Use </a:t>
            </a:r>
            <a:r>
              <a:rPr lang="en-US" sz="1700" dirty="0">
                <a:hlinkClick r:id="rId2"/>
              </a:rPr>
              <a:t>SQL Server Management Studio (SSMS)</a:t>
            </a:r>
            <a:r>
              <a:rPr lang="en-US" sz="1700" dirty="0"/>
              <a:t> to generate "Actual Execution Plans." Look for "Index Scan" (slow) vs "Index Seek" (fast) and warning icons.</a:t>
            </a:r>
          </a:p>
          <a:p>
            <a:r>
              <a:rPr lang="en-US" sz="1700" b="1" dirty="0"/>
              <a:t>Update Statistics</a:t>
            </a:r>
            <a:r>
              <a:rPr lang="en-US" sz="1700" dirty="0"/>
              <a:t>: Outdated statistics lead the query optimizer to choose inefficient plans. Use UPDATE STATISTICS [</a:t>
            </a:r>
            <a:r>
              <a:rPr lang="en-US" sz="1700" dirty="0" err="1"/>
              <a:t>TableName</a:t>
            </a:r>
            <a:r>
              <a:rPr lang="en-US" sz="1700" dirty="0"/>
              <a:t>] or </a:t>
            </a:r>
            <a:r>
              <a:rPr lang="en-US" sz="1700" dirty="0" err="1"/>
              <a:t>sp_updatestats</a:t>
            </a:r>
            <a:r>
              <a:rPr lang="en-US" sz="1700" dirty="0"/>
              <a:t>.</a:t>
            </a:r>
          </a:p>
          <a:p>
            <a:r>
              <a:rPr lang="en-US" sz="1700" b="1" dirty="0"/>
              <a:t>Missing Indexes</a:t>
            </a:r>
            <a:r>
              <a:rPr lang="en-US" sz="1700" dirty="0"/>
              <a:t>: Check SSMS execution plans for green text suggesting missing indexes, or query </a:t>
            </a:r>
            <a:r>
              <a:rPr lang="en-US" sz="1700" dirty="0" err="1"/>
              <a:t>sys.dm_db_missing_index_details</a:t>
            </a:r>
            <a:r>
              <a:rPr lang="en-US" sz="1700" dirty="0"/>
              <a:t>.</a:t>
            </a:r>
          </a:p>
          <a:p>
            <a:r>
              <a:rPr lang="en-US" sz="1700" b="1" dirty="0" err="1"/>
              <a:t>SARGability</a:t>
            </a:r>
            <a:r>
              <a:rPr lang="en-US" sz="1700" dirty="0"/>
              <a:t>: Avoid using functions on columns in WHERE clauses (e.g., WHERE YEAR(</a:t>
            </a:r>
            <a:r>
              <a:rPr lang="en-US" sz="1700" dirty="0" err="1"/>
              <a:t>DateCol</a:t>
            </a:r>
            <a:r>
              <a:rPr lang="en-US" sz="1700" dirty="0"/>
              <a:t>) = 2024), as this prevents the use of indexes</a:t>
            </a:r>
          </a:p>
          <a:p>
            <a:pPr marL="0" indent="0">
              <a:buNone/>
            </a:pP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8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0A08-4B1A-B8B0-4A32-998EA056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 Dynamic Management View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EABCE-4314-EE41-14B7-A041134C7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484" y="1523701"/>
            <a:ext cx="11076316" cy="46532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/>
              <a:t>Dynamic Management Views (DMVs) are system views in SQL Server that provide real-time insights into the health, performance, and internal operations of the database engine. </a:t>
            </a:r>
          </a:p>
          <a:p>
            <a:r>
              <a:rPr lang="en-US" sz="1700" dirty="0"/>
              <a:t>Introduced in SQL Server 2005, they are essential for database administrators (DBAs) to monitor activity, diagnose bottlenecks like high CPU or blocking, and optimize query performance. </a:t>
            </a:r>
          </a:p>
          <a:p>
            <a:endParaRPr lang="en-US" sz="1700" dirty="0"/>
          </a:p>
          <a:p>
            <a:r>
              <a:rPr lang="en-US" sz="1700" b="1" dirty="0"/>
              <a:t>Execution Related:</a:t>
            </a:r>
            <a:r>
              <a:rPr lang="en-US" sz="1700" dirty="0"/>
              <a:t> Monitor active queries and cached plans.</a:t>
            </a:r>
          </a:p>
          <a:p>
            <a:pPr lvl="1"/>
            <a:r>
              <a:rPr lang="en-US" sz="1700" dirty="0" err="1"/>
              <a:t>sys.dm_exec_requests</a:t>
            </a:r>
            <a:r>
              <a:rPr lang="en-US" sz="1700" dirty="0"/>
              <a:t>: Shows currently active requests, including their wait status and blocking information.</a:t>
            </a:r>
          </a:p>
          <a:p>
            <a:pPr lvl="1"/>
            <a:r>
              <a:rPr lang="en-US" sz="1700" dirty="0" err="1"/>
              <a:t>sys.dm_exec_sessions</a:t>
            </a:r>
            <a:r>
              <a:rPr lang="en-US" sz="1700" dirty="0"/>
              <a:t>: Provides details on all authenticated sessions.</a:t>
            </a:r>
          </a:p>
          <a:p>
            <a:pPr lvl="1"/>
            <a:r>
              <a:rPr lang="en-US" sz="1700" dirty="0" err="1"/>
              <a:t>sys.dm_exec_query_stats</a:t>
            </a:r>
            <a:r>
              <a:rPr lang="en-US" sz="1700" dirty="0"/>
              <a:t>: Aggregates performance statistics (CPU, duration, reads) for cached query plans.</a:t>
            </a:r>
          </a:p>
          <a:p>
            <a:r>
              <a:rPr lang="en-US" sz="1700" b="1" dirty="0"/>
              <a:t>Index Related:</a:t>
            </a:r>
            <a:r>
              <a:rPr lang="en-US" sz="1700" dirty="0"/>
              <a:t> Identify usage patterns and missing optimization opportunities.</a:t>
            </a:r>
          </a:p>
          <a:p>
            <a:pPr lvl="1"/>
            <a:r>
              <a:rPr lang="en-US" sz="1700" dirty="0" err="1"/>
              <a:t>sys.dm_db_index_usage_stats</a:t>
            </a:r>
            <a:r>
              <a:rPr lang="en-US" sz="1700" dirty="0"/>
              <a:t>: Tracks how many times each index has been used for seeks, scans, or updates.</a:t>
            </a:r>
          </a:p>
          <a:p>
            <a:pPr lvl="1"/>
            <a:r>
              <a:rPr lang="en-US" sz="1700" dirty="0" err="1"/>
              <a:t>sys.dm_db_missing_index_details</a:t>
            </a:r>
            <a:r>
              <a:rPr lang="en-US" sz="1700" dirty="0"/>
              <a:t>: Suggests new indexes that could improve performance for specific queries.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57166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2EE7-505B-D75C-41C9-2170C90E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Server Database Tuning Advisor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DC33-4756-BA4F-EDCD-D4E8AD68C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456"/>
            <a:ext cx="10515600" cy="462450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endParaRPr lang="en-US" sz="1600" dirty="0">
              <a:cs typeface="Calibri"/>
            </a:endParaRPr>
          </a:p>
          <a:p>
            <a:r>
              <a:rPr lang="en-US" sz="1700" dirty="0"/>
              <a:t>The SQL Server Database Engine Tuning Advisor (DTA) is an automated tool that analyzes the performance of a database workload and provides recommendations for improving query execution speed. It suggests physical design structures like indexes, indexed views, and partitioning strategies. </a:t>
            </a:r>
          </a:p>
          <a:p>
            <a:endParaRPr lang="en-US" sz="1700" dirty="0"/>
          </a:p>
          <a:p>
            <a:r>
              <a:rPr lang="en-US" sz="1700" b="1" dirty="0"/>
              <a:t>Performance Analysis</a:t>
            </a:r>
            <a:r>
              <a:rPr lang="en-US" sz="1700" dirty="0"/>
              <a:t>: Evaluates how queries are processed and identifies bottlenecks.</a:t>
            </a:r>
          </a:p>
          <a:p>
            <a:r>
              <a:rPr lang="en-US" sz="1700" b="1" dirty="0"/>
              <a:t>Recommendations</a:t>
            </a:r>
            <a:r>
              <a:rPr lang="en-US" sz="1700" dirty="0"/>
              <a:t>: Suggests specific clustered and non-clustered indexes, statistics, or horizontal partitioning.</a:t>
            </a:r>
          </a:p>
          <a:p>
            <a:r>
              <a:rPr lang="en-US" sz="1700" b="1" dirty="0"/>
              <a:t>Automation</a:t>
            </a:r>
            <a:r>
              <a:rPr lang="en-US" sz="1700" dirty="0"/>
              <a:t>: Generates T-SQL scripts to implement suggested changes immediately or at a scheduled time.</a:t>
            </a:r>
          </a:p>
          <a:p>
            <a:r>
              <a:rPr lang="en-US" sz="1700" b="1" dirty="0"/>
              <a:t>What-If Analysis</a:t>
            </a:r>
            <a:r>
              <a:rPr lang="en-US" sz="1700" dirty="0"/>
              <a:t>: Allows you to simulate physical design changes to see their potential impact without actually implementing them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863695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346FE-4E09-C356-AB28-CB782DAC4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24" y="-299924"/>
            <a:ext cx="10068156" cy="1330841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SQL Server Performance Tuning Tools 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165D8A-08CF-CF42-6207-7215267B1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221" y="762896"/>
            <a:ext cx="10735733" cy="5770811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700" b="1" dirty="0">
                <a:latin typeface="+mn-lt"/>
              </a:rPr>
              <a:t>Native Microsoft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700" dirty="0">
                <a:latin typeface="+mn-lt"/>
              </a:rPr>
              <a:t>These tools are built into SQL Server and SQL Server Management Studio (SSMS) and provide essential monitoring and analysis capabilities.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70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00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 Store</a:t>
            </a:r>
            <a:r>
              <a:rPr lang="en-US" altLang="en-US" sz="1700" dirty="0">
                <a:latin typeface="+mn-lt"/>
              </a:rPr>
              <a:t>: Automatically captures a history of queries, execution plans, and runtime statistics to help identify performance regressions.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0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00" dirty="0">
                <a:latin typeface="+mn-lt"/>
              </a:rPr>
              <a:t>Execution Plans: Graphical representations of how the SQL engine processes a query, highlighting inefficiencies like expensive table scans or missing indexes.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0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00" dirty="0">
                <a:latin typeface="+mn-lt"/>
              </a:rPr>
              <a:t>Database Engine Tuning Advisor (DTA): Analyzes query workloads and provides automated recommendations for creating or dropping indexes and partitions.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0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00" dirty="0">
                <a:latin typeface="+mn-lt"/>
              </a:rPr>
              <a:t>Activity Monitor: Provides real-time insights into active processes, resource waits, and the most resource-intensive queries currently running.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0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00" dirty="0">
                <a:latin typeface="+mn-lt"/>
              </a:rPr>
              <a:t>Extended Events (</a:t>
            </a:r>
            <a:r>
              <a:rPr lang="en-US" altLang="en-US" sz="1700" dirty="0" err="1">
                <a:latin typeface="+mn-lt"/>
              </a:rPr>
              <a:t>XEvents</a:t>
            </a:r>
            <a:r>
              <a:rPr lang="en-US" altLang="en-US" sz="1700" dirty="0">
                <a:latin typeface="+mn-lt"/>
              </a:rPr>
              <a:t>): A modern, lightweight tracing system that replaces the deprecated SQL Server Profiler for capturing detailed database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0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00" dirty="0">
                <a:latin typeface="+mn-lt"/>
              </a:rPr>
              <a:t>Dynamic Management Views (DMVs): System views that provide granular data on server health, such as </a:t>
            </a:r>
            <a:r>
              <a:rPr lang="en-US" altLang="en-US" sz="1700" dirty="0" err="1">
                <a:latin typeface="+mn-lt"/>
              </a:rPr>
              <a:t>sys.dm_exec_query_stats</a:t>
            </a:r>
            <a:r>
              <a:rPr lang="en-US" altLang="en-US" sz="1700" dirty="0">
                <a:latin typeface="+mn-lt"/>
              </a:rPr>
              <a:t> for query metrics and </a:t>
            </a:r>
            <a:r>
              <a:rPr lang="en-US" altLang="en-US" sz="1700" dirty="0" err="1">
                <a:latin typeface="+mn-lt"/>
              </a:rPr>
              <a:t>sys.dm_os_wait_stats</a:t>
            </a:r>
            <a:r>
              <a:rPr lang="en-US" altLang="en-US" sz="1700" dirty="0">
                <a:latin typeface="+mn-lt"/>
              </a:rPr>
              <a:t> for bottleneck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454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E5504-5476-50E1-7AAF-3C5E510D8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9605303" cy="1330839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SQL Server Performance Tuning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724B-90E2-3EA5-37A9-8457D0A9F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612" y="1705272"/>
            <a:ext cx="9868056" cy="43974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/>
              <a:t>SolarWinds Database Performance Analyzer (DPA):</a:t>
            </a:r>
            <a:r>
              <a:rPr lang="en-US" sz="1600" dirty="0"/>
              <a:t> Focuses on "Response Time Analysis" to pinpoint exactly where end-users are experiencing delays.</a:t>
            </a:r>
          </a:p>
          <a:p>
            <a:r>
              <a:rPr lang="en-US" sz="1600" b="1" dirty="0"/>
              <a:t>Redgate SQL Monitor:</a:t>
            </a:r>
            <a:r>
              <a:rPr lang="en-US" sz="1600" dirty="0"/>
              <a:t> An enterprise-grade tool known for its proactive alerting and ability to monitor hybrid (cloud and on-premises) environments in one view.</a:t>
            </a:r>
          </a:p>
          <a:p>
            <a:r>
              <a:rPr lang="en-US" sz="1600" b="1" dirty="0"/>
              <a:t>SQL Sentry:</a:t>
            </a:r>
            <a:r>
              <a:rPr lang="en-US" sz="1600" dirty="0"/>
              <a:t> Provides deep visibility into query performance and includes the Plan Explorer tool for advanced query plan analysis.</a:t>
            </a:r>
          </a:p>
          <a:p>
            <a:r>
              <a:rPr lang="en-US" sz="1600" dirty="0">
                <a:hlinkClick r:id="rId2"/>
              </a:rPr>
              <a:t>Quest </a:t>
            </a:r>
            <a:r>
              <a:rPr lang="en-US" sz="1600" dirty="0" err="1">
                <a:hlinkClick r:id="rId2"/>
              </a:rPr>
              <a:t>Foglight</a:t>
            </a:r>
            <a:r>
              <a:rPr lang="en-US" sz="1600" b="1" dirty="0"/>
              <a:t>:</a:t>
            </a:r>
            <a:r>
              <a:rPr lang="en-US" sz="1600" dirty="0"/>
              <a:t> Offers real-time and historical diagnostics across multiple database platforms from a single console.</a:t>
            </a:r>
          </a:p>
          <a:p>
            <a:r>
              <a:rPr lang="en-US" sz="1600" b="1" dirty="0" err="1"/>
              <a:t>Idera</a:t>
            </a:r>
            <a:r>
              <a:rPr lang="en-US" sz="1600" b="1" dirty="0"/>
              <a:t> SQL Diagnostic Manager:</a:t>
            </a:r>
            <a:r>
              <a:rPr lang="en-US" sz="1600" dirty="0"/>
              <a:t> Focuses on predictive alerting and cross-tier visibility, monitoring everything from the SQL engine to the underlying OS and storage. </a:t>
            </a:r>
          </a:p>
        </p:txBody>
      </p:sp>
    </p:spTree>
    <p:extLst>
      <p:ext uri="{BB962C8B-B14F-4D97-AF65-F5344CB8AC3E}">
        <p14:creationId xmlns:p14="http://schemas.microsoft.com/office/powerpoint/2010/main" val="2562354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75002-1ED1-EFB6-B864-C7DA683F5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770" y="5748"/>
            <a:ext cx="10068156" cy="1417105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Azure SQL Performance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93B46-87CE-FCD3-578C-CC70F36DF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3" y="1421985"/>
            <a:ext cx="7939234" cy="4794791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b="1" dirty="0"/>
          </a:p>
          <a:p>
            <a:r>
              <a:rPr lang="en-US" sz="1600" dirty="0"/>
              <a:t>Azure SQL performance monitoring involves tracking resource utilization, identifying query bottlenecks, and applying intelligent tuning recommendations through a variety of built-in and integrated tools. </a:t>
            </a:r>
          </a:p>
          <a:p>
            <a:endParaRPr lang="en-US" sz="1600" dirty="0">
              <a:highlight>
                <a:srgbClr val="1F1F1F"/>
              </a:highlight>
              <a:latin typeface="Segoe UI"/>
              <a:ea typeface="Calibri"/>
              <a:cs typeface="Segoe UI"/>
            </a:endParaRPr>
          </a:p>
          <a:p>
            <a:r>
              <a:rPr lang="en-US" sz="1600" b="1" dirty="0"/>
              <a:t>Azure Monitor:</a:t>
            </a:r>
            <a:r>
              <a:rPr lang="en-US" sz="1600" dirty="0"/>
              <a:t> The primary hub for viewing real-time metrics such as CPU percentage, DTU usage, and storage consumption. You can use the Azure Metrics Explorer to create custom charts and pin them to dashboards.</a:t>
            </a:r>
          </a:p>
          <a:p>
            <a:r>
              <a:rPr lang="en-US" sz="1600" dirty="0">
                <a:hlinkClick r:id="rId2"/>
              </a:rPr>
              <a:t>Database Watcher (Preview)</a:t>
            </a:r>
            <a:r>
              <a:rPr lang="en-US" sz="1600" b="1" dirty="0"/>
              <a:t>:</a:t>
            </a:r>
            <a:r>
              <a:rPr lang="en-US" sz="1600" dirty="0"/>
              <a:t> A managed monitoring solution that provides in-depth dashboards across your entire Azure SQL estate. It collects data from over 70 catalog and dynamic management views into a central Azure Data Explorer store.</a:t>
            </a:r>
          </a:p>
          <a:p>
            <a:r>
              <a:rPr lang="en-US" sz="1600" dirty="0">
                <a:hlinkClick r:id="rId3"/>
              </a:rPr>
              <a:t>Query Performance Insight</a:t>
            </a:r>
            <a:r>
              <a:rPr lang="en-US" sz="1600" b="1" dirty="0"/>
              <a:t>:</a:t>
            </a:r>
            <a:r>
              <a:rPr lang="en-US" sz="1600" dirty="0"/>
              <a:t> Visualizes the top resource-consuming queries by CPU, duration, and execution count. It relies on </a:t>
            </a:r>
            <a:r>
              <a:rPr lang="en-US" sz="1600" dirty="0">
                <a:hlinkClick r:id="rId4"/>
              </a:rPr>
              <a:t>Query Store</a:t>
            </a:r>
            <a:r>
              <a:rPr lang="en-US" sz="1600" dirty="0"/>
              <a:t> data to identify problematic SQL statements</a:t>
            </a:r>
          </a:p>
          <a:p>
            <a:endParaRPr lang="en-US" sz="1600" dirty="0">
              <a:highlight>
                <a:srgbClr val="1F1F1F"/>
              </a:highlight>
              <a:latin typeface="Segoe UI"/>
              <a:ea typeface="Calibri"/>
              <a:cs typeface="Segoe UI"/>
            </a:endParaRPr>
          </a:p>
        </p:txBody>
      </p:sp>
      <p:pic>
        <p:nvPicPr>
          <p:cNvPr id="28" name="Graphic 27" descr="Database">
            <a:extLst>
              <a:ext uri="{FF2B5EF4-FFF2-40B4-BE49-F238E27FC236}">
                <a16:creationId xmlns:a16="http://schemas.microsoft.com/office/drawing/2014/main" id="{CCBC0961-34A1-EB79-116D-76876B8319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6084" y="1814516"/>
            <a:ext cx="3755915" cy="3755915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16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E521-14AE-1695-9722-084088DF9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SQL Performance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C8CF4-AF75-D5DF-DB24-0B15E25B9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>
                <a:hlinkClick r:id="rId2"/>
              </a:rPr>
              <a:t>Database Advisors</a:t>
            </a:r>
            <a:r>
              <a:rPr lang="en-US" sz="1900" b="1" dirty="0"/>
              <a:t>:</a:t>
            </a:r>
            <a:r>
              <a:rPr lang="en-US" sz="1900" dirty="0"/>
              <a:t> Automatically identifies missing indexes, redundant indexes, and query parameterization opportunities based on workload patterns.</a:t>
            </a:r>
          </a:p>
          <a:p>
            <a:r>
              <a:rPr lang="en-US" sz="1900" dirty="0">
                <a:hlinkClick r:id="rId3"/>
              </a:rPr>
              <a:t>Automatic Tuning</a:t>
            </a:r>
            <a:r>
              <a:rPr lang="en-US" sz="1900" b="1" dirty="0"/>
              <a:t>:</a:t>
            </a:r>
            <a:r>
              <a:rPr lang="en-US" sz="1900" dirty="0"/>
              <a:t> Can be enabled to automatically implement advisor recommendations, such as forcing the last known good query plan if a regression is detected.</a:t>
            </a:r>
          </a:p>
          <a:p>
            <a:r>
              <a:rPr lang="en-US" sz="1900" b="1" dirty="0"/>
              <a:t>Intelligent Insights:</a:t>
            </a:r>
            <a:r>
              <a:rPr lang="en-US" sz="1900" dirty="0"/>
              <a:t> Uses AI to detect disruptive events causing poor performance and generates logs with root cause analysis and mitigation steps. </a:t>
            </a:r>
          </a:p>
          <a:p>
            <a:endParaRPr lang="en-US" sz="1900" dirty="0"/>
          </a:p>
          <a:p>
            <a:r>
              <a:rPr lang="en-US" sz="1900" b="1" dirty="0"/>
              <a:t>Dynamic Management Views (DMVs):</a:t>
            </a:r>
            <a:r>
              <a:rPr lang="en-US" sz="1900" dirty="0"/>
              <a:t> T-SQL system views like </a:t>
            </a:r>
            <a:r>
              <a:rPr lang="en-US" sz="1900" dirty="0" err="1"/>
              <a:t>sys.dm_db_resource_stats</a:t>
            </a:r>
            <a:r>
              <a:rPr lang="en-US" sz="1900" dirty="0"/>
              <a:t> provide near real-time and historical performance data for custom scripting and deep troubleshooting.</a:t>
            </a:r>
          </a:p>
          <a:p>
            <a:r>
              <a:rPr lang="en-US" sz="1900" b="1" dirty="0"/>
              <a:t>Extended Events:</a:t>
            </a:r>
            <a:r>
              <a:rPr lang="en-US" sz="1900" dirty="0"/>
              <a:t> A lightweight tracing tool used for capturing specific events like deadlocks or connection issues, which can be stored in Azure Blob Storage.</a:t>
            </a:r>
          </a:p>
          <a:p>
            <a:r>
              <a:rPr lang="en-US" sz="1900" b="1" dirty="0"/>
              <a:t>Diagnostic Settings:</a:t>
            </a:r>
            <a:r>
              <a:rPr lang="en-US" sz="1900" dirty="0"/>
              <a:t> Enable the streaming of </a:t>
            </a:r>
            <a:r>
              <a:rPr lang="en-US" sz="1900" dirty="0" err="1"/>
              <a:t>SQLInsights</a:t>
            </a:r>
            <a:r>
              <a:rPr lang="en-US" sz="1900" dirty="0"/>
              <a:t> logs to a Log Analytics workspace for long-term retention and advanced KQL (Kusto Query Language) analysis. 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19536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50E-C0A1-C9BF-2502-54EA9A09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Wrap 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2360-20AC-B4B9-E6D4-F21EB8C7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SQL Server Performance Monitoring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SQL Server Database Management Views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SQL Server Performance Tuning Tools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 Azure SQL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81615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344</TotalTime>
  <Words>1307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Office 2013 - 2022 Theme</vt:lpstr>
      <vt:lpstr>SQL Server Administration &amp; Azure Data Engineering</vt:lpstr>
      <vt:lpstr>Agenda</vt:lpstr>
      <vt:lpstr>SQL Server Performance Monitoring</vt:lpstr>
      <vt:lpstr>SQL Server Performance Monitoring Metrics</vt:lpstr>
      <vt:lpstr>SQL Server Poor Performance</vt:lpstr>
      <vt:lpstr>SQL Server Poor Performance</vt:lpstr>
      <vt:lpstr>SQL Server Dynamic Management View</vt:lpstr>
      <vt:lpstr>SQL Server Database Tuning Advisor</vt:lpstr>
      <vt:lpstr>SQL Server Performance Tuning Tools </vt:lpstr>
      <vt:lpstr>SQL Server Performance Tuning Tools</vt:lpstr>
      <vt:lpstr>Azure SQL Performance Tuning</vt:lpstr>
      <vt:lpstr>Azure SQL Performance Tuning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568</cp:revision>
  <dcterms:created xsi:type="dcterms:W3CDTF">2026-04-11T17:33:10Z</dcterms:created>
  <dcterms:modified xsi:type="dcterms:W3CDTF">2026-04-18T17:20:32Z</dcterms:modified>
</cp:coreProperties>
</file>