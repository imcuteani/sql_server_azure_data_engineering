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3" r:id="rId2"/>
    <p:sldId id="257" r:id="rId3"/>
    <p:sldId id="262" r:id="rId4"/>
    <p:sldId id="264" r:id="rId5"/>
    <p:sldId id="265" r:id="rId6"/>
    <p:sldId id="266" r:id="rId7"/>
    <p:sldId id="267" r:id="rId8"/>
    <p:sldId id="269" r:id="rId9"/>
    <p:sldId id="270" r:id="rId10"/>
    <p:sldId id="284" r:id="rId11"/>
    <p:sldId id="280" r:id="rId12"/>
    <p:sldId id="25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40EAC-CC0A-5485-BCEE-37BDB29D673B}" v="625" dt="2026-04-12T15:19:31.891"/>
    <p1510:client id="{126C75FD-9A41-3249-608E-772329B48536}" v="830" dt="2026-04-14T10:02:26.744"/>
    <p1510:client id="{22D66706-7690-ACC8-E32C-921547D31D47}" v="2" dt="2026-04-13T12:37:38.606"/>
    <p1510:client id="{44FD2894-0480-9C1E-A647-D0E7979760DA}" v="446" dt="2026-04-13T16:01:21.507"/>
    <p1510:client id="{8E12EF59-2A41-92D6-385B-F56135F5B8D7}" v="210" dt="2026-04-12T17:52:18.371"/>
    <p1510:client id="{9927AD77-2696-5238-F9B1-88B863DA5C57}" v="278" dt="2026-04-14T09:47:33.089"/>
    <p1510:client id="{E5DF0B76-E98F-2D85-D1E5-931E795B41E8}" v="1505" dt="2026-04-12T17:04:41.141"/>
    <p1510:client id="{E896230E-595A-DF97-A919-F4C2974567C3}" v="185" dt="2026-04-13T15:16:48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23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2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52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3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6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6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2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4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ssms/agent/implement-sql-server-agent-securit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670B7-BE47-7E35-0D27-0BAB2C56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219B7A-2A46-EAB6-DB28-580FA3519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BC140-2EEB-8EEA-E87E-6A111266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6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Graphic 1">
            <a:extLst>
              <a:ext uri="{FF2B5EF4-FFF2-40B4-BE49-F238E27FC236}">
                <a16:creationId xmlns:a16="http://schemas.microsoft.com/office/drawing/2014/main" id="{83B80ED1-C27B-6D48-B5D8-A825BB88C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9ED15-CDB1-785A-7695-72DF53472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lang="en-US" sz="3700"/>
              <a:t>SQL Server Administration &amp; Azure 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7AC54-0FE9-0C64-0851-2225707E0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Day 5</a:t>
            </a:r>
          </a:p>
        </p:txBody>
      </p:sp>
    </p:spTree>
    <p:extLst>
      <p:ext uri="{BB962C8B-B14F-4D97-AF65-F5344CB8AC3E}">
        <p14:creationId xmlns:p14="http://schemas.microsoft.com/office/powerpoint/2010/main" val="20063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BB31E-A9BD-D8C3-F865-874E07BC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Agenda</a:t>
            </a:r>
          </a:p>
        </p:txBody>
      </p:sp>
      <p:pic>
        <p:nvPicPr>
          <p:cNvPr id="22" name="Picture 21" descr="Computer script on a screen">
            <a:extLst>
              <a:ext uri="{FF2B5EF4-FFF2-40B4-BE49-F238E27FC236}">
                <a16:creationId xmlns:a16="http://schemas.microsoft.com/office/drawing/2014/main" id="{E3E24C0B-1BDE-A4F0-4482-865C265ACB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882D-3313-EA10-DF38-9C2AAE0C7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49756"/>
            <a:ext cx="6251110" cy="34407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SQL Server Agents Overview</a:t>
            </a:r>
            <a:endParaRPr lang="en-US" dirty="0"/>
          </a:p>
          <a:p>
            <a:r>
              <a:rPr lang="en-US" sz="2200" dirty="0"/>
              <a:t>SQL Server Agents Job</a:t>
            </a:r>
          </a:p>
          <a:p>
            <a:r>
              <a:rPr lang="en-US" sz="2200" dirty="0"/>
              <a:t>SQL Server Agents Schedules</a:t>
            </a:r>
            <a:endParaRPr lang="en-US" dirty="0"/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SQL Server Agents Alerts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SQL Server Agents Operator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SQL Server Agents Security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987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595C4-11D6-B1AA-E07E-B83B85A1C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>
                <a:ea typeface="Calibri Light"/>
                <a:cs typeface="Calibri Light"/>
              </a:rPr>
              <a:t>SQL Server Agents Overview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EB12F5DE-84BF-A3BA-AC20-78988ABF9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196943"/>
            <a:ext cx="10587098" cy="4042016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SQL Server Agent is a Microsoft Windows service that executes scheduled administrative tasks, known as jobs, in SQL Server and Azure SQL Managed Instance. </a:t>
            </a:r>
          </a:p>
          <a:p>
            <a:r>
              <a:rPr lang="en-US" sz="16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It is the primary tool for automating routine database management tasks, reducing manual effort and minimizing human error. </a:t>
            </a:r>
          </a:p>
          <a:p>
            <a:r>
              <a:rPr lang="en-US" sz="16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Automation: Common uses include database backups, log file maintenance, and index rebuilding.</a:t>
            </a:r>
          </a:p>
          <a:p>
            <a:r>
              <a:rPr lang="en-US" sz="16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Security Contexts: Uses proxies to allow job steps to run under a specific security credential with the </a:t>
            </a:r>
            <a:r>
              <a:rPr lang="en-US" sz="16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principle of least privilege</a:t>
            </a:r>
            <a:r>
              <a:rPr lang="en-US" sz="16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.</a:t>
            </a:r>
          </a:p>
          <a:p>
            <a:r>
              <a:rPr lang="en-US" sz="16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Permissions: For non-sysadmin users, access is controlled via three fixed database roles in the </a:t>
            </a:r>
            <a:r>
              <a:rPr lang="en-US" sz="1600" dirty="0" err="1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msdb</a:t>
            </a:r>
            <a:r>
              <a:rPr lang="en-US" sz="16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 database:</a:t>
            </a:r>
            <a:r>
              <a:rPr lang="en-US" sz="1600" b="1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en-US" sz="1600" b="1" dirty="0" err="1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SQLAgentUserRole</a:t>
            </a:r>
            <a:r>
              <a:rPr lang="en-US" sz="1600" b="1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, </a:t>
            </a:r>
            <a:r>
              <a:rPr lang="en-US" sz="1600" b="1" dirty="0" err="1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SQLAgentReaderRole</a:t>
            </a:r>
            <a:r>
              <a:rPr lang="en-US" sz="1600" b="1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, and </a:t>
            </a:r>
            <a:r>
              <a:rPr lang="en-US" sz="1600" b="1" dirty="0" err="1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SQLAgentOperatorRole</a:t>
            </a:r>
            <a:r>
              <a:rPr lang="en-US" sz="16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.</a:t>
            </a:r>
          </a:p>
          <a:p>
            <a:r>
              <a:rPr lang="en-US" sz="1600" dirty="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Azure Support: Supported in Azure SQL Managed Instance but not available in Azure SQL Database (which uses Elastic Jobs instead)</a:t>
            </a:r>
          </a:p>
          <a:p>
            <a:endParaRPr lang="en-US" sz="1600" dirty="0">
              <a:solidFill>
                <a:srgbClr val="0A0A0A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0" indent="0">
              <a:buNone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8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0A08-4B1A-B8B0-4A32-998EA056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Server Agents Job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EABCE-4314-EE41-14B7-A041134C7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484" y="1523701"/>
            <a:ext cx="11076316" cy="46532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/>
              <a:t>A </a:t>
            </a:r>
            <a:r>
              <a:rPr lang="en-US" sz="1600" i="1" dirty="0"/>
              <a:t>job</a:t>
            </a:r>
            <a:r>
              <a:rPr lang="en-US" sz="1600" dirty="0"/>
              <a:t> is a specified series of actions that SQL Server Agent performs. Use jobs to define an administrative task that can be run one or more times and monitored for success or failure. A job can run on one local server or on multiple remote servers.</a:t>
            </a:r>
            <a:endParaRPr lang="en-US" sz="1600" dirty="0">
              <a:ea typeface="Calibri"/>
              <a:cs typeface="Calibri"/>
            </a:endParaRPr>
          </a:p>
          <a:p>
            <a:r>
              <a:rPr lang="en-US" sz="1600" dirty="0"/>
              <a:t>You can run jobs in several ways:</a:t>
            </a:r>
          </a:p>
          <a:p>
            <a:r>
              <a:rPr lang="en-US" sz="1600" dirty="0"/>
              <a:t>According to one or more schedules.</a:t>
            </a:r>
          </a:p>
          <a:p>
            <a:r>
              <a:rPr lang="en-US" sz="1600" dirty="0"/>
              <a:t>In response to one or more alerts.</a:t>
            </a:r>
          </a:p>
          <a:p>
            <a:r>
              <a:rPr lang="en-US" sz="1600" dirty="0"/>
              <a:t>By executing the </a:t>
            </a:r>
            <a:r>
              <a:rPr lang="en-US" sz="1600" dirty="0" err="1"/>
              <a:t>sp_start_job</a:t>
            </a:r>
            <a:r>
              <a:rPr lang="en-US" sz="1600" dirty="0"/>
              <a:t> stored procedure.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Each action in a job is a job step. For example, a job step might consist of running a Transact-SQL statement, executing a SQL Server Integration Services (SSIS) package, or issuing a command to an Analysis Services server. Job steps are managed as part of a job.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Each job step runs in a specific security context. For job steps that use Transact-SQL, use the EXECUTE AS statement to set the security context for the job step. For other types of job steps, use a proxy account to set the security context for the job step.</a:t>
            </a:r>
          </a:p>
          <a:p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7166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2EE7-505B-D75C-41C9-2170C90E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Server Agents Schedules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DC33-4756-BA4F-EDCD-D4E8AD68C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456"/>
            <a:ext cx="10515600" cy="46245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highlight>
                  <a:srgbClr val="FFFFFF"/>
                </a:highlight>
              </a:rPr>
              <a:t>A </a:t>
            </a:r>
            <a:r>
              <a:rPr lang="en-US" sz="1600" i="1" dirty="0">
                <a:highlight>
                  <a:srgbClr val="FFFFFF"/>
                </a:highlight>
              </a:rPr>
              <a:t>schedule</a:t>
            </a:r>
            <a:r>
              <a:rPr lang="en-US" sz="1600" dirty="0">
                <a:highlight>
                  <a:srgbClr val="FFFFFF"/>
                </a:highlight>
              </a:rPr>
              <a:t> specifies when a job runs. More than one job can run on the same schedule, and more than one schedule can apply to the same job. A schedule can define the following conditions for the time when a job runs:</a:t>
            </a:r>
          </a:p>
          <a:p>
            <a:r>
              <a:rPr lang="en-US" sz="1600" dirty="0">
                <a:highlight>
                  <a:srgbClr val="FFFFFF"/>
                </a:highlight>
              </a:rPr>
              <a:t>Whenever SQL Server Agent starts.</a:t>
            </a:r>
          </a:p>
          <a:p>
            <a:r>
              <a:rPr lang="en-US" sz="1600" dirty="0">
                <a:highlight>
                  <a:srgbClr val="FFFFFF"/>
                </a:highlight>
              </a:rPr>
              <a:t>Whenever CPU utilization of the computer is at a level you defined as idle.</a:t>
            </a:r>
          </a:p>
          <a:p>
            <a:r>
              <a:rPr lang="en-US" sz="1600" dirty="0">
                <a:highlight>
                  <a:srgbClr val="FFFFFF"/>
                </a:highlight>
              </a:rPr>
              <a:t>One time, at a specific date and time.</a:t>
            </a:r>
          </a:p>
          <a:p>
            <a:r>
              <a:rPr lang="en-US" sz="1600" dirty="0">
                <a:highlight>
                  <a:srgbClr val="FFFFFF"/>
                </a:highlight>
              </a:rPr>
              <a:t>On a recurring schedule.</a:t>
            </a:r>
          </a:p>
          <a:p>
            <a:endParaRPr lang="en-US" sz="1600" dirty="0">
              <a:ea typeface="Calibri"/>
              <a:cs typeface="Calibri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6369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346FE-4E09-C356-AB28-CB782DAC4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10068156" cy="1330841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SQL Server Agent Alerts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04D52-8C50-848B-EB7F-1CE477320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9732249" cy="401841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q"/>
            </a:pPr>
            <a:endParaRPr lang="en-US" sz="2000" dirty="0">
              <a:ea typeface="Calibri"/>
              <a:cs typeface="Calibri"/>
            </a:endParaRPr>
          </a:p>
          <a:p>
            <a:r>
              <a:rPr lang="en-US" sz="2100" dirty="0">
                <a:highlight>
                  <a:srgbClr val="FFFFFF"/>
                </a:highlight>
              </a:rPr>
              <a:t>An alert is an automatic response to a specific event. For example, an event can be a job that starts or system resources that reach a specific threshold. You define the conditions under which an alert occurs.</a:t>
            </a:r>
          </a:p>
          <a:p>
            <a:r>
              <a:rPr lang="en-US" sz="2100" dirty="0">
                <a:highlight>
                  <a:srgbClr val="FFFFFF"/>
                </a:highlight>
              </a:rPr>
              <a:t>An alert can respond to one of the following conditions:</a:t>
            </a:r>
          </a:p>
          <a:p>
            <a:r>
              <a:rPr lang="en-US" sz="2100" dirty="0">
                <a:highlight>
                  <a:srgbClr val="FFFFFF"/>
                </a:highlight>
              </a:rPr>
              <a:t>SQL Server events</a:t>
            </a:r>
          </a:p>
          <a:p>
            <a:r>
              <a:rPr lang="en-US" sz="2100" dirty="0">
                <a:highlight>
                  <a:srgbClr val="FFFFFF"/>
                </a:highlight>
              </a:rPr>
              <a:t>SQL Server performance conditions</a:t>
            </a:r>
          </a:p>
          <a:p>
            <a:r>
              <a:rPr lang="en-US" sz="2100" dirty="0">
                <a:highlight>
                  <a:srgbClr val="FFFFFF"/>
                </a:highlight>
              </a:rPr>
              <a:t>Microsoft Windows Management Instrumentation (WMI) events on the computer where SQL Server Agent is running</a:t>
            </a:r>
          </a:p>
          <a:p>
            <a:r>
              <a:rPr lang="en-US" sz="2100" dirty="0">
                <a:highlight>
                  <a:srgbClr val="FFFFFF"/>
                </a:highlight>
              </a:rPr>
              <a:t>An alert can perform the following actions:</a:t>
            </a:r>
          </a:p>
          <a:p>
            <a:r>
              <a:rPr lang="en-US" sz="2100" dirty="0">
                <a:highlight>
                  <a:srgbClr val="FFFFFF"/>
                </a:highlight>
              </a:rPr>
              <a:t>Notify one or more operators</a:t>
            </a:r>
          </a:p>
          <a:p>
            <a:r>
              <a:rPr lang="en-US" sz="2100" dirty="0">
                <a:highlight>
                  <a:srgbClr val="FFFFFF"/>
                </a:highlight>
              </a:rPr>
              <a:t>Run a job</a:t>
            </a:r>
          </a:p>
          <a:p>
            <a:endParaRPr lang="en-US" sz="2000" dirty="0">
              <a:ea typeface="Calibri"/>
              <a:cs typeface="Calibri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54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E5504-5476-50E1-7AAF-3C5E510D8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9605303" cy="1330839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SQL Server Agents Operator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2724B-90E2-3EA5-37A9-8457D0A9F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612" y="1705272"/>
            <a:ext cx="9868056" cy="43974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/>
              <a:t>An </a:t>
            </a:r>
            <a:r>
              <a:rPr lang="en-US" sz="1600" i="1" dirty="0"/>
              <a:t>operator</a:t>
            </a:r>
            <a:r>
              <a:rPr lang="en-US" sz="1600" dirty="0"/>
              <a:t> defines contact information for an individual responsible for the maintenance of one or more instances of SQL Server. In some enterprises, operator responsibilities are assigned to one individual. </a:t>
            </a:r>
          </a:p>
          <a:p>
            <a:endParaRPr lang="en-US" sz="1600" dirty="0"/>
          </a:p>
          <a:p>
            <a:r>
              <a:rPr lang="en-US" sz="1600" dirty="0"/>
              <a:t>In enterprises with multiple servers, many individuals can share operator responsibilities. An operator doesn't contain security information, and doesn't define a security principal.</a:t>
            </a:r>
          </a:p>
          <a:p>
            <a:r>
              <a:rPr lang="en-US" sz="1600" dirty="0"/>
              <a:t>SQL Server can notify operators of alerts through:</a:t>
            </a:r>
          </a:p>
          <a:p>
            <a:r>
              <a:rPr lang="en-US" sz="1600" dirty="0"/>
              <a:t>E-mail</a:t>
            </a:r>
          </a:p>
          <a:p>
            <a:r>
              <a:rPr lang="en-US" sz="1600" dirty="0"/>
              <a:t>Pager (through e-mail)</a:t>
            </a:r>
          </a:p>
          <a:p>
            <a:r>
              <a:rPr lang="en-US" sz="1600" b="1" dirty="0"/>
              <a:t>net send</a:t>
            </a:r>
            <a:endParaRPr lang="en-US" sz="1600" dirty="0"/>
          </a:p>
          <a:p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2354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75002-1ED1-EFB6-B864-C7DA683F5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770" y="5748"/>
            <a:ext cx="10068156" cy="1417105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SQL Server Agent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93B46-87CE-FCD3-578C-CC70F36DF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34" y="1421985"/>
            <a:ext cx="7029304" cy="479479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/>
              <a:t>SQL Server Agent uses one of the following fixed database roles in the </a:t>
            </a:r>
            <a:r>
              <a:rPr lang="en-US" sz="1600" dirty="0" err="1"/>
              <a:t>msdb</a:t>
            </a:r>
            <a:r>
              <a:rPr lang="en-US" sz="1600" dirty="0"/>
              <a:t> database to control access to SQL Server Agent for users who aren't members of the sysadmin fixed server role.</a:t>
            </a:r>
          </a:p>
          <a:p>
            <a:r>
              <a:rPr lang="en-US" sz="1600" dirty="0" err="1"/>
              <a:t>SQLAgentUserRole</a:t>
            </a:r>
            <a:endParaRPr lang="en-US" sz="1600" dirty="0"/>
          </a:p>
          <a:p>
            <a:r>
              <a:rPr lang="en-US" sz="1600" dirty="0" err="1"/>
              <a:t>SQLAgentReaderRole</a:t>
            </a:r>
            <a:endParaRPr lang="en-US" sz="1600" dirty="0"/>
          </a:p>
          <a:p>
            <a:r>
              <a:rPr lang="en-US" sz="1600" dirty="0" err="1"/>
              <a:t>SQLAgentOperatorRole</a:t>
            </a:r>
            <a:endParaRPr lang="en-US" sz="1600" dirty="0"/>
          </a:p>
          <a:p>
            <a:endParaRPr lang="en-US" sz="800" dirty="0">
              <a:highlight>
                <a:srgbClr val="1F1F1F"/>
              </a:highlight>
              <a:latin typeface="Segoe UI"/>
              <a:ea typeface="Calibri"/>
              <a:cs typeface="Segoe UI"/>
            </a:endParaRPr>
          </a:p>
          <a:p>
            <a:endParaRPr lang="en-US" sz="800" dirty="0">
              <a:highlight>
                <a:srgbClr val="1F1F1F"/>
              </a:highlight>
              <a:latin typeface="Segoe UI"/>
              <a:ea typeface="Calibri"/>
              <a:cs typeface="Segoe UI"/>
            </a:endParaRPr>
          </a:p>
          <a:p>
            <a:endParaRPr lang="en-US" sz="800" dirty="0">
              <a:highlight>
                <a:srgbClr val="1F1F1F"/>
              </a:highlight>
              <a:latin typeface="Segoe UI"/>
              <a:ea typeface="Calibri"/>
              <a:cs typeface="Segoe UI"/>
            </a:endParaRPr>
          </a:p>
        </p:txBody>
      </p:sp>
      <p:pic>
        <p:nvPicPr>
          <p:cNvPr id="28" name="Graphic 27" descr="Database">
            <a:extLst>
              <a:ext uri="{FF2B5EF4-FFF2-40B4-BE49-F238E27FC236}">
                <a16:creationId xmlns:a16="http://schemas.microsoft.com/office/drawing/2014/main" id="{CCBC0961-34A1-EB79-116D-76876B8319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16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08283-2637-E98D-FC33-16868C2F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ea typeface="Calibri Light"/>
                <a:cs typeface="Calibri Light"/>
              </a:rPr>
              <a:t>SQL Server Agent Roles &amp; Subsystems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94B27-688E-7B71-AB9C-75CB2D6B7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Roles</a:t>
            </a:r>
          </a:p>
          <a:p>
            <a:r>
              <a:rPr lang="en-US" sz="1600" dirty="0"/>
              <a:t>Members of the </a:t>
            </a:r>
            <a:r>
              <a:rPr lang="en-US" sz="1600" b="1" dirty="0" err="1"/>
              <a:t>SQLAgentUserRole</a:t>
            </a:r>
            <a:r>
              <a:rPr lang="en-US" sz="1600" dirty="0"/>
              <a:t>, </a:t>
            </a:r>
            <a:r>
              <a:rPr lang="en-US" sz="1600" b="1" dirty="0" err="1"/>
              <a:t>SQLAgentReaderRole</a:t>
            </a:r>
            <a:r>
              <a:rPr lang="en-US" sz="1600" dirty="0"/>
              <a:t>, and </a:t>
            </a:r>
            <a:r>
              <a:rPr lang="en-US" sz="1600" b="1" dirty="0" err="1"/>
              <a:t>SQLAgentOperatorRole</a:t>
            </a:r>
            <a:r>
              <a:rPr lang="en-US" sz="1600" dirty="0"/>
              <a:t> fixed database roles in </a:t>
            </a:r>
            <a:r>
              <a:rPr lang="en-US" sz="1600" dirty="0" err="1"/>
              <a:t>msdb</a:t>
            </a:r>
            <a:r>
              <a:rPr lang="en-US" sz="1600" dirty="0"/>
              <a:t>, and members of the </a:t>
            </a:r>
            <a:r>
              <a:rPr lang="en-US" sz="1600" b="1" dirty="0"/>
              <a:t>sysadmin</a:t>
            </a:r>
            <a:r>
              <a:rPr lang="en-US" sz="1600" dirty="0"/>
              <a:t> fixed server role have access to SQL Server Agent. A user that doesn't belong to any of these roles can't use SQL Server Agent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Subsystems</a:t>
            </a:r>
          </a:p>
          <a:p>
            <a:r>
              <a:rPr lang="en-US" sz="1600" dirty="0"/>
              <a:t>A subsystem is a predefined object that represents functionality that's available to a job step. Each proxy has access to one or more subsystems. Subsystems provide security because they delimit access to the functionality that's available to a proxy. Each job step runs in the context of a proxy, except for Transact-SQL job steps. Transact-SQL job steps use the EXECUTE AS command to set the security context to the owner of the Job.</a:t>
            </a:r>
          </a:p>
          <a:p>
            <a:endParaRPr lang="en-US" dirty="0"/>
          </a:p>
          <a:p>
            <a:pPr marL="0" indent="0">
              <a:buNone/>
            </a:pPr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3564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118DF-3954-2F70-D66D-F83E32A2F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Server Agent Proxies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332C-B170-929A-A7FC-056FBAA08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dirty="0"/>
              <a:t>SQL Server Agent uses proxies to manage security contexts. A proxy can be used in more than one job step. Members of the </a:t>
            </a:r>
            <a:r>
              <a:rPr lang="en-US" sz="1900" b="1" dirty="0"/>
              <a:t>sysadmin</a:t>
            </a:r>
            <a:r>
              <a:rPr lang="en-US" sz="1900" dirty="0"/>
              <a:t> fixed server role can create proxies.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1900" dirty="0"/>
              <a:t>Each proxy corresponds to a security credential. Each proxy can be associated with a set of subsystems and a set of logins. The proxy can be used only for job steps that use a subsystem associated with the proxy. To create a job step that uses a specific proxy, the job owner must either use a login associated with that proxy, or a member of a role with unrestricted access to proxies. Members of the </a:t>
            </a:r>
            <a:r>
              <a:rPr lang="en-US" sz="1900" b="1" dirty="0"/>
              <a:t>sysadmin</a:t>
            </a:r>
            <a:r>
              <a:rPr lang="en-US" sz="1900" dirty="0"/>
              <a:t> fixed server role have unrestricted access to proxies.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1900" dirty="0"/>
              <a:t>Members of </a:t>
            </a:r>
            <a:r>
              <a:rPr lang="en-US" sz="1900" b="1" dirty="0" err="1"/>
              <a:t>SQLAgentUserRole</a:t>
            </a:r>
            <a:r>
              <a:rPr lang="en-US" sz="1900" dirty="0"/>
              <a:t>, </a:t>
            </a:r>
            <a:r>
              <a:rPr lang="en-US" sz="1900" b="1" dirty="0" err="1"/>
              <a:t>SQLAgentReaderRole</a:t>
            </a:r>
            <a:r>
              <a:rPr lang="en-US" sz="1900" dirty="0"/>
              <a:t>, or </a:t>
            </a:r>
            <a:r>
              <a:rPr lang="en-US" sz="1900" b="1" dirty="0" err="1"/>
              <a:t>SQLAgentOperatorRole</a:t>
            </a:r>
            <a:r>
              <a:rPr lang="en-US" sz="1900" dirty="0"/>
              <a:t> can only use proxies to which they're granted specific access. Each user that is a member of any of these SQL Server Agent fixed database roles must be granted access to specific proxies so that the user can create job steps that use those proxies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08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950E-C0A1-C9BF-2502-54EA9A09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Wrap 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2360-20AC-B4B9-E6D4-F21EB8C7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SQL Server Agents Overview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SQL Server Agents Job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SQL Server Agent Schedules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 SQL Server Agent Proxies</a:t>
            </a:r>
          </a:p>
        </p:txBody>
      </p:sp>
    </p:spTree>
    <p:extLst>
      <p:ext uri="{BB962C8B-B14F-4D97-AF65-F5344CB8AC3E}">
        <p14:creationId xmlns:p14="http://schemas.microsoft.com/office/powerpoint/2010/main" val="81615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BD5E3-0DBB-CADA-614E-FE2F01E78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latin typeface="+mj-lt"/>
                <a:ea typeface="+mj-ea"/>
                <a:cs typeface="+mj-cs"/>
              </a:rPr>
              <a:t>SQL Database</a:t>
            </a:r>
            <a:r>
              <a:rPr lang="en-US" sz="6600"/>
              <a:t> HA </a:t>
            </a:r>
            <a:endParaRPr lang="en-US" sz="6600" kern="1200">
              <a:latin typeface="+mj-lt"/>
              <a:ea typeface="+mj-ea"/>
              <a:cs typeface="+mj-cs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database&#10;&#10;AI-generated content may be incorrect.">
            <a:extLst>
              <a:ext uri="{FF2B5EF4-FFF2-40B4-BE49-F238E27FC236}">
                <a16:creationId xmlns:a16="http://schemas.microsoft.com/office/drawing/2014/main" id="{DE8C33C3-9CA4-11F2-0F93-A3AFD5E74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266" y="2495032"/>
            <a:ext cx="6718080" cy="14478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084EE8-8FB6-B7FF-F1EF-3E997F515E65}"/>
              </a:ext>
            </a:extLst>
          </p:cNvPr>
          <p:cNvSpPr txBox="1"/>
          <p:nvPr/>
        </p:nvSpPr>
        <p:spPr>
          <a:xfrm>
            <a:off x="7315200" y="2179319"/>
            <a:ext cx="437388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ea typeface="Calibri" panose="020F0502020204030204"/>
                <a:cs typeface="Calibri" panose="020F0502020204030204"/>
              </a:rPr>
              <a:t>Failed over Servers HA </a:t>
            </a:r>
          </a:p>
          <a:p>
            <a:pPr marL="342900" indent="-342900">
              <a:buAutoNum type="arabicPeriod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>
                <a:ea typeface="Calibri" panose="020F0502020204030204"/>
                <a:cs typeface="Calibri" panose="020F0502020204030204"/>
              </a:rPr>
              <a:t>Failed over Servers over Disaster Recovery</a:t>
            </a:r>
          </a:p>
          <a:p>
            <a:pPr marL="342900" indent="-342900">
              <a:buAutoNum type="arabicPeriod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US">
                <a:ea typeface="Calibri" panose="020F0502020204030204"/>
                <a:cs typeface="Calibri" panose="020F0502020204030204"/>
              </a:rPr>
              <a:t>Failed over Servers for DR in Azure</a:t>
            </a:r>
          </a:p>
        </p:txBody>
      </p:sp>
    </p:spTree>
    <p:extLst>
      <p:ext uri="{BB962C8B-B14F-4D97-AF65-F5344CB8AC3E}">
        <p14:creationId xmlns:p14="http://schemas.microsoft.com/office/powerpoint/2010/main" val="283359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249</TotalTime>
  <Words>1028</Words>
  <Application>Microsoft Office PowerPoint</Application>
  <PresentationFormat>Widescreen</PresentationFormat>
  <Paragraphs>83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Wingdings</vt:lpstr>
      <vt:lpstr>Office 2013 - 2022 Theme</vt:lpstr>
      <vt:lpstr>SQL Server Administration &amp; Azure Data Engineering</vt:lpstr>
      <vt:lpstr>Agenda</vt:lpstr>
      <vt:lpstr>SQL Server Agents Overview</vt:lpstr>
      <vt:lpstr>SQL Server Agents Job</vt:lpstr>
      <vt:lpstr>SQL Server Agents Schedules</vt:lpstr>
      <vt:lpstr>SQL Server Agent Alerts</vt:lpstr>
      <vt:lpstr>SQL Server Agents Operator</vt:lpstr>
      <vt:lpstr>SQL Server Agent Security</vt:lpstr>
      <vt:lpstr>SQL Server Agent Roles &amp; Subsystems</vt:lpstr>
      <vt:lpstr>SQL Server Agent Proxies</vt:lpstr>
      <vt:lpstr>Wrap Up</vt:lpstr>
      <vt:lpstr>SQL Database HA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557</cp:revision>
  <dcterms:created xsi:type="dcterms:W3CDTF">2026-04-11T17:33:10Z</dcterms:created>
  <dcterms:modified xsi:type="dcterms:W3CDTF">2026-04-18T16:53:47Z</dcterms:modified>
</cp:coreProperties>
</file>