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1"/>
  </p:notesMasterIdLst>
  <p:sldIdLst>
    <p:sldId id="283" r:id="rId2"/>
    <p:sldId id="257" r:id="rId3"/>
    <p:sldId id="258" r:id="rId4"/>
    <p:sldId id="260" r:id="rId5"/>
    <p:sldId id="261" r:id="rId6"/>
    <p:sldId id="262" r:id="rId7"/>
    <p:sldId id="264" r:id="rId8"/>
    <p:sldId id="265" r:id="rId9"/>
    <p:sldId id="266" r:id="rId10"/>
    <p:sldId id="267" r:id="rId11"/>
    <p:sldId id="269" r:id="rId12"/>
    <p:sldId id="284" r:id="rId13"/>
    <p:sldId id="285" r:id="rId14"/>
    <p:sldId id="286" r:id="rId15"/>
    <p:sldId id="287" r:id="rId16"/>
    <p:sldId id="288" r:id="rId17"/>
    <p:sldId id="289" r:id="rId18"/>
    <p:sldId id="290" r:id="rId19"/>
    <p:sldId id="28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40EAC-CC0A-5485-BCEE-37BDB29D673B}" v="625" dt="2026-04-12T15:19:31.891"/>
    <p1510:client id="{126C75FD-9A41-3249-608E-772329B48536}" v="830" dt="2026-04-14T10:02:26.744"/>
    <p1510:client id="{22D66706-7690-ACC8-E32C-921547D31D47}" v="2" dt="2026-04-13T12:37:38.606"/>
    <p1510:client id="{44FD2894-0480-9C1E-A647-D0E7979760DA}" v="446" dt="2026-04-13T16:01:21.507"/>
    <p1510:client id="{8E12EF59-2A41-92D6-385B-F56135F5B8D7}" v="210" dt="2026-04-12T17:52:18.371"/>
    <p1510:client id="{9927AD77-2696-5238-F9B1-88B863DA5C57}" v="278" dt="2026-04-14T09:47:33.089"/>
    <p1510:client id="{E5DF0B76-E98F-2D85-D1E5-931E795B41E8}" v="1505" dt="2026-04-12T17:04:41.141"/>
    <p1510:client id="{E896230E-595A-DF97-A919-F4C2974567C3}" v="185" dt="2026-04-13T15:16:48.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42B2F5-69FF-405F-9082-6A963446B6E1}"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F0A98-8248-4526-AF0D-B5B8042F2A6C}" type="slidenum">
              <a:rPr lang="en-US" smtClean="0"/>
              <a:t>‹#›</a:t>
            </a:fld>
            <a:endParaRPr lang="en-US"/>
          </a:p>
        </p:txBody>
      </p:sp>
    </p:spTree>
    <p:extLst>
      <p:ext uri="{BB962C8B-B14F-4D97-AF65-F5344CB8AC3E}">
        <p14:creationId xmlns:p14="http://schemas.microsoft.com/office/powerpoint/2010/main" val="784050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5F0A98-8248-4526-AF0D-B5B8042F2A6C}" type="slidenum">
              <a:rPr lang="en-US" smtClean="0"/>
              <a:t>4</a:t>
            </a:fld>
            <a:endParaRPr lang="en-US"/>
          </a:p>
        </p:txBody>
      </p:sp>
    </p:spTree>
    <p:extLst>
      <p:ext uri="{BB962C8B-B14F-4D97-AF65-F5344CB8AC3E}">
        <p14:creationId xmlns:p14="http://schemas.microsoft.com/office/powerpoint/2010/main" val="213981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4/25/2026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sql/relational-databases/performance/start-and-use-the-database-engine-tuning-advisor?view=sql-server-ver17" TargetMode="External"/><Relationship Id="rId2" Type="http://schemas.openxmlformats.org/officeDocument/2006/relationships/hyperlink" Target="https://learn.microsoft.com/en-us/sql/relational-databases/performance/tuning-database-using-workload-from-query-store?view=sql-server-ver17" TargetMode="External"/><Relationship Id="rId1" Type="http://schemas.openxmlformats.org/officeDocument/2006/relationships/slideLayout" Target="../slideLayouts/slideLayout2.xml"/><Relationship Id="rId5" Type="http://schemas.openxmlformats.org/officeDocument/2006/relationships/hyperlink" Target="https://learn.microsoft.com/en-us/sql/relational-databases/performance/view-and-work-with-the-output-from-the-database-engine-tuning-advisor?view=sql-server-ver17" TargetMode="External"/><Relationship Id="rId4" Type="http://schemas.openxmlformats.org/officeDocument/2006/relationships/hyperlink" Target="https://learn.microsoft.com/en-us/sql/tools/sql-server-profiler/sql-server-profiler?view=sql-server-ver17"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azure/azure-sql/database/query-performance-insight-use?view=azuresql" TargetMode="External"/><Relationship Id="rId2" Type="http://schemas.openxmlformats.org/officeDocument/2006/relationships/hyperlink" Target="https://learn.microsoft.com/en-us/azure/azure-sql/database/automatic-tuning-overview?view=azuresql" TargetMode="External"/><Relationship Id="rId1" Type="http://schemas.openxmlformats.org/officeDocument/2006/relationships/slideLayout" Target="../slideLayouts/slideLayout2.xml"/><Relationship Id="rId4" Type="http://schemas.openxmlformats.org/officeDocument/2006/relationships/hyperlink" Target="https://learn.microsoft.com/en-us/azure/azure-sql/database/database-advisor-implement-performance-recommendations?view=azuresq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azure/azure-sql/managed-instance/performance-guidance?view=azuresql" TargetMode="External"/><Relationship Id="rId2" Type="http://schemas.openxmlformats.org/officeDocument/2006/relationships/hyperlink" Target="https://learn.microsoft.com/en-us/azure/azure-sql/virtual-machines/windows/performance-guidelines-best-practices-storage?view=azuresq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learn.microsoft.com/en-us/azure/azure-sql/database-watcher-overview?view=azuresql-db" TargetMode="External"/><Relationship Id="rId7" Type="http://schemas.openxmlformats.org/officeDocument/2006/relationships/hyperlink" Target="https://learn.microsoft.com/en-us/azure/azure-sql/database/monitoring-with-dmvs?view=azuresql-db#identify-memory-grant-wait-performance-issues" TargetMode="External"/><Relationship Id="rId2" Type="http://schemas.openxmlformats.org/officeDocument/2006/relationships/hyperlink" Target="https://learn.microsoft.com/en-us/azure/azure-sql/database/monitoring-with-dmvs?view=azuresql-db#monitoring-blocked-queries" TargetMode="External"/><Relationship Id="rId1" Type="http://schemas.openxmlformats.org/officeDocument/2006/relationships/slideLayout" Target="../slideLayouts/slideLayout2.xml"/><Relationship Id="rId6" Type="http://schemas.openxmlformats.org/officeDocument/2006/relationships/hyperlink" Target="https://learn.microsoft.com/en-us/azure/azure-sql/database/monitoring-with-dmvs?view=azuresql-db#identify-tempdb-performance-issues" TargetMode="External"/><Relationship Id="rId5" Type="http://schemas.openxmlformats.org/officeDocument/2006/relationships/hyperlink" Target="https://learn.microsoft.com/en-us/azure/azure-sql/database/monitoring-with-dmvs?view=azuresql-db#identify-io-performance-issues" TargetMode="External"/><Relationship Id="rId4" Type="http://schemas.openxmlformats.org/officeDocument/2006/relationships/hyperlink" Target="https://learn.microsoft.com/en-us/azure/azure-sql/database/understand-resolve-blocking?view=azuresql-db"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a:t>SQL Server Administration &amp; Azure Data Engineering</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8 </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235346"/>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t>SQL Server Performance Tuning</a:t>
            </a:r>
            <a:endParaRPr lang="en-US" dirty="0"/>
          </a:p>
          <a:p>
            <a:r>
              <a:rPr lang="en-US" sz="2200" dirty="0"/>
              <a:t>SQL Server Poor Performance Root Causes</a:t>
            </a:r>
            <a:endParaRPr lang="en-US" dirty="0"/>
          </a:p>
          <a:p>
            <a:r>
              <a:rPr lang="en-US" sz="2200" dirty="0"/>
              <a:t>SQL Server Query Optimization Techniques</a:t>
            </a:r>
            <a:endParaRPr lang="en-US" dirty="0"/>
          </a:p>
          <a:p>
            <a:r>
              <a:rPr lang="en-US" sz="2200" dirty="0"/>
              <a:t>SQL Server Performance Monitoring Tools</a:t>
            </a:r>
          </a:p>
          <a:p>
            <a:r>
              <a:rPr lang="en-US" sz="2200" dirty="0"/>
              <a:t>Dynamic Management Views</a:t>
            </a:r>
          </a:p>
          <a:p>
            <a:r>
              <a:rPr lang="en-US" sz="2200" dirty="0"/>
              <a:t>Azure SQL Performance Tuning</a:t>
            </a:r>
          </a:p>
          <a:p>
            <a:r>
              <a:rPr lang="en-US" sz="2200" dirty="0"/>
              <a:t>Azure SQL Query Optimization</a:t>
            </a:r>
          </a:p>
          <a:p>
            <a:endParaRPr lang="en-US" sz="2200" dirty="0"/>
          </a:p>
          <a:p>
            <a:endParaRPr lang="en-US" sz="2200" dirty="0"/>
          </a:p>
          <a:p>
            <a:endParaRPr lang="en-US" sz="2200" dirty="0"/>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01CD0A-13AF-6BEA-32F0-04CE9D993CD1}"/>
              </a:ext>
            </a:extLst>
          </p:cNvPr>
          <p:cNvSpPr>
            <a:spLocks noGrp="1"/>
          </p:cNvSpPr>
          <p:nvPr>
            <p:ph type="title"/>
          </p:nvPr>
        </p:nvSpPr>
        <p:spPr>
          <a:xfrm>
            <a:off x="1137036" y="548640"/>
            <a:ext cx="9543405" cy="1188720"/>
          </a:xfrm>
        </p:spPr>
        <p:txBody>
          <a:bodyPr>
            <a:normAutofit/>
          </a:bodyPr>
          <a:lstStyle/>
          <a:p>
            <a:r>
              <a:rPr lang="en-US" dirty="0">
                <a:solidFill>
                  <a:schemeClr val="tx1">
                    <a:lumMod val="85000"/>
                    <a:lumOff val="15000"/>
                  </a:schemeClr>
                </a:solidFill>
              </a:rPr>
              <a:t>SQL Server Performance Tuning </a:t>
            </a:r>
          </a:p>
        </p:txBody>
      </p:sp>
      <p:sp>
        <p:nvSpPr>
          <p:cNvPr id="3" name="Content Placeholder 2">
            <a:extLst>
              <a:ext uri="{FF2B5EF4-FFF2-40B4-BE49-F238E27FC236}">
                <a16:creationId xmlns:a16="http://schemas.microsoft.com/office/drawing/2014/main" id="{83DA21EC-EC3E-D0FA-CDB9-B872137B1193}"/>
              </a:ext>
            </a:extLst>
          </p:cNvPr>
          <p:cNvSpPr>
            <a:spLocks noGrp="1"/>
          </p:cNvSpPr>
          <p:nvPr>
            <p:ph idx="1"/>
          </p:nvPr>
        </p:nvSpPr>
        <p:spPr>
          <a:xfrm>
            <a:off x="1138478" y="1942935"/>
            <a:ext cx="10202591" cy="4355200"/>
          </a:xfrm>
        </p:spPr>
        <p:txBody>
          <a:bodyPr anchor="ctr">
            <a:normAutofit/>
          </a:bodyPr>
          <a:lstStyle/>
          <a:p>
            <a:endParaRPr lang="en-US" sz="1600" b="1" dirty="0">
              <a:highlight>
                <a:srgbClr val="FFFFFF"/>
              </a:highlight>
            </a:endParaRPr>
          </a:p>
          <a:p>
            <a:r>
              <a:rPr lang="en-US" sz="1600" dirty="0">
                <a:highlight>
                  <a:srgbClr val="FFFFFF"/>
                </a:highlight>
              </a:rPr>
              <a:t> SQL Server performance tuning is a multi-layered process involving proactive monitoring, query optimization, and server configuration. The goal is to reduce response time and resource consumption (CPU, Memory, and Disk I/O)</a:t>
            </a:r>
          </a:p>
          <a:p>
            <a:endParaRPr lang="en-US" sz="1600" dirty="0">
              <a:highlight>
                <a:srgbClr val="FFFFFF"/>
              </a:highlight>
            </a:endParaRPr>
          </a:p>
          <a:p>
            <a:r>
              <a:rPr lang="en-US" sz="1600" dirty="0">
                <a:highlight>
                  <a:srgbClr val="FFFFFF"/>
                </a:highlight>
              </a:rPr>
              <a:t>Determine whether you can improve performance. For example, by monitoring the response times for frequently used queries, you can determine whether changes to the query or indexes on the tables are required.</a:t>
            </a:r>
          </a:p>
          <a:p>
            <a:r>
              <a:rPr lang="en-US" sz="1600" dirty="0">
                <a:highlight>
                  <a:srgbClr val="FFFFFF"/>
                </a:highlight>
              </a:rPr>
              <a:t>Evaluate user activity. For example, by monitoring users trying to connect to an instance of SQL Server, you can determine whether security is set up adequately and test applications or development systems. For example, by monitoring SQL queries as they are executed, you can determine whether they are written correctly and producing the expected results.</a:t>
            </a:r>
          </a:p>
          <a:p>
            <a:r>
              <a:rPr lang="en-US" sz="1600" dirty="0">
                <a:highlight>
                  <a:srgbClr val="FFFFFF"/>
                </a:highlight>
              </a:rPr>
              <a:t>Troubleshoot problems or debug application components, such as stored procedures.</a:t>
            </a:r>
          </a:p>
          <a:p>
            <a:endParaRPr lang="en-US" sz="1600" dirty="0">
              <a:highlight>
                <a:srgbClr val="FFFFFF"/>
              </a:highlight>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28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4D5AD4-9F36-F7A2-D973-EF701D964D44}"/>
              </a:ext>
            </a:extLst>
          </p:cNvPr>
          <p:cNvSpPr>
            <a:spLocks noGrp="1"/>
          </p:cNvSpPr>
          <p:nvPr>
            <p:ph type="title"/>
          </p:nvPr>
        </p:nvSpPr>
        <p:spPr>
          <a:xfrm>
            <a:off x="1137036" y="548640"/>
            <a:ext cx="9543405" cy="1188720"/>
          </a:xfrm>
        </p:spPr>
        <p:txBody>
          <a:bodyPr>
            <a:normAutofit/>
          </a:bodyPr>
          <a:lstStyle/>
          <a:p>
            <a:r>
              <a:rPr lang="en-US" sz="3600" dirty="0">
                <a:solidFill>
                  <a:schemeClr val="tx1">
                    <a:lumMod val="85000"/>
                    <a:lumOff val="15000"/>
                  </a:schemeClr>
                </a:solidFill>
              </a:rPr>
              <a:t>SQL Server Performance Monitoring Tools</a:t>
            </a:r>
            <a:endParaRPr lang="en-US" sz="3600" dirty="0">
              <a:solidFill>
                <a:schemeClr val="tx1">
                  <a:lumMod val="85000"/>
                  <a:lumOff val="15000"/>
                </a:schemeClr>
              </a:solidFill>
              <a:ea typeface="Calibri Light"/>
              <a:cs typeface="Calibri Light"/>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039B0501-84F1-4609-E96B-48AC38BFD939}"/>
              </a:ext>
            </a:extLst>
          </p:cNvPr>
          <p:cNvSpPr>
            <a:spLocks noGrp="1"/>
          </p:cNvSpPr>
          <p:nvPr>
            <p:ph idx="1"/>
          </p:nvPr>
        </p:nvSpPr>
        <p:spPr/>
        <p:txBody>
          <a:bodyPr/>
          <a:lstStyle/>
          <a:p>
            <a:r>
              <a:rPr lang="en-US" sz="1600" dirty="0">
                <a:highlight>
                  <a:srgbClr val="FFFFFF"/>
                </a:highlight>
              </a:rPr>
              <a:t>Microsoft SQL Server provides a comprehensive set of tools for monitoring events in SQL Server and for tuning the physical database design. The choice of tool depends on the type of monitoring or tuning to be done and the particular events to be monitored </a:t>
            </a:r>
          </a:p>
          <a:p>
            <a:r>
              <a:rPr lang="en-US" sz="1600" dirty="0">
                <a:highlight>
                  <a:srgbClr val="FFFFFF"/>
                </a:highlight>
              </a:rPr>
              <a:t>SQL Server database functions are built-in functions display snapshot statistics about SQL Server activity since the server was started. These statistics are stored in predefined SQL server counter. </a:t>
            </a:r>
          </a:p>
          <a:p>
            <a:endParaRPr lang="en-US" sz="1600" dirty="0">
              <a:highlight>
                <a:srgbClr val="FFFFFF"/>
              </a:highlight>
            </a:endParaRPr>
          </a:p>
          <a:p>
            <a:r>
              <a:rPr lang="en-US" sz="1600" dirty="0">
                <a:highlight>
                  <a:srgbClr val="FFFFFF"/>
                </a:highlight>
              </a:rPr>
              <a:t>The Windows Application event log provides an overall picture of events occurring on the Windows server and Windows OS. Events in SQL Server, SQL Server Agent, Full Text Search. It contains the information about events in SQL server &amp; error log information to troubleshoot SQL Server related problems. </a:t>
            </a:r>
          </a:p>
          <a:p>
            <a:endParaRPr lang="en-US" sz="1600" dirty="0">
              <a:highlight>
                <a:srgbClr val="FFFFFF"/>
              </a:highlight>
            </a:endParaRPr>
          </a:p>
          <a:p>
            <a:r>
              <a:rPr lang="en-US" sz="1600" dirty="0">
                <a:highlight>
                  <a:srgbClr val="FFFFFF"/>
                </a:highlight>
              </a:rPr>
              <a:t>Extended events is a lightweight performance monitoring system which uses very few performance resources. Extended events provides three GUI – New Session Wizard, New Session, XE profiler. </a:t>
            </a:r>
          </a:p>
          <a:p>
            <a:endParaRPr lang="en-US" sz="1600" dirty="0">
              <a:highlight>
                <a:srgbClr val="FFFFFF"/>
              </a:highlight>
            </a:endParaRPr>
          </a:p>
        </p:txBody>
      </p:sp>
    </p:spTree>
    <p:extLst>
      <p:ext uri="{BB962C8B-B14F-4D97-AF65-F5344CB8AC3E}">
        <p14:creationId xmlns:p14="http://schemas.microsoft.com/office/powerpoint/2010/main" val="854103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75836F-94AA-AAEE-3F5E-FA2C418478E2}"/>
              </a:ext>
            </a:extLst>
          </p:cNvPr>
          <p:cNvSpPr>
            <a:spLocks noGrp="1"/>
          </p:cNvSpPr>
          <p:nvPr>
            <p:ph type="title"/>
          </p:nvPr>
        </p:nvSpPr>
        <p:spPr>
          <a:xfrm>
            <a:off x="1137036" y="548640"/>
            <a:ext cx="9543405" cy="1188720"/>
          </a:xfrm>
        </p:spPr>
        <p:txBody>
          <a:bodyPr>
            <a:normAutofit/>
          </a:bodyPr>
          <a:lstStyle/>
          <a:p>
            <a:r>
              <a:rPr lang="en-US" sz="3200" dirty="0">
                <a:solidFill>
                  <a:schemeClr val="tx1">
                    <a:lumMod val="85000"/>
                    <a:lumOff val="15000"/>
                  </a:schemeClr>
                </a:solidFill>
              </a:rPr>
              <a:t>SQL Server Performance Tuning Tools</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27151C14-8131-CD79-D1B9-1D0B6ACD252F}"/>
              </a:ext>
            </a:extLst>
          </p:cNvPr>
          <p:cNvSpPr>
            <a:spLocks noGrp="1"/>
          </p:cNvSpPr>
          <p:nvPr>
            <p:ph idx="1"/>
          </p:nvPr>
        </p:nvSpPr>
        <p:spPr/>
        <p:txBody>
          <a:bodyPr>
            <a:normAutofit lnSpcReduction="10000"/>
          </a:bodyPr>
          <a:lstStyle/>
          <a:p>
            <a:r>
              <a:rPr lang="en-US" sz="1600" dirty="0">
                <a:highlight>
                  <a:srgbClr val="FFFFFF"/>
                </a:highlight>
              </a:rPr>
              <a:t>Live Query Statistics </a:t>
            </a:r>
          </a:p>
          <a:p>
            <a:endParaRPr lang="en-US" sz="1600" dirty="0">
              <a:highlight>
                <a:srgbClr val="FFFFFF"/>
              </a:highlight>
            </a:endParaRPr>
          </a:p>
          <a:p>
            <a:r>
              <a:rPr lang="en-US" sz="1600" dirty="0">
                <a:highlight>
                  <a:srgbClr val="FFFFFF"/>
                </a:highlight>
              </a:rPr>
              <a:t>Performance Monitor </a:t>
            </a:r>
          </a:p>
          <a:p>
            <a:endParaRPr lang="en-US" sz="1600" dirty="0">
              <a:highlight>
                <a:srgbClr val="FFFFFF"/>
              </a:highlight>
            </a:endParaRPr>
          </a:p>
          <a:p>
            <a:r>
              <a:rPr lang="en-US" sz="1600" dirty="0">
                <a:highlight>
                  <a:srgbClr val="FFFFFF"/>
                </a:highlight>
              </a:rPr>
              <a:t>Execution related DMV to check execution related information</a:t>
            </a:r>
          </a:p>
          <a:p>
            <a:endParaRPr lang="en-US" sz="1600" dirty="0">
              <a:highlight>
                <a:srgbClr val="FFFFFF"/>
              </a:highlight>
            </a:endParaRPr>
          </a:p>
          <a:p>
            <a:r>
              <a:rPr lang="en-US" sz="1600" dirty="0">
                <a:highlight>
                  <a:srgbClr val="FFFFFF"/>
                </a:highlight>
              </a:rPr>
              <a:t>Open Activity Monitor </a:t>
            </a:r>
          </a:p>
          <a:p>
            <a:endParaRPr lang="en-US" sz="1600" dirty="0">
              <a:highlight>
                <a:srgbClr val="FFFFFF"/>
              </a:highlight>
            </a:endParaRPr>
          </a:p>
          <a:p>
            <a:r>
              <a:rPr lang="en-US" sz="1600" dirty="0">
                <a:highlight>
                  <a:srgbClr val="FFFFFF"/>
                </a:highlight>
              </a:rPr>
              <a:t>Performance Dashboard  </a:t>
            </a:r>
          </a:p>
          <a:p>
            <a:endParaRPr lang="en-US" sz="1600" dirty="0">
              <a:highlight>
                <a:srgbClr val="FFFFFF"/>
              </a:highlight>
            </a:endParaRPr>
          </a:p>
          <a:p>
            <a:r>
              <a:rPr lang="en-US" sz="1600" dirty="0">
                <a:highlight>
                  <a:srgbClr val="FFFFFF"/>
                </a:highlight>
              </a:rPr>
              <a:t>SQL Trace</a:t>
            </a:r>
          </a:p>
          <a:p>
            <a:endParaRPr lang="en-US" sz="1600" dirty="0">
              <a:highlight>
                <a:srgbClr val="FFFFFF"/>
              </a:highlight>
            </a:endParaRPr>
          </a:p>
          <a:p>
            <a:r>
              <a:rPr lang="en-US" sz="1600" dirty="0">
                <a:highlight>
                  <a:srgbClr val="FFFFFF"/>
                </a:highlight>
              </a:rPr>
              <a:t>Trace Flags</a:t>
            </a:r>
          </a:p>
        </p:txBody>
      </p:sp>
    </p:spTree>
    <p:extLst>
      <p:ext uri="{BB962C8B-B14F-4D97-AF65-F5344CB8AC3E}">
        <p14:creationId xmlns:p14="http://schemas.microsoft.com/office/powerpoint/2010/main" val="3877016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595C4-11D6-B1AA-E07E-B83B85A1CC10}"/>
              </a:ext>
            </a:extLst>
          </p:cNvPr>
          <p:cNvSpPr>
            <a:spLocks noGrp="1"/>
          </p:cNvSpPr>
          <p:nvPr>
            <p:ph type="title"/>
          </p:nvPr>
        </p:nvSpPr>
        <p:spPr>
          <a:xfrm>
            <a:off x="793662" y="386930"/>
            <a:ext cx="10066122" cy="1298448"/>
          </a:xfrm>
        </p:spPr>
        <p:txBody>
          <a:bodyPr anchor="b">
            <a:normAutofit fontScale="90000"/>
          </a:bodyPr>
          <a:lstStyle/>
          <a:p>
            <a:r>
              <a:rPr lang="en-US" sz="4800" dirty="0">
                <a:ea typeface="Calibri Light"/>
                <a:cs typeface="Calibri Light"/>
              </a:rPr>
              <a:t>SQL Server Poor Performance Root Causes</a:t>
            </a:r>
          </a:p>
        </p:txBody>
      </p:sp>
      <p:sp>
        <p:nvSpPr>
          <p:cNvPr id="1035" name="Rectangle 10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951E93AC-2663-2A23-739F-81E71CEE04EE}"/>
              </a:ext>
            </a:extLst>
          </p:cNvPr>
          <p:cNvSpPr>
            <a:spLocks noGrp="1"/>
          </p:cNvSpPr>
          <p:nvPr>
            <p:ph idx="1"/>
          </p:nvPr>
        </p:nvSpPr>
        <p:spPr>
          <a:xfrm>
            <a:off x="838200" y="2433483"/>
            <a:ext cx="10515600" cy="3743479"/>
          </a:xfrm>
        </p:spPr>
        <p:txBody>
          <a:bodyPr>
            <a:normAutofit/>
          </a:bodyPr>
          <a:lstStyle/>
          <a:p>
            <a:r>
              <a:rPr lang="en-US" sz="1600" dirty="0"/>
              <a:t>SQL Server performance troubleshooting requires a systematic approach, often categorized into identifying whether a query is </a:t>
            </a:r>
            <a:r>
              <a:rPr lang="en-US" sz="1600" b="1" dirty="0"/>
              <a:t>running</a:t>
            </a:r>
            <a:r>
              <a:rPr lang="en-US" sz="1600" dirty="0"/>
              <a:t> (consuming CPU) or </a:t>
            </a:r>
            <a:r>
              <a:rPr lang="en-US" sz="1600" b="1" dirty="0"/>
              <a:t>waiting</a:t>
            </a:r>
            <a:r>
              <a:rPr lang="en-US" sz="1600" dirty="0"/>
              <a:t> (stalled by a bottleneck). </a:t>
            </a:r>
          </a:p>
          <a:p>
            <a:r>
              <a:rPr lang="en-US" sz="1600" dirty="0"/>
              <a:t>Waiting Queries – </a:t>
            </a:r>
            <a:r>
              <a:rPr lang="en-US" sz="1600" dirty="0" err="1"/>
              <a:t>sys.dm_os_wait</a:t>
            </a:r>
            <a:r>
              <a:rPr lang="en-US" sz="1600" dirty="0"/>
              <a:t> _stats to check the holding up execution </a:t>
            </a:r>
          </a:p>
          <a:p>
            <a:r>
              <a:rPr lang="en-US" sz="1600" dirty="0"/>
              <a:t>PAGEIOLATCH – slow disk reads </a:t>
            </a:r>
          </a:p>
          <a:p>
            <a:r>
              <a:rPr lang="en-US" sz="1600" dirty="0"/>
              <a:t>WRITELOG – Transaction log disk latency </a:t>
            </a:r>
          </a:p>
          <a:p>
            <a:r>
              <a:rPr lang="en-US" sz="1600" dirty="0" err="1"/>
              <a:t>LCK_m</a:t>
            </a:r>
            <a:r>
              <a:rPr lang="en-US" sz="1600" dirty="0"/>
              <a:t>_ Sessions blocked by other queries. </a:t>
            </a:r>
          </a:p>
          <a:p>
            <a:r>
              <a:rPr lang="en-US" sz="1600" dirty="0"/>
              <a:t>Resource Semaphore – Queries waiting for memory grants. </a:t>
            </a:r>
          </a:p>
          <a:p>
            <a:r>
              <a:rPr lang="en-US" sz="1600" dirty="0"/>
              <a:t>For High CPU usage use </a:t>
            </a:r>
            <a:r>
              <a:rPr lang="en-US" sz="1600" dirty="0" err="1"/>
              <a:t>sys.dm_exec_requests</a:t>
            </a:r>
            <a:r>
              <a:rPr lang="en-US" sz="1600" dirty="0"/>
              <a:t> and </a:t>
            </a:r>
            <a:r>
              <a:rPr lang="en-US" sz="1600" dirty="0" err="1"/>
              <a:t>sys.dmexec_query_statts</a:t>
            </a:r>
            <a:r>
              <a:rPr lang="en-US" sz="1600" dirty="0"/>
              <a:t> to find queries with highest total worker time. </a:t>
            </a:r>
          </a:p>
          <a:p>
            <a:endParaRPr lang="en-US" sz="1600" dirty="0"/>
          </a:p>
        </p:txBody>
      </p:sp>
    </p:spTree>
    <p:extLst>
      <p:ext uri="{BB962C8B-B14F-4D97-AF65-F5344CB8AC3E}">
        <p14:creationId xmlns:p14="http://schemas.microsoft.com/office/powerpoint/2010/main" val="2227585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0A08-4B1A-B8B0-4A32-998EA0564033}"/>
              </a:ext>
            </a:extLst>
          </p:cNvPr>
          <p:cNvSpPr>
            <a:spLocks noGrp="1"/>
          </p:cNvSpPr>
          <p:nvPr>
            <p:ph type="title"/>
          </p:nvPr>
        </p:nvSpPr>
        <p:spPr/>
        <p:txBody>
          <a:bodyPr/>
          <a:lstStyle/>
          <a:p>
            <a:r>
              <a:rPr lang="en-US" dirty="0"/>
              <a:t>SQL Server Query Level Troubleshooting</a:t>
            </a:r>
            <a:endParaRPr lang="en-US" dirty="0">
              <a:ea typeface="Calibri Light"/>
              <a:cs typeface="Calibri Light"/>
            </a:endParaRPr>
          </a:p>
        </p:txBody>
      </p:sp>
      <p:sp>
        <p:nvSpPr>
          <p:cNvPr id="3" name="Content Placeholder 2">
            <a:extLst>
              <a:ext uri="{FF2B5EF4-FFF2-40B4-BE49-F238E27FC236}">
                <a16:creationId xmlns:a16="http://schemas.microsoft.com/office/drawing/2014/main" id="{E72EABCE-4314-EE41-14B7-A041134C7AF2}"/>
              </a:ext>
            </a:extLst>
          </p:cNvPr>
          <p:cNvSpPr>
            <a:spLocks noGrp="1"/>
          </p:cNvSpPr>
          <p:nvPr>
            <p:ph idx="1"/>
          </p:nvPr>
        </p:nvSpPr>
        <p:spPr>
          <a:xfrm>
            <a:off x="277484" y="1523701"/>
            <a:ext cx="11076316" cy="4653262"/>
          </a:xfrm>
        </p:spPr>
        <p:txBody>
          <a:bodyPr vert="horz" lIns="91440" tIns="45720" rIns="91440" bIns="45720" rtlCol="0" anchor="t">
            <a:normAutofit/>
          </a:bodyPr>
          <a:lstStyle/>
          <a:p>
            <a:r>
              <a:rPr lang="en-US" sz="1600" dirty="0">
                <a:cs typeface="Calibri"/>
              </a:rPr>
              <a:t>Missing Indexes – Search for Missing index warning in the plan. Use Missing Index DMV to see global recommendations. </a:t>
            </a:r>
          </a:p>
          <a:p>
            <a:endParaRPr lang="en-US" sz="1600" dirty="0">
              <a:cs typeface="Calibri"/>
            </a:endParaRPr>
          </a:p>
          <a:p>
            <a:r>
              <a:rPr lang="en-US" sz="1600" dirty="0">
                <a:cs typeface="Calibri"/>
              </a:rPr>
              <a:t>Outdated Statistics – if estimated vs actual row counts differ significantly run UPDATE STATISTICS on the specific tables. </a:t>
            </a:r>
          </a:p>
          <a:p>
            <a:endParaRPr lang="en-US" sz="1600" dirty="0">
              <a:cs typeface="Calibri"/>
            </a:endParaRPr>
          </a:p>
          <a:p>
            <a:r>
              <a:rPr lang="en-US" sz="1600" dirty="0" err="1">
                <a:cs typeface="Calibri"/>
              </a:rPr>
              <a:t>SARGability</a:t>
            </a:r>
            <a:r>
              <a:rPr lang="en-US" sz="1600" dirty="0">
                <a:cs typeface="Calibri"/>
              </a:rPr>
              <a:t> – Avoid functions on indexed columns (e.g. WHERE YEAR(</a:t>
            </a:r>
            <a:r>
              <a:rPr lang="en-US" sz="1600" dirty="0" err="1">
                <a:cs typeface="Calibri"/>
              </a:rPr>
              <a:t>date_col</a:t>
            </a:r>
            <a:r>
              <a:rPr lang="en-US" sz="1600" dirty="0">
                <a:cs typeface="Calibri"/>
              </a:rPr>
              <a:t>) = 2024) as they prevent index usage. </a:t>
            </a:r>
          </a:p>
          <a:p>
            <a:endParaRPr lang="en-US" sz="1600" dirty="0">
              <a:cs typeface="Calibri"/>
            </a:endParaRPr>
          </a:p>
          <a:p>
            <a:r>
              <a:rPr lang="en-US" sz="1600" dirty="0">
                <a:cs typeface="Calibri"/>
              </a:rPr>
              <a:t>Anti-Patterns – Replace SELECT * with specific columns and avoid N+1 Queue patterns by using JOIN. </a:t>
            </a:r>
          </a:p>
        </p:txBody>
      </p:sp>
    </p:spTree>
    <p:extLst>
      <p:ext uri="{BB962C8B-B14F-4D97-AF65-F5344CB8AC3E}">
        <p14:creationId xmlns:p14="http://schemas.microsoft.com/office/powerpoint/2010/main" val="457166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dirty="0"/>
              <a:t>SQL Server Query Optimization Techniques</a:t>
            </a:r>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a:bodyPr>
          <a:lstStyle/>
          <a:p>
            <a:r>
              <a:rPr lang="en-US" sz="1600" dirty="0">
                <a:cs typeface="Calibri"/>
              </a:rPr>
              <a:t>Query Store – Built-in tool for tracking performance history and forcing “good” plans if a regression occurs. </a:t>
            </a:r>
          </a:p>
          <a:p>
            <a:endParaRPr lang="en-US" sz="1600" dirty="0">
              <a:cs typeface="Calibri"/>
            </a:endParaRPr>
          </a:p>
          <a:p>
            <a:r>
              <a:rPr lang="en-US" sz="1600" dirty="0" err="1">
                <a:cs typeface="Calibri"/>
              </a:rPr>
              <a:t>Sp_WholsActive</a:t>
            </a:r>
            <a:r>
              <a:rPr lang="en-US" sz="1600" dirty="0">
                <a:cs typeface="Calibri"/>
              </a:rPr>
              <a:t> – A common standard script for seeing what’s exactly running on server now including wait types and blocking. </a:t>
            </a:r>
          </a:p>
          <a:p>
            <a:endParaRPr lang="en-US" sz="1600" dirty="0">
              <a:cs typeface="Calibri"/>
            </a:endParaRPr>
          </a:p>
          <a:p>
            <a:r>
              <a:rPr lang="en-US" sz="1600" dirty="0">
                <a:cs typeface="Calibri"/>
              </a:rPr>
              <a:t>Database Engine Tuning Advisor – Analyses a workload and suggests indexes, partitions or indexed views. </a:t>
            </a:r>
          </a:p>
          <a:p>
            <a:endParaRPr lang="en-US" sz="1600" dirty="0"/>
          </a:p>
        </p:txBody>
      </p:sp>
    </p:spTree>
    <p:extLst>
      <p:ext uri="{BB962C8B-B14F-4D97-AF65-F5344CB8AC3E}">
        <p14:creationId xmlns:p14="http://schemas.microsoft.com/office/powerpoint/2010/main" val="2863695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1137034" y="609597"/>
            <a:ext cx="10068156" cy="1330841"/>
          </a:xfrm>
        </p:spPr>
        <p:txBody>
          <a:bodyPr>
            <a:normAutofit/>
          </a:bodyPr>
          <a:lstStyle/>
          <a:p>
            <a:r>
              <a:rPr lang="en-US" dirty="0">
                <a:ea typeface="Calibri Light"/>
                <a:cs typeface="Calibri Light"/>
              </a:rPr>
              <a:t>SQL Server Troubleshooting</a:t>
            </a:r>
            <a:endParaRPr lang="en-US" dirty="0"/>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1137034" y="2198362"/>
            <a:ext cx="11054965" cy="4018414"/>
          </a:xfrm>
        </p:spPr>
        <p:txBody>
          <a:bodyPr vert="horz" lIns="91440" tIns="45720" rIns="91440" bIns="45720" rtlCol="0" anchor="t">
            <a:normAutofit/>
          </a:bodyPr>
          <a:lstStyle/>
          <a:p>
            <a:pPr>
              <a:buFont typeface="Wingdings" panose="020B0604020202020204" pitchFamily="34" charset="0"/>
              <a:buChar char="q"/>
            </a:pPr>
            <a:r>
              <a:rPr lang="en-US" sz="2000" dirty="0">
                <a:ea typeface="Calibri"/>
                <a:cs typeface="Calibri"/>
              </a:rPr>
              <a:t> High CPU usage across all CPUs – use tools like Resource Monitor, Process Monitor , Process Explorer etc. </a:t>
            </a: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r>
              <a:rPr lang="en-US" sz="2000" dirty="0">
                <a:cs typeface="Calibri"/>
              </a:rPr>
              <a:t>If a </a:t>
            </a:r>
            <a:r>
              <a:rPr lang="en-US" sz="2000" dirty="0" err="1">
                <a:cs typeface="Calibri"/>
              </a:rPr>
              <a:t>svchost</a:t>
            </a:r>
            <a:r>
              <a:rPr lang="en-US" sz="2000" dirty="0">
                <a:cs typeface="Calibri"/>
              </a:rPr>
              <a:t> process consumes high CPU usage, and the </a:t>
            </a:r>
            <a:r>
              <a:rPr lang="en-US" sz="2000" dirty="0" err="1">
                <a:cs typeface="Calibri"/>
              </a:rPr>
              <a:t>svchost</a:t>
            </a:r>
            <a:r>
              <a:rPr lang="en-US" sz="2000" dirty="0">
                <a:cs typeface="Calibri"/>
              </a:rPr>
              <a:t> process contains more than one service, you need to break each service out to run in its own </a:t>
            </a:r>
            <a:r>
              <a:rPr lang="en-US" sz="2000" dirty="0" err="1">
                <a:cs typeface="Calibri"/>
              </a:rPr>
              <a:t>svchost</a:t>
            </a:r>
            <a:r>
              <a:rPr lang="en-US" sz="2000" dirty="0">
                <a:cs typeface="Calibri"/>
              </a:rPr>
              <a:t> process to determine which service is causing the high CPU usage</a:t>
            </a:r>
            <a:r>
              <a:rPr lang="en-US" dirty="0"/>
              <a:t>.</a:t>
            </a: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r>
              <a:rPr lang="en-US" sz="2000" dirty="0">
                <a:cs typeface="Calibri"/>
              </a:rPr>
              <a:t>This issue may occur if the Power Options settings are set to Balanced. By default, Windows Server 2008 R2 or later sets the Balanced (recommended) power plan, which enables energy conservation by scaling the processor performance based on current CPU utilization.</a:t>
            </a: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80454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ea typeface="Calibri Light"/>
                <a:cs typeface="Calibri Light"/>
              </a:rPr>
              <a:t>SQL Server Slow Server Performance </a:t>
            </a:r>
            <a:endParaRPr lang="en-US" dirty="0"/>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600" dirty="0" err="1"/>
              <a:t>ARCserve</a:t>
            </a:r>
            <a:r>
              <a:rPr lang="en-US" sz="1600" dirty="0"/>
              <a:t> Backup Agent for Open Files or </a:t>
            </a:r>
            <a:r>
              <a:rPr lang="en-US" sz="1600" dirty="0" err="1"/>
              <a:t>ARCserve</a:t>
            </a:r>
            <a:r>
              <a:rPr lang="en-US" sz="1600" dirty="0"/>
              <a:t> Open File Agent from Computer Associates International, Inc. is installed on your computer, and the Ofant.sys driver for the program is outdated.</a:t>
            </a:r>
          </a:p>
          <a:p>
            <a:r>
              <a:rPr lang="en-US" sz="1600" dirty="0"/>
              <a:t>Open Transaction Manager is installed on your computer, and the Otman.sys driver for the program is </a:t>
            </a:r>
            <a:r>
              <a:rPr lang="en-US" sz="1600" dirty="0" err="1"/>
              <a:t>outdat</a:t>
            </a:r>
            <a:endParaRPr lang="en-US" sz="1600" dirty="0"/>
          </a:p>
          <a:p>
            <a:r>
              <a:rPr lang="en-US" sz="1600" dirty="0"/>
              <a:t>A VERITAS program that uses the Otman4.sys or Otman5.sys driver (such as Open File Option) is installed on your computer, and the Otman4.sys or Otman5.sys driver for the program is outdated.</a:t>
            </a:r>
          </a:p>
          <a:p>
            <a:r>
              <a:rPr lang="en-US" sz="1600" dirty="0"/>
              <a:t>The driver for the program is incompatible with the filter driver that is installed on the computer by a non-Microsoft antivirus program. As a result, the filter driver on the server may return an incorrect status code to the Server service. For example, the filter driver may return a STATUS_SUCCESS code instead of a STATUS_OPLOCK_BREAK_IN_PROGRESS code.</a:t>
            </a:r>
          </a:p>
          <a:p>
            <a:r>
              <a:rPr lang="en-US" sz="1600" dirty="0"/>
              <a:t>To resolve this issue, contact the manufacturer of the program to inquire about the availability of a filter driver update. For more information about how to contact Computer Associates to obtain the latest update for the Ofant.sys driver</a:t>
            </a:r>
          </a:p>
          <a:p>
            <a:endParaRPr lang="en-US" sz="1600" b="1" dirty="0">
              <a:cs typeface="Calibri"/>
            </a:endParaRPr>
          </a:p>
        </p:txBody>
      </p:sp>
    </p:spTree>
    <p:extLst>
      <p:ext uri="{BB962C8B-B14F-4D97-AF65-F5344CB8AC3E}">
        <p14:creationId xmlns:p14="http://schemas.microsoft.com/office/powerpoint/2010/main" val="2562354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SQL Server Performance Monitoring Tools</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3" y="1421985"/>
            <a:ext cx="7939234" cy="4794791"/>
          </a:xfrm>
        </p:spPr>
        <p:txBody>
          <a:bodyPr vert="horz" lIns="91440" tIns="45720" rIns="91440" bIns="45720" rtlCol="0" anchor="t">
            <a:noAutofit/>
          </a:bodyPr>
          <a:lstStyle/>
          <a:p>
            <a:endParaRPr lang="en-US" b="1" dirty="0"/>
          </a:p>
          <a:p>
            <a:endParaRPr lang="en-US" sz="800" dirty="0">
              <a:highlight>
                <a:srgbClr val="1F1F1F"/>
              </a:highlight>
              <a:latin typeface="Segoe UI"/>
              <a:ea typeface="Calibri"/>
              <a:cs typeface="Segoe UI"/>
            </a:endParaRPr>
          </a:p>
        </p:txBody>
      </p:sp>
      <p:pic>
        <p:nvPicPr>
          <p:cNvPr id="28" name="Graphic 27" descr="Database">
            <a:extLst>
              <a:ext uri="{FF2B5EF4-FFF2-40B4-BE49-F238E27FC236}">
                <a16:creationId xmlns:a16="http://schemas.microsoft.com/office/drawing/2014/main" id="{CCBC0961-34A1-EB79-116D-76876B8319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436084" y="1814516"/>
            <a:ext cx="3755915" cy="3755915"/>
          </a:xfrm>
          <a:prstGeom prst="rect">
            <a:avLst/>
          </a:prstGeom>
        </p:spPr>
      </p:pic>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6474E2FB-E8FB-8E5E-285A-9CE2D71F583F}"/>
              </a:ext>
            </a:extLst>
          </p:cNvPr>
          <p:cNvSpPr txBox="1"/>
          <p:nvPr/>
        </p:nvSpPr>
        <p:spPr>
          <a:xfrm>
            <a:off x="1050770" y="1421985"/>
            <a:ext cx="7638530" cy="3416320"/>
          </a:xfrm>
          <a:prstGeom prst="rect">
            <a:avLst/>
          </a:prstGeom>
          <a:noFill/>
        </p:spPr>
        <p:txBody>
          <a:bodyPr wrap="square" rtlCol="0">
            <a:spAutoFit/>
          </a:bodyPr>
          <a:lstStyle/>
          <a:p>
            <a:pPr marL="285750" indent="-285750">
              <a:buFont typeface="Arial" panose="020B0604020202020204" pitchFamily="34" charset="0"/>
              <a:buChar char="•"/>
            </a:pPr>
            <a:r>
              <a:rPr lang="en-US" dirty="0"/>
              <a:t>Activity Monitor – Provides a real-time “snapshot” of server health, displaying graphs for CPU utilization, waiting requests and expensive queries.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Extended Events: Performance Monitoring system replaced the deprecated SQL Server Profiler for capturing detailed event data with minimal overhead.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Query Store – Automatically captures a history of queries, execution plans and runtime statistics to identify performance regressions.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Windows Performance Monitor (</a:t>
            </a:r>
            <a:r>
              <a:rPr lang="en-US" dirty="0" err="1"/>
              <a:t>PerfMon</a:t>
            </a:r>
            <a:r>
              <a:rPr lang="en-US" dirty="0"/>
              <a:t>) A Windows OS tool used to track system resources (CPU, memory, Disk I/O) and correlate them with SQL server specific counters. </a:t>
            </a:r>
          </a:p>
        </p:txBody>
      </p:sp>
    </p:spTree>
    <p:extLst>
      <p:ext uri="{BB962C8B-B14F-4D97-AF65-F5344CB8AC3E}">
        <p14:creationId xmlns:p14="http://schemas.microsoft.com/office/powerpoint/2010/main" val="606416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BE521-14AE-1695-9722-084088DF9A6A}"/>
              </a:ext>
            </a:extLst>
          </p:cNvPr>
          <p:cNvSpPr>
            <a:spLocks noGrp="1"/>
          </p:cNvSpPr>
          <p:nvPr>
            <p:ph type="title"/>
          </p:nvPr>
        </p:nvSpPr>
        <p:spPr/>
        <p:txBody>
          <a:bodyPr/>
          <a:lstStyle/>
          <a:p>
            <a:r>
              <a:rPr lang="en-US" dirty="0"/>
              <a:t>SQL Server Database Tuning Advisor</a:t>
            </a:r>
          </a:p>
        </p:txBody>
      </p:sp>
      <p:sp>
        <p:nvSpPr>
          <p:cNvPr id="3" name="Content Placeholder 2">
            <a:extLst>
              <a:ext uri="{FF2B5EF4-FFF2-40B4-BE49-F238E27FC236}">
                <a16:creationId xmlns:a16="http://schemas.microsoft.com/office/drawing/2014/main" id="{93FC8CF4-AF75-D5DF-DB24-0B15E25B9D10}"/>
              </a:ext>
            </a:extLst>
          </p:cNvPr>
          <p:cNvSpPr>
            <a:spLocks noGrp="1"/>
          </p:cNvSpPr>
          <p:nvPr>
            <p:ph idx="1"/>
          </p:nvPr>
        </p:nvSpPr>
        <p:spPr/>
        <p:txBody>
          <a:bodyPr>
            <a:normAutofit/>
          </a:bodyPr>
          <a:lstStyle/>
          <a:p>
            <a:r>
              <a:rPr lang="en-US" sz="1800" dirty="0"/>
              <a:t>The SQL Server Database Engine Tuning Advisor (DTA) is a built-in tool that analyzes query workloads and recommends physical design changes—such as indexes, indexed views, and partitioning—to improve performance. </a:t>
            </a:r>
          </a:p>
          <a:p>
            <a:endParaRPr lang="en-US" sz="1800" dirty="0"/>
          </a:p>
          <a:p>
            <a:r>
              <a:rPr lang="en-US" sz="1800" b="1" dirty="0"/>
              <a:t>Workload Analysis</a:t>
            </a:r>
            <a:r>
              <a:rPr lang="en-US" sz="1800" dirty="0"/>
              <a:t>: Evaluates a set of Transact-SQL statements (workload) from sources like the </a:t>
            </a:r>
            <a:r>
              <a:rPr lang="en-US" sz="1800" dirty="0">
                <a:hlinkClick r:id="rId2">
                  <a:extLst>
                    <a:ext uri="{A12FA001-AC4F-418D-AE19-62706E023703}">
                      <ahyp:hlinkClr xmlns:ahyp="http://schemas.microsoft.com/office/drawing/2018/hyperlinkcolor" val="tx"/>
                    </a:ext>
                  </a:extLst>
                </a:hlinkClick>
              </a:rPr>
              <a:t>Query Store</a:t>
            </a:r>
            <a:r>
              <a:rPr lang="en-US" sz="1800" dirty="0"/>
              <a:t> (SQL 2016+), </a:t>
            </a:r>
            <a:r>
              <a:rPr lang="en-US" sz="1800" dirty="0">
                <a:hlinkClick r:id="rId3">
                  <a:extLst>
                    <a:ext uri="{A12FA001-AC4F-418D-AE19-62706E023703}">
                      <ahyp:hlinkClr xmlns:ahyp="http://schemas.microsoft.com/office/drawing/2018/hyperlinkcolor" val="tx"/>
                    </a:ext>
                  </a:extLst>
                </a:hlinkClick>
              </a:rPr>
              <a:t>plan cache</a:t>
            </a:r>
            <a:r>
              <a:rPr lang="en-US" sz="1800" dirty="0"/>
              <a:t>, or </a:t>
            </a:r>
            <a:r>
              <a:rPr lang="en-US" sz="1800" dirty="0">
                <a:hlinkClick r:id="rId4">
                  <a:extLst>
                    <a:ext uri="{A12FA001-AC4F-418D-AE19-62706E023703}">
                      <ahyp:hlinkClr xmlns:ahyp="http://schemas.microsoft.com/office/drawing/2018/hyperlinkcolor" val="tx"/>
                    </a:ext>
                  </a:extLst>
                </a:hlinkClick>
              </a:rPr>
              <a:t>SQL Server Profiler</a:t>
            </a:r>
            <a:r>
              <a:rPr lang="en-US" sz="1800" dirty="0"/>
              <a:t> trace files.</a:t>
            </a:r>
          </a:p>
          <a:p>
            <a:r>
              <a:rPr lang="en-US" sz="1800" b="1" dirty="0"/>
              <a:t>Recommendations</a:t>
            </a:r>
            <a:r>
              <a:rPr lang="en-US" sz="1800" dirty="0"/>
              <a:t>: Suggests adding, dropping, or modifying indexes (clustered and non-clustered) and partitioning strategies.</a:t>
            </a:r>
          </a:p>
          <a:p>
            <a:r>
              <a:rPr lang="en-US" sz="1800" b="1" dirty="0"/>
              <a:t>What-If Analysis</a:t>
            </a:r>
            <a:r>
              <a:rPr lang="en-US" sz="1800" dirty="0"/>
              <a:t>: Allows users to perform </a:t>
            </a:r>
            <a:r>
              <a:rPr lang="en-US" sz="1800" dirty="0">
                <a:hlinkClick r:id="rId5">
                  <a:extLst>
                    <a:ext uri="{A12FA001-AC4F-418D-AE19-62706E023703}">
                      <ahyp:hlinkClr xmlns:ahyp="http://schemas.microsoft.com/office/drawing/2018/hyperlinkcolor" val="tx"/>
                    </a:ext>
                  </a:extLst>
                </a:hlinkClick>
              </a:rPr>
              <a:t>exploratory analysis</a:t>
            </a:r>
            <a:r>
              <a:rPr lang="en-US" sz="1800" dirty="0"/>
              <a:t> by simulating physical design changes without actually implementing them.</a:t>
            </a:r>
          </a:p>
          <a:p>
            <a:r>
              <a:rPr lang="en-US" sz="1800" b="1" dirty="0"/>
              <a:t>Actionable Scripts</a:t>
            </a:r>
            <a:r>
              <a:rPr lang="en-US" sz="1800" dirty="0"/>
              <a:t>: Generates Transact-SQL scripts to implement the recommended changes immediately or at a scheduled time</a:t>
            </a:r>
          </a:p>
          <a:p>
            <a:endParaRPr lang="en-US" sz="1800" dirty="0"/>
          </a:p>
        </p:txBody>
      </p:sp>
    </p:spTree>
    <p:extLst>
      <p:ext uri="{BB962C8B-B14F-4D97-AF65-F5344CB8AC3E}">
        <p14:creationId xmlns:p14="http://schemas.microsoft.com/office/powerpoint/2010/main" val="3819536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630D8-82FC-CD6B-78DA-B631D8D33405}"/>
              </a:ext>
            </a:extLst>
          </p:cNvPr>
          <p:cNvSpPr>
            <a:spLocks noGrp="1"/>
          </p:cNvSpPr>
          <p:nvPr>
            <p:ph type="title"/>
          </p:nvPr>
        </p:nvSpPr>
        <p:spPr/>
        <p:txBody>
          <a:bodyPr/>
          <a:lstStyle/>
          <a:p>
            <a:r>
              <a:rPr lang="en-US" dirty="0"/>
              <a:t>SQL Server Dynamic Management View </a:t>
            </a:r>
          </a:p>
        </p:txBody>
      </p:sp>
      <p:sp>
        <p:nvSpPr>
          <p:cNvPr id="3" name="Content Placeholder 2">
            <a:extLst>
              <a:ext uri="{FF2B5EF4-FFF2-40B4-BE49-F238E27FC236}">
                <a16:creationId xmlns:a16="http://schemas.microsoft.com/office/drawing/2014/main" id="{5CADAB25-4598-802A-913E-DC5235D94DD1}"/>
              </a:ext>
            </a:extLst>
          </p:cNvPr>
          <p:cNvSpPr>
            <a:spLocks noGrp="1"/>
          </p:cNvSpPr>
          <p:nvPr>
            <p:ph idx="1"/>
          </p:nvPr>
        </p:nvSpPr>
        <p:spPr/>
        <p:txBody>
          <a:bodyPr>
            <a:normAutofit/>
          </a:bodyPr>
          <a:lstStyle/>
          <a:p>
            <a:r>
              <a:rPr lang="en-US" sz="1600" dirty="0"/>
              <a:t>Dynamic Management Views (DMVs) and Functions (DMFs) are built-in system objects in SQL Server that provide real-time insights into server state, health, and performance. </a:t>
            </a:r>
          </a:p>
          <a:p>
            <a:r>
              <a:rPr lang="en-US" b="1" dirty="0"/>
              <a:t>Real-Time Data:</a:t>
            </a:r>
            <a:r>
              <a:rPr lang="en-US" dirty="0"/>
              <a:t> </a:t>
            </a:r>
            <a:r>
              <a:rPr lang="en-US" sz="1600" dirty="0"/>
              <a:t>Most DMVs reflect the current state or cached data since the last SQL Server restart</a:t>
            </a:r>
            <a:r>
              <a:rPr lang="en-US" dirty="0"/>
              <a:t>.</a:t>
            </a:r>
          </a:p>
          <a:p>
            <a:r>
              <a:rPr lang="en-US" b="1" dirty="0"/>
              <a:t>Virtual Nature:</a:t>
            </a:r>
            <a:r>
              <a:rPr lang="en-US" dirty="0"/>
              <a:t> </a:t>
            </a:r>
            <a:r>
              <a:rPr lang="en-US" sz="1600" dirty="0"/>
              <a:t>They behave like standard views and can be queried using SELECT statements</a:t>
            </a:r>
            <a:r>
              <a:rPr lang="en-US" dirty="0"/>
              <a:t>.</a:t>
            </a:r>
          </a:p>
          <a:p>
            <a:r>
              <a:rPr lang="en-US" b="1" dirty="0"/>
              <a:t>Naming Convention:</a:t>
            </a:r>
            <a:r>
              <a:rPr lang="en-US" dirty="0"/>
              <a:t> </a:t>
            </a:r>
            <a:r>
              <a:rPr lang="en-US" sz="1600" dirty="0"/>
              <a:t>All DMVs and DMFs exist in the </a:t>
            </a:r>
            <a:r>
              <a:rPr lang="en-US" sz="1600" dirty="0" err="1"/>
              <a:t>sys.schema</a:t>
            </a:r>
            <a:r>
              <a:rPr lang="en-US" sz="1600" dirty="0"/>
              <a:t> and their names start with dm_ (e.g., </a:t>
            </a:r>
            <a:r>
              <a:rPr lang="en-US" sz="1600" b="1" dirty="0" err="1"/>
              <a:t>sys.dm_exec_requests</a:t>
            </a:r>
            <a:r>
              <a:rPr lang="en-US" sz="1600" dirty="0"/>
              <a:t>).</a:t>
            </a:r>
          </a:p>
          <a:p>
            <a:r>
              <a:rPr lang="en-US" b="1" dirty="0"/>
              <a:t>Compatibility Warning:</a:t>
            </a:r>
            <a:r>
              <a:rPr lang="en-US" dirty="0"/>
              <a:t> </a:t>
            </a:r>
            <a:r>
              <a:rPr lang="en-US" sz="1600" dirty="0"/>
              <a:t>Microsoft may change DMV schemas between versions; it is recommended to avoid SELECT * in production code to prevent breaking applications</a:t>
            </a:r>
            <a:r>
              <a:rPr lang="en-US" dirty="0"/>
              <a:t>.</a:t>
            </a:r>
          </a:p>
          <a:p>
            <a:endParaRPr lang="en-US" dirty="0"/>
          </a:p>
        </p:txBody>
      </p:sp>
    </p:spTree>
    <p:extLst>
      <p:ext uri="{BB962C8B-B14F-4D97-AF65-F5344CB8AC3E}">
        <p14:creationId xmlns:p14="http://schemas.microsoft.com/office/powerpoint/2010/main" val="1193641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4E2C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556CD4-E056-BD29-8B9D-63D9702980FA}"/>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SQL Server DMVs for Performance Tuning</a:t>
            </a:r>
          </a:p>
        </p:txBody>
      </p:sp>
      <p:pic>
        <p:nvPicPr>
          <p:cNvPr id="5" name="Content Placeholder 4">
            <a:extLst>
              <a:ext uri="{FF2B5EF4-FFF2-40B4-BE49-F238E27FC236}">
                <a16:creationId xmlns:a16="http://schemas.microsoft.com/office/drawing/2014/main" id="{B83DEC88-D4D3-BAD4-95F2-2EEAFC9A6E04}"/>
              </a:ext>
            </a:extLst>
          </p:cNvPr>
          <p:cNvPicPr>
            <a:picLocks noGrp="1" noChangeAspect="1"/>
          </p:cNvPicPr>
          <p:nvPr>
            <p:ph idx="1"/>
          </p:nvPr>
        </p:nvPicPr>
        <p:blipFill>
          <a:blip r:embed="rId2"/>
          <a:stretch>
            <a:fillRect/>
          </a:stretch>
        </p:blipFill>
        <p:spPr>
          <a:xfrm>
            <a:off x="4247245" y="640080"/>
            <a:ext cx="7268913" cy="5578816"/>
          </a:xfrm>
          <a:prstGeom prst="rect">
            <a:avLst/>
          </a:prstGeom>
        </p:spPr>
      </p:pic>
    </p:spTree>
    <p:extLst>
      <p:ext uri="{BB962C8B-B14F-4D97-AF65-F5344CB8AC3E}">
        <p14:creationId xmlns:p14="http://schemas.microsoft.com/office/powerpoint/2010/main" val="2220679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B0015-3B7C-792B-8E15-BAA445EAE5A3}"/>
              </a:ext>
            </a:extLst>
          </p:cNvPr>
          <p:cNvSpPr>
            <a:spLocks noGrp="1"/>
          </p:cNvSpPr>
          <p:nvPr>
            <p:ph type="title"/>
          </p:nvPr>
        </p:nvSpPr>
        <p:spPr/>
        <p:txBody>
          <a:bodyPr/>
          <a:lstStyle/>
          <a:p>
            <a:r>
              <a:rPr lang="en-US" dirty="0"/>
              <a:t>Azure SQL Server Performance Tuning</a:t>
            </a:r>
          </a:p>
        </p:txBody>
      </p:sp>
      <p:sp>
        <p:nvSpPr>
          <p:cNvPr id="3" name="Content Placeholder 2">
            <a:extLst>
              <a:ext uri="{FF2B5EF4-FFF2-40B4-BE49-F238E27FC236}">
                <a16:creationId xmlns:a16="http://schemas.microsoft.com/office/drawing/2014/main" id="{22F5D580-4823-404D-621D-FFB7E9674026}"/>
              </a:ext>
            </a:extLst>
          </p:cNvPr>
          <p:cNvSpPr>
            <a:spLocks noGrp="1"/>
          </p:cNvSpPr>
          <p:nvPr>
            <p:ph idx="1"/>
          </p:nvPr>
        </p:nvSpPr>
        <p:spPr/>
        <p:txBody>
          <a:bodyPr>
            <a:normAutofit/>
          </a:bodyPr>
          <a:lstStyle/>
          <a:p>
            <a:r>
              <a:rPr lang="en-US" sz="1600" dirty="0"/>
              <a:t>Performance tuning for Azure SQL involves a combination of leveraging built-in automated tools, optimizing application design, and manual database adjustments. </a:t>
            </a:r>
          </a:p>
          <a:p>
            <a:r>
              <a:rPr lang="en-US" dirty="0">
                <a:hlinkClick r:id="rId2"/>
              </a:rPr>
              <a:t>Automatic Tuning</a:t>
            </a:r>
            <a:r>
              <a:rPr lang="en-US" b="1" dirty="0"/>
              <a:t>:</a:t>
            </a:r>
            <a:r>
              <a:rPr lang="en-US" dirty="0"/>
              <a:t> </a:t>
            </a:r>
            <a:r>
              <a:rPr lang="en-US" sz="1600" dirty="0"/>
              <a:t>Continuously monitors query performance and can automatically implement recommendations.</a:t>
            </a:r>
          </a:p>
          <a:p>
            <a:pPr lvl="1"/>
            <a:r>
              <a:rPr lang="en-US" sz="1600" dirty="0"/>
              <a:t>FORCE_LAST_GOOD_PLAN: Detects plan regressions and forces the last known good execution plan.</a:t>
            </a:r>
          </a:p>
          <a:p>
            <a:pPr lvl="1"/>
            <a:r>
              <a:rPr lang="en-US" sz="1600" dirty="0"/>
              <a:t>CREATE_INDEX / DROP_INDEX: Identifies and automatically creates missing indexes or removes unused ones to improve speed and reduce overhead.</a:t>
            </a:r>
          </a:p>
          <a:p>
            <a:r>
              <a:rPr lang="en-US" dirty="0">
                <a:hlinkClick r:id="rId3"/>
              </a:rPr>
              <a:t>Query Performance Insight</a:t>
            </a:r>
            <a:r>
              <a:rPr lang="en-US" b="1" dirty="0"/>
              <a:t>:</a:t>
            </a:r>
            <a:r>
              <a:rPr lang="en-US" dirty="0"/>
              <a:t> </a:t>
            </a:r>
            <a:r>
              <a:rPr lang="en-US" sz="1600" dirty="0"/>
              <a:t>A visual tool in the Azure portal to identify top resource-consuming (CPU, Data IO, Log IO) and long-running queries.</a:t>
            </a:r>
          </a:p>
          <a:p>
            <a:r>
              <a:rPr lang="en-US" dirty="0">
                <a:hlinkClick r:id="rId4"/>
              </a:rPr>
              <a:t>Database Advisors</a:t>
            </a:r>
            <a:r>
              <a:rPr lang="en-US" b="1" dirty="0"/>
              <a:t>:</a:t>
            </a:r>
            <a:r>
              <a:rPr lang="en-US" dirty="0"/>
              <a:t> </a:t>
            </a:r>
            <a:r>
              <a:rPr lang="en-US" sz="1600" dirty="0"/>
              <a:t>Provides specific recommendations for indexing, parameterization, and schema changes based on actual workload patterns</a:t>
            </a:r>
          </a:p>
          <a:p>
            <a:endParaRPr lang="en-US" sz="1600" dirty="0"/>
          </a:p>
        </p:txBody>
      </p:sp>
    </p:spTree>
    <p:extLst>
      <p:ext uri="{BB962C8B-B14F-4D97-AF65-F5344CB8AC3E}">
        <p14:creationId xmlns:p14="http://schemas.microsoft.com/office/powerpoint/2010/main" val="3732587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7E21A-7A72-57D7-114D-0545F1291A1E}"/>
              </a:ext>
            </a:extLst>
          </p:cNvPr>
          <p:cNvSpPr>
            <a:spLocks noGrp="1"/>
          </p:cNvSpPr>
          <p:nvPr>
            <p:ph type="title"/>
          </p:nvPr>
        </p:nvSpPr>
        <p:spPr/>
        <p:txBody>
          <a:bodyPr/>
          <a:lstStyle/>
          <a:p>
            <a:r>
              <a:rPr lang="en-US" dirty="0"/>
              <a:t>Azure Application &amp; Infra Best Practices</a:t>
            </a:r>
          </a:p>
        </p:txBody>
      </p:sp>
      <p:sp>
        <p:nvSpPr>
          <p:cNvPr id="3" name="Content Placeholder 2">
            <a:extLst>
              <a:ext uri="{FF2B5EF4-FFF2-40B4-BE49-F238E27FC236}">
                <a16:creationId xmlns:a16="http://schemas.microsoft.com/office/drawing/2014/main" id="{85760BC0-A647-71DC-11ED-A18AAB5C490C}"/>
              </a:ext>
            </a:extLst>
          </p:cNvPr>
          <p:cNvSpPr>
            <a:spLocks noGrp="1"/>
          </p:cNvSpPr>
          <p:nvPr>
            <p:ph idx="1"/>
          </p:nvPr>
        </p:nvSpPr>
        <p:spPr/>
        <p:txBody>
          <a:bodyPr>
            <a:normAutofit/>
          </a:bodyPr>
          <a:lstStyle/>
          <a:p>
            <a:r>
              <a:rPr lang="en-US" sz="1600" b="1" dirty="0"/>
              <a:t>Reduce "Chatty" Behavior:</a:t>
            </a:r>
            <a:r>
              <a:rPr lang="en-US" sz="1600" dirty="0"/>
              <a:t> Minimize round trips by using batch queries or moving logic into stored procedures.</a:t>
            </a:r>
          </a:p>
          <a:p>
            <a:r>
              <a:rPr lang="en-US" sz="1600" b="1" dirty="0"/>
              <a:t>Implement Caching:</a:t>
            </a:r>
            <a:r>
              <a:rPr lang="en-US" sz="1600" dirty="0"/>
              <a:t> Use Azure Cache for Redis or client-side caching to store frequently accessed data and reduce read pressure on the database.</a:t>
            </a:r>
          </a:p>
          <a:p>
            <a:r>
              <a:rPr lang="en-US" sz="1600" b="1" dirty="0"/>
              <a:t>Connection Pooling:</a:t>
            </a:r>
            <a:r>
              <a:rPr lang="en-US" sz="1600" dirty="0"/>
              <a:t> Properly configure connection pool settings (e.g., maximum connections and timeouts) to manage concurrency effectively.</a:t>
            </a:r>
          </a:p>
          <a:p>
            <a:r>
              <a:rPr lang="en-US" sz="1600" b="1" dirty="0"/>
              <a:t>Retry Logic:</a:t>
            </a:r>
            <a:r>
              <a:rPr lang="en-US" sz="1600" dirty="0"/>
              <a:t> Implement transient error handling to gracefully manage brief connectivity or resource-related failure. </a:t>
            </a:r>
          </a:p>
          <a:p>
            <a:endParaRPr lang="en-US" sz="1600" dirty="0"/>
          </a:p>
          <a:p>
            <a:r>
              <a:rPr lang="en-US" sz="1700" b="1" dirty="0"/>
              <a:t>Service Tiers:</a:t>
            </a:r>
            <a:r>
              <a:rPr lang="en-US" sz="1700" dirty="0"/>
              <a:t> Switch between DTU and </a:t>
            </a:r>
            <a:r>
              <a:rPr lang="en-US" sz="1700" dirty="0" err="1"/>
              <a:t>vCore</a:t>
            </a:r>
            <a:r>
              <a:rPr lang="en-US" sz="1700" dirty="0"/>
              <a:t> models or upgrade to a higher performance level if CPU or IO consistently hits limits (e.g., above 80%).</a:t>
            </a:r>
          </a:p>
          <a:p>
            <a:r>
              <a:rPr lang="en-US" sz="1700" dirty="0">
                <a:hlinkClick r:id="rId2"/>
              </a:rPr>
              <a:t>Storage Best Practices (for SQL VMs)</a:t>
            </a:r>
            <a:r>
              <a:rPr lang="en-US" sz="1700" b="1" dirty="0"/>
              <a:t>:</a:t>
            </a:r>
            <a:r>
              <a:rPr lang="en-US" sz="1700" dirty="0"/>
              <a:t> For SQL Server on VMs, ensure data and log files are on separate premium SSDs and use a 64-KB allocation unit size.</a:t>
            </a:r>
          </a:p>
          <a:p>
            <a:r>
              <a:rPr lang="en-US" sz="1700" b="1" dirty="0"/>
              <a:t>Memory Management:</a:t>
            </a:r>
            <a:r>
              <a:rPr lang="en-US" sz="1700" dirty="0"/>
              <a:t> For </a:t>
            </a:r>
            <a:r>
              <a:rPr lang="en-US" sz="1700" dirty="0">
                <a:hlinkClick r:id="rId3"/>
              </a:rPr>
              <a:t>Managed Instances</a:t>
            </a:r>
            <a:r>
              <a:rPr lang="en-US" sz="1700" dirty="0"/>
              <a:t>, use flexible memory allocation to match memory-intensive workloads</a:t>
            </a:r>
          </a:p>
          <a:p>
            <a:endParaRPr lang="en-US" sz="1600" dirty="0"/>
          </a:p>
          <a:p>
            <a:endParaRPr lang="en-US" dirty="0"/>
          </a:p>
        </p:txBody>
      </p:sp>
    </p:spTree>
    <p:extLst>
      <p:ext uri="{BB962C8B-B14F-4D97-AF65-F5344CB8AC3E}">
        <p14:creationId xmlns:p14="http://schemas.microsoft.com/office/powerpoint/2010/main" val="2380143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40A4E1-DF67-C317-06F0-01ED720C684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Azure SQL database Detect Performance Bottlenecks </a:t>
            </a:r>
          </a:p>
        </p:txBody>
      </p:sp>
      <p:pic>
        <p:nvPicPr>
          <p:cNvPr id="1026" name="Picture 2" descr="Diagram of workload states, running and waiting.">
            <a:extLst>
              <a:ext uri="{FF2B5EF4-FFF2-40B4-BE49-F238E27FC236}">
                <a16:creationId xmlns:a16="http://schemas.microsoft.com/office/drawing/2014/main" id="{24B7A270-AA5C-E960-86F0-3C1AD06DBD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77316" y="1423078"/>
            <a:ext cx="6780700" cy="4009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505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CDE40-92C6-B597-2EDC-2DA88E32066D}"/>
              </a:ext>
            </a:extLst>
          </p:cNvPr>
          <p:cNvSpPr>
            <a:spLocks noGrp="1"/>
          </p:cNvSpPr>
          <p:nvPr>
            <p:ph type="title"/>
          </p:nvPr>
        </p:nvSpPr>
        <p:spPr/>
        <p:txBody>
          <a:bodyPr/>
          <a:lstStyle/>
          <a:p>
            <a:r>
              <a:rPr lang="en-US" dirty="0"/>
              <a:t>Azure SQL DB Wait related Issues</a:t>
            </a:r>
          </a:p>
        </p:txBody>
      </p:sp>
      <p:sp>
        <p:nvSpPr>
          <p:cNvPr id="3" name="Content Placeholder 2">
            <a:extLst>
              <a:ext uri="{FF2B5EF4-FFF2-40B4-BE49-F238E27FC236}">
                <a16:creationId xmlns:a16="http://schemas.microsoft.com/office/drawing/2014/main" id="{90BCB035-3A16-39E9-D3B2-DA0226401E6A}"/>
              </a:ext>
            </a:extLst>
          </p:cNvPr>
          <p:cNvSpPr>
            <a:spLocks noGrp="1"/>
          </p:cNvSpPr>
          <p:nvPr>
            <p:ph idx="1"/>
          </p:nvPr>
        </p:nvSpPr>
        <p:spPr/>
        <p:txBody>
          <a:bodyPr>
            <a:normAutofit/>
          </a:bodyPr>
          <a:lstStyle/>
          <a:p>
            <a:r>
              <a:rPr lang="en-US" sz="1600" b="1" dirty="0"/>
              <a:t>Blocking</a:t>
            </a:r>
            <a:r>
              <a:rPr lang="en-US" sz="1600" dirty="0"/>
              <a:t>:</a:t>
            </a:r>
          </a:p>
          <a:p>
            <a:r>
              <a:rPr lang="en-US" sz="1600" dirty="0"/>
              <a:t>One query might hold the lock on objects in the database while others try to access the same objects. You can identify blocking queries by using </a:t>
            </a:r>
            <a:r>
              <a:rPr lang="en-US" sz="1600" dirty="0">
                <a:hlinkClick r:id="rId2"/>
              </a:rPr>
              <a:t>DMVs</a:t>
            </a:r>
            <a:r>
              <a:rPr lang="en-US" sz="1600" dirty="0"/>
              <a:t> or </a:t>
            </a:r>
            <a:r>
              <a:rPr lang="en-US" sz="1600" dirty="0">
                <a:hlinkClick r:id="rId3"/>
              </a:rPr>
              <a:t>database watcher</a:t>
            </a:r>
            <a:r>
              <a:rPr lang="en-US" sz="1600" dirty="0"/>
              <a:t>. For more information, see </a:t>
            </a:r>
            <a:r>
              <a:rPr lang="en-US" sz="1600" dirty="0">
                <a:hlinkClick r:id="rId4"/>
              </a:rPr>
              <a:t>Understand and resolve Azure SQL Database blocking problems</a:t>
            </a:r>
            <a:r>
              <a:rPr lang="en-US" sz="1600" dirty="0"/>
              <a:t>.</a:t>
            </a:r>
          </a:p>
          <a:p>
            <a:r>
              <a:rPr lang="en-US" sz="1600" b="1" dirty="0"/>
              <a:t>IO problems</a:t>
            </a:r>
            <a:endParaRPr lang="en-US" sz="1600" dirty="0"/>
          </a:p>
          <a:p>
            <a:r>
              <a:rPr lang="en-US" sz="1600" dirty="0"/>
              <a:t>Queries might be waiting for the pages to be written to the data or log files. In this case, check the INSTANCE_LOG_RATE_GOVERNOR, WRITE_LOG, or PAGEIOLATCH_* wait statistics in the DMV. See using DMVs to </a:t>
            </a:r>
            <a:r>
              <a:rPr lang="en-US" sz="1600" dirty="0">
                <a:hlinkClick r:id="rId5"/>
              </a:rPr>
              <a:t>identify IO performance issues</a:t>
            </a:r>
            <a:r>
              <a:rPr lang="en-US" sz="1600" dirty="0"/>
              <a:t>.</a:t>
            </a:r>
          </a:p>
          <a:p>
            <a:r>
              <a:rPr lang="en-US" sz="1600" b="1" dirty="0" err="1"/>
              <a:t>Tempdb</a:t>
            </a:r>
            <a:r>
              <a:rPr lang="en-US" sz="1600" b="1" dirty="0"/>
              <a:t> problems</a:t>
            </a:r>
            <a:endParaRPr lang="en-US" sz="1600" dirty="0"/>
          </a:p>
          <a:p>
            <a:r>
              <a:rPr lang="en-US" sz="1600" dirty="0"/>
              <a:t>If the workload uses temporary tables or there are </a:t>
            </a:r>
            <a:r>
              <a:rPr lang="en-US" sz="1600" dirty="0" err="1"/>
              <a:t>tempdb</a:t>
            </a:r>
            <a:r>
              <a:rPr lang="en-US" sz="1600" dirty="0"/>
              <a:t> spills in the plans, the queries might have a problem with </a:t>
            </a:r>
            <a:r>
              <a:rPr lang="en-US" sz="1600" dirty="0" err="1"/>
              <a:t>tempdb</a:t>
            </a:r>
            <a:r>
              <a:rPr lang="en-US" sz="1600" dirty="0"/>
              <a:t> throughput. To investigate further, review </a:t>
            </a:r>
            <a:r>
              <a:rPr lang="en-US" sz="1600" dirty="0">
                <a:hlinkClick r:id="rId6"/>
              </a:rPr>
              <a:t>identify </a:t>
            </a:r>
            <a:r>
              <a:rPr lang="en-US" sz="1600" dirty="0" err="1">
                <a:hlinkClick r:id="rId6"/>
              </a:rPr>
              <a:t>tempdb</a:t>
            </a:r>
            <a:r>
              <a:rPr lang="en-US" sz="1600" dirty="0">
                <a:hlinkClick r:id="rId6"/>
              </a:rPr>
              <a:t> issues</a:t>
            </a:r>
            <a:r>
              <a:rPr lang="en-US" sz="1600" dirty="0"/>
              <a:t>.</a:t>
            </a:r>
          </a:p>
          <a:p>
            <a:r>
              <a:rPr lang="en-US" sz="1600" b="1" dirty="0"/>
              <a:t>Memory-related problems</a:t>
            </a:r>
            <a:endParaRPr lang="en-US" sz="1600" dirty="0"/>
          </a:p>
          <a:p>
            <a:r>
              <a:rPr lang="en-US" sz="1600" dirty="0"/>
              <a:t>If the workload doesn't have enough memory, the page life expectancy might drop, or the queries might get less memory than they need. In some cases, built-in intelligence in Query Optimizer will fix memory-related problems. See using DMVs to </a:t>
            </a:r>
            <a:r>
              <a:rPr lang="en-US" sz="1600" dirty="0">
                <a:hlinkClick r:id="rId7"/>
              </a:rPr>
              <a:t>identify memory grant issues</a:t>
            </a:r>
            <a:endParaRPr lang="en-US" sz="1600" dirty="0"/>
          </a:p>
          <a:p>
            <a:endParaRPr lang="en-US" dirty="0"/>
          </a:p>
        </p:txBody>
      </p:sp>
    </p:spTree>
    <p:extLst>
      <p:ext uri="{BB962C8B-B14F-4D97-AF65-F5344CB8AC3E}">
        <p14:creationId xmlns:p14="http://schemas.microsoft.com/office/powerpoint/2010/main" val="3149559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SQL Server Performance Tuning</a:t>
            </a:r>
            <a:endParaRPr lang="en-US" dirty="0"/>
          </a:p>
          <a:p>
            <a:pPr marL="0" indent="0">
              <a:buNone/>
            </a:pPr>
            <a:endParaRPr lang="en-US" dirty="0">
              <a:ea typeface="Calibri"/>
              <a:cs typeface="Calibri"/>
            </a:endParaRPr>
          </a:p>
          <a:p>
            <a:r>
              <a:rPr lang="en-US" dirty="0">
                <a:ea typeface="Calibri"/>
                <a:cs typeface="Calibri"/>
              </a:rPr>
              <a:t>SQL Server Slow Performance Reasons</a:t>
            </a:r>
          </a:p>
          <a:p>
            <a:endParaRPr lang="en-US" dirty="0">
              <a:ea typeface="Calibri"/>
              <a:cs typeface="Calibri"/>
            </a:endParaRPr>
          </a:p>
          <a:p>
            <a:r>
              <a:rPr lang="en-US" dirty="0">
                <a:ea typeface="Calibri"/>
                <a:cs typeface="Calibri"/>
              </a:rPr>
              <a:t>SQL Server Monitoring Tools</a:t>
            </a:r>
          </a:p>
          <a:p>
            <a:pPr marL="0" indent="0">
              <a:buNone/>
            </a:pPr>
            <a:endParaRPr lang="en-US" dirty="0">
              <a:ea typeface="Calibri"/>
              <a:cs typeface="Calibri"/>
            </a:endParaRPr>
          </a:p>
          <a:p>
            <a:r>
              <a:rPr lang="en-US" dirty="0">
                <a:ea typeface="Calibri"/>
                <a:cs typeface="Calibri"/>
              </a:rPr>
              <a:t> Azure SQL Server Performance Tuning</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462</TotalTime>
  <Words>1882</Words>
  <Application>Microsoft Office PowerPoint</Application>
  <PresentationFormat>Widescreen</PresentationFormat>
  <Paragraphs>130</Paragraphs>
  <Slides>19</Slides>
  <Notes>1</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Calibri</vt:lpstr>
      <vt:lpstr>Calibri Light</vt:lpstr>
      <vt:lpstr>Segoe UI</vt:lpstr>
      <vt:lpstr>Wingdings</vt:lpstr>
      <vt:lpstr>Office 2013 - 2022 Theme</vt:lpstr>
      <vt:lpstr>SQL Server Administration &amp; Azure Data Engineering</vt:lpstr>
      <vt:lpstr>Agenda</vt:lpstr>
      <vt:lpstr>SQL Server Performance Tuning </vt:lpstr>
      <vt:lpstr>SQL Server Performance Monitoring Tools</vt:lpstr>
      <vt:lpstr>SQL Server Performance Tuning Tools</vt:lpstr>
      <vt:lpstr>SQL Server Poor Performance Root Causes</vt:lpstr>
      <vt:lpstr>SQL Server Query Level Troubleshooting</vt:lpstr>
      <vt:lpstr>SQL Server Query Optimization Techniques</vt:lpstr>
      <vt:lpstr>SQL Server Troubleshooting</vt:lpstr>
      <vt:lpstr>SQL Server Slow Server Performance </vt:lpstr>
      <vt:lpstr>SQL Server Performance Monitoring Tools</vt:lpstr>
      <vt:lpstr>SQL Server Database Tuning Advisor</vt:lpstr>
      <vt:lpstr>SQL Server Dynamic Management View </vt:lpstr>
      <vt:lpstr>SQL Server DMVs for Performance Tuning</vt:lpstr>
      <vt:lpstr>Azure SQL Server Performance Tuning</vt:lpstr>
      <vt:lpstr>Azure Application &amp; Infra Best Practices</vt:lpstr>
      <vt:lpstr>Azure SQL database Detect Performance Bottlenecks </vt:lpstr>
      <vt:lpstr>Azure SQL DB Wait related Issues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583</cp:revision>
  <dcterms:created xsi:type="dcterms:W3CDTF">2026-04-11T17:33:10Z</dcterms:created>
  <dcterms:modified xsi:type="dcterms:W3CDTF">2026-04-24T23:10:04Z</dcterms:modified>
</cp:coreProperties>
</file>