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sldIdLst>
    <p:sldId id="283" r:id="rId2"/>
    <p:sldId id="257" r:id="rId3"/>
    <p:sldId id="258" r:id="rId4"/>
    <p:sldId id="260" r:id="rId5"/>
    <p:sldId id="261" r:id="rId6"/>
    <p:sldId id="262" r:id="rId7"/>
    <p:sldId id="264" r:id="rId8"/>
    <p:sldId id="265" r:id="rId9"/>
    <p:sldId id="266" r:id="rId10"/>
    <p:sldId id="267" r:id="rId11"/>
    <p:sldId id="28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2B2F5-69FF-405F-9082-6A963446B6E1}" type="datetimeFigureOut">
              <a:rPr lang="en-US" smtClean="0"/>
              <a:t>4/25/2026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5F0A98-8248-4526-AF0D-B5B8042F2A6C}" type="slidenum">
              <a:rPr lang="en-US" smtClean="0"/>
              <a:t>‹#›</a:t>
            </a:fld>
            <a:endParaRPr lang="en-US"/>
          </a:p>
        </p:txBody>
      </p:sp>
    </p:spTree>
    <p:extLst>
      <p:ext uri="{BB962C8B-B14F-4D97-AF65-F5344CB8AC3E}">
        <p14:creationId xmlns:p14="http://schemas.microsoft.com/office/powerpoint/2010/main" val="784050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F0A98-8248-4526-AF0D-B5B8042F2A6C}" type="slidenum">
              <a:rPr lang="en-US" smtClean="0"/>
              <a:t>4</a:t>
            </a:fld>
            <a:endParaRPr lang="en-US"/>
          </a:p>
        </p:txBody>
      </p:sp>
    </p:spTree>
    <p:extLst>
      <p:ext uri="{BB962C8B-B14F-4D97-AF65-F5344CB8AC3E}">
        <p14:creationId xmlns:p14="http://schemas.microsoft.com/office/powerpoint/2010/main" val="2139816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5F0A98-8248-4526-AF0D-B5B8042F2A6C}" type="slidenum">
              <a:rPr lang="en-US" smtClean="0"/>
              <a:t>10</a:t>
            </a:fld>
            <a:endParaRPr lang="en-US"/>
          </a:p>
        </p:txBody>
      </p:sp>
    </p:spTree>
    <p:extLst>
      <p:ext uri="{BB962C8B-B14F-4D97-AF65-F5344CB8AC3E}">
        <p14:creationId xmlns:p14="http://schemas.microsoft.com/office/powerpoint/2010/main" val="1751206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azure/databricks/data-governance/unity-catalog/"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F670B7-BE47-7E35-0D27-0BAB2C561052}"/>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8219B7A-2A46-EAB6-DB28-580FA3519F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92BC140-2EEB-8EEA-E87E-6A111266ED29}"/>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83B80ED1-C27B-6D48-B5D8-A825BB88C9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30F9ED15-CDB1-785A-7695-72DF53472499}"/>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1767AC54-0FE9-0C64-0851-2225707E0491}"/>
              </a:ext>
            </a:extLst>
          </p:cNvPr>
          <p:cNvSpPr>
            <a:spLocks noGrp="1"/>
          </p:cNvSpPr>
          <p:nvPr>
            <p:ph type="subTitle" idx="1"/>
          </p:nvPr>
        </p:nvSpPr>
        <p:spPr>
          <a:xfrm>
            <a:off x="3880419" y="3668285"/>
            <a:ext cx="4431162" cy="1337967"/>
          </a:xfrm>
        </p:spPr>
        <p:txBody>
          <a:bodyPr vert="horz" lIns="91440" tIns="45720" rIns="91440" bIns="45720" rtlCol="0" anchor="t">
            <a:normAutofit/>
          </a:bodyPr>
          <a:lstStyle/>
          <a:p>
            <a:r>
              <a:rPr lang="en-US" dirty="0"/>
              <a:t>Day 9 </a:t>
            </a:r>
          </a:p>
        </p:txBody>
      </p:sp>
    </p:spTree>
    <p:extLst>
      <p:ext uri="{BB962C8B-B14F-4D97-AF65-F5344CB8AC3E}">
        <p14:creationId xmlns:p14="http://schemas.microsoft.com/office/powerpoint/2010/main" val="2006319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235346"/>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49756"/>
            <a:ext cx="6251110" cy="3440732"/>
          </a:xfrm>
        </p:spPr>
        <p:txBody>
          <a:bodyPr vert="horz" lIns="91440" tIns="45720" rIns="91440" bIns="45720" rtlCol="0" anchor="t">
            <a:normAutofit/>
          </a:bodyPr>
          <a:lstStyle/>
          <a:p>
            <a:r>
              <a:rPr lang="en-US" sz="2200" dirty="0"/>
              <a:t>Azure SQL Elastic Pools Overview</a:t>
            </a:r>
          </a:p>
          <a:p>
            <a:r>
              <a:rPr lang="en-US" sz="2200" dirty="0"/>
              <a:t>Azure Blob Storage Overview</a:t>
            </a:r>
          </a:p>
          <a:p>
            <a:r>
              <a:rPr lang="en-US" sz="2200" dirty="0"/>
              <a:t>Azure Data Lake Gen2 Storage</a:t>
            </a:r>
          </a:p>
          <a:p>
            <a:r>
              <a:rPr lang="en-US" sz="2200" dirty="0"/>
              <a:t>Azure Databricks Introduction</a:t>
            </a:r>
          </a:p>
          <a:p>
            <a:r>
              <a:rPr lang="en-US" sz="2200" dirty="0"/>
              <a:t>Components of Databricks</a:t>
            </a:r>
          </a:p>
          <a:p>
            <a:r>
              <a:rPr lang="en-US" sz="2200" dirty="0"/>
              <a:t>Working principles of Databricks</a:t>
            </a:r>
          </a:p>
          <a:p>
            <a:endParaRPr lang="en-US" sz="2200" dirty="0"/>
          </a:p>
          <a:p>
            <a:endParaRPr lang="en-US" sz="2200" dirty="0"/>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dirty="0">
                <a:solidFill>
                  <a:schemeClr val="tx1">
                    <a:lumMod val="85000"/>
                    <a:lumOff val="15000"/>
                  </a:schemeClr>
                </a:solidFill>
              </a:rPr>
              <a:t>Azure SQL Server Elastic Pools</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138478" y="1942935"/>
            <a:ext cx="10202591" cy="4355200"/>
          </a:xfrm>
        </p:spPr>
        <p:txBody>
          <a:bodyPr anchor="ctr">
            <a:normAutofit/>
          </a:bodyPr>
          <a:lstStyle/>
          <a:p>
            <a:endParaRPr lang="en-US" sz="1600" b="1" dirty="0">
              <a:highlight>
                <a:srgbClr val="FFFFFF"/>
              </a:highlight>
            </a:endParaRPr>
          </a:p>
          <a:p>
            <a:r>
              <a:rPr lang="en-US" sz="1600" dirty="0">
                <a:highlight>
                  <a:srgbClr val="FFFFFF"/>
                </a:highlight>
              </a:rPr>
              <a:t> Azure SQL Database elastic pools are a shared resource model designed to manage and scale multiple databases that have varying and unpredictable usage demands.</a:t>
            </a:r>
          </a:p>
          <a:p>
            <a:r>
              <a:rPr lang="en-US" sz="1600" dirty="0">
                <a:highlight>
                  <a:srgbClr val="FFFFFF"/>
                </a:highlight>
              </a:rPr>
              <a:t> Instead of provisioning dedicated resources for each database, you purchase a collective set of resources—either </a:t>
            </a:r>
            <a:r>
              <a:rPr lang="en-US" sz="1600" dirty="0" err="1">
                <a:highlight>
                  <a:srgbClr val="FFFFFF"/>
                </a:highlight>
              </a:rPr>
              <a:t>eDTUs</a:t>
            </a:r>
            <a:r>
              <a:rPr lang="en-US" sz="1600" dirty="0">
                <a:highlight>
                  <a:srgbClr val="FFFFFF"/>
                </a:highlight>
              </a:rPr>
              <a:t> or </a:t>
            </a:r>
            <a:r>
              <a:rPr lang="en-US" sz="1600" dirty="0" err="1">
                <a:highlight>
                  <a:srgbClr val="FFFFFF"/>
                </a:highlight>
              </a:rPr>
              <a:t>vCores</a:t>
            </a:r>
            <a:r>
              <a:rPr lang="en-US" sz="1600" dirty="0">
                <a:highlight>
                  <a:srgbClr val="FFFFFF"/>
                </a:highlight>
              </a:rPr>
              <a:t>—that all databases in the pool share</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sz="3600" dirty="0">
                <a:solidFill>
                  <a:schemeClr val="tx1">
                    <a:lumMod val="85000"/>
                    <a:lumOff val="15000"/>
                  </a:schemeClr>
                </a:solidFill>
                <a:ea typeface="Calibri Light"/>
                <a:cs typeface="Calibri Light"/>
              </a:rPr>
              <a:t>Real time Scenario to use Azure SQL Elastic Pool</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8">
            <a:extLst>
              <a:ext uri="{FF2B5EF4-FFF2-40B4-BE49-F238E27FC236}">
                <a16:creationId xmlns:a16="http://schemas.microsoft.com/office/drawing/2014/main" id="{039B0501-84F1-4609-E96B-48AC38BFD939}"/>
              </a:ext>
            </a:extLst>
          </p:cNvPr>
          <p:cNvSpPr>
            <a:spLocks noGrp="1"/>
          </p:cNvSpPr>
          <p:nvPr>
            <p:ph idx="1"/>
          </p:nvPr>
        </p:nvSpPr>
        <p:spPr/>
        <p:txBody>
          <a:bodyPr/>
          <a:lstStyle/>
          <a:p>
            <a:r>
              <a:rPr lang="en-US" sz="1600" b="1" dirty="0">
                <a:highlight>
                  <a:srgbClr val="FFFFFF"/>
                </a:highlight>
              </a:rPr>
              <a:t>SaaS Applications:</a:t>
            </a:r>
            <a:r>
              <a:rPr lang="en-US" sz="1600" dirty="0">
                <a:highlight>
                  <a:srgbClr val="FFFFFF"/>
                </a:highlight>
              </a:rPr>
              <a:t> When providing a dedicated database for each customer (tenant) where usage patterns are different and unpredictable.</a:t>
            </a:r>
          </a:p>
          <a:p>
            <a:r>
              <a:rPr lang="en-US" sz="1600" b="1" dirty="0">
                <a:highlight>
                  <a:srgbClr val="FFFFFF"/>
                </a:highlight>
              </a:rPr>
              <a:t>Low Average Utilization:</a:t>
            </a:r>
            <a:r>
              <a:rPr lang="en-US" sz="1600" dirty="0">
                <a:highlight>
                  <a:srgbClr val="FFFFFF"/>
                </a:highlight>
              </a:rPr>
              <a:t> Databases that have low average usage but infrequent, sharp spikes in activity.</a:t>
            </a:r>
          </a:p>
          <a:p>
            <a:r>
              <a:rPr lang="en-US" sz="1600" b="1" dirty="0">
                <a:highlight>
                  <a:srgbClr val="FFFFFF"/>
                </a:highlight>
              </a:rPr>
              <a:t>Varying Peak Times:</a:t>
            </a:r>
            <a:r>
              <a:rPr lang="en-US" sz="1600" dirty="0">
                <a:highlight>
                  <a:srgbClr val="FFFFFF"/>
                </a:highlight>
              </a:rPr>
              <a:t> When multiple databases do not peak simultaneously, allowing them to effectively share the pool's capacity</a:t>
            </a:r>
          </a:p>
          <a:p>
            <a:endParaRPr lang="en-US" sz="1600" dirty="0">
              <a:highlight>
                <a:srgbClr val="FFFFFF"/>
              </a:highlight>
            </a:endParaRPr>
          </a:p>
        </p:txBody>
      </p:sp>
    </p:spTree>
    <p:extLst>
      <p:ext uri="{BB962C8B-B14F-4D97-AF65-F5344CB8AC3E}">
        <p14:creationId xmlns:p14="http://schemas.microsoft.com/office/powerpoint/2010/main" val="854103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sz="3200" dirty="0">
                <a:solidFill>
                  <a:schemeClr val="tx1">
                    <a:lumMod val="85000"/>
                    <a:lumOff val="15000"/>
                  </a:schemeClr>
                </a:solidFill>
              </a:rPr>
              <a:t>Azure Blob Storage Overview</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ntent Placeholder 4">
            <a:extLst>
              <a:ext uri="{FF2B5EF4-FFF2-40B4-BE49-F238E27FC236}">
                <a16:creationId xmlns:a16="http://schemas.microsoft.com/office/drawing/2014/main" id="{27151C14-8131-CD79-D1B9-1D0B6ACD252F}"/>
              </a:ext>
            </a:extLst>
          </p:cNvPr>
          <p:cNvSpPr>
            <a:spLocks noGrp="1"/>
          </p:cNvSpPr>
          <p:nvPr>
            <p:ph idx="1"/>
          </p:nvPr>
        </p:nvSpPr>
        <p:spPr/>
        <p:txBody>
          <a:bodyPr>
            <a:normAutofit/>
          </a:bodyPr>
          <a:lstStyle/>
          <a:p>
            <a:r>
              <a:rPr lang="en-US" sz="1600" dirty="0">
                <a:highlight>
                  <a:srgbClr val="FFFFFF"/>
                </a:highlight>
              </a:rPr>
              <a:t>Azure Blob Storage is Microsoft's object storage solution for the cloud. Blob Storage is optimized for storing massive amounts of unstructured data. Unstructured data is data that doesn't adhere to a particular data model or definition, such as text or binary data.</a:t>
            </a:r>
          </a:p>
          <a:p>
            <a:endParaRPr lang="en-US" sz="1600" dirty="0">
              <a:highlight>
                <a:srgbClr val="FFFFFF"/>
              </a:highlight>
            </a:endParaRPr>
          </a:p>
          <a:p>
            <a:r>
              <a:rPr lang="en-US" sz="1600" dirty="0"/>
              <a:t>Serving images or documents directly to a browser.</a:t>
            </a:r>
          </a:p>
          <a:p>
            <a:r>
              <a:rPr lang="en-US" sz="1600" dirty="0"/>
              <a:t>Storing files for distributed access.</a:t>
            </a:r>
          </a:p>
          <a:p>
            <a:r>
              <a:rPr lang="en-US" sz="1600" dirty="0"/>
              <a:t>Streaming video and audio.</a:t>
            </a:r>
          </a:p>
          <a:p>
            <a:r>
              <a:rPr lang="en-US" sz="1600" dirty="0"/>
              <a:t>Writing to log files.</a:t>
            </a:r>
          </a:p>
          <a:p>
            <a:r>
              <a:rPr lang="en-US" sz="1600" dirty="0"/>
              <a:t>Storing data for backup and restore, disaster recovery, and archiving.</a:t>
            </a:r>
          </a:p>
          <a:p>
            <a:r>
              <a:rPr lang="en-US" sz="1600" dirty="0"/>
              <a:t>Storing data for analysis by an on-premises or Azure-hosted service</a:t>
            </a:r>
            <a:r>
              <a:rPr lang="en-US" dirty="0"/>
              <a:t>.</a:t>
            </a:r>
          </a:p>
          <a:p>
            <a:endParaRPr lang="en-US" sz="1600" dirty="0">
              <a:highlight>
                <a:srgbClr val="FFFFFF"/>
              </a:highlight>
            </a:endParaRPr>
          </a:p>
        </p:txBody>
      </p:sp>
    </p:spTree>
    <p:extLst>
      <p:ext uri="{BB962C8B-B14F-4D97-AF65-F5344CB8AC3E}">
        <p14:creationId xmlns:p14="http://schemas.microsoft.com/office/powerpoint/2010/main" val="3877016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850490" y="386930"/>
            <a:ext cx="10066122" cy="1298448"/>
          </a:xfrm>
        </p:spPr>
        <p:txBody>
          <a:bodyPr anchor="b">
            <a:normAutofit/>
          </a:bodyPr>
          <a:lstStyle/>
          <a:p>
            <a:r>
              <a:rPr lang="en-US" sz="4800" dirty="0">
                <a:ea typeface="Calibri Light"/>
                <a:cs typeface="Calibri Light"/>
              </a:rPr>
              <a:t>Azure Storage Types</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B237EE80-520D-5CF6-E36B-3E994DC637DF}"/>
              </a:ext>
            </a:extLst>
          </p:cNvPr>
          <p:cNvPicPr>
            <a:picLocks noGrp="1" noChangeAspect="1"/>
          </p:cNvPicPr>
          <p:nvPr>
            <p:ph idx="1"/>
          </p:nvPr>
        </p:nvPicPr>
        <p:blipFill>
          <a:blip r:embed="rId2"/>
          <a:stretch>
            <a:fillRect/>
          </a:stretch>
        </p:blipFill>
        <p:spPr>
          <a:xfrm>
            <a:off x="3562350" y="2767013"/>
            <a:ext cx="5067300" cy="30765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2758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dirty="0">
                <a:ea typeface="Calibri Light"/>
                <a:cs typeface="Calibri Light"/>
              </a:rPr>
              <a:t>Azure Blob Storage Components </a:t>
            </a:r>
          </a:p>
        </p:txBody>
      </p:sp>
      <p:pic>
        <p:nvPicPr>
          <p:cNvPr id="5" name="Content Placeholder 4">
            <a:extLst>
              <a:ext uri="{FF2B5EF4-FFF2-40B4-BE49-F238E27FC236}">
                <a16:creationId xmlns:a16="http://schemas.microsoft.com/office/drawing/2014/main" id="{55A525C1-3DF2-FCB9-D64B-27DBA76223F1}"/>
              </a:ext>
            </a:extLst>
          </p:cNvPr>
          <p:cNvPicPr>
            <a:picLocks noGrp="1" noChangeAspect="1"/>
          </p:cNvPicPr>
          <p:nvPr>
            <p:ph idx="1"/>
          </p:nvPr>
        </p:nvPicPr>
        <p:blipFill>
          <a:blip r:embed="rId2"/>
          <a:stretch>
            <a:fillRect/>
          </a:stretch>
        </p:blipFill>
        <p:spPr>
          <a:xfrm>
            <a:off x="838200" y="2467630"/>
            <a:ext cx="5111672" cy="1922739"/>
          </a:xfrm>
          <a:prstGeom prst="rect">
            <a:avLst/>
          </a:prstGeom>
        </p:spPr>
      </p:pic>
      <p:sp>
        <p:nvSpPr>
          <p:cNvPr id="7" name="TextBox 6">
            <a:extLst>
              <a:ext uri="{FF2B5EF4-FFF2-40B4-BE49-F238E27FC236}">
                <a16:creationId xmlns:a16="http://schemas.microsoft.com/office/drawing/2014/main" id="{2A39B5C4-2E3E-19B8-F219-1BB283E71AF3}"/>
              </a:ext>
            </a:extLst>
          </p:cNvPr>
          <p:cNvSpPr txBox="1"/>
          <p:nvPr/>
        </p:nvSpPr>
        <p:spPr>
          <a:xfrm>
            <a:off x="6856644" y="2274838"/>
            <a:ext cx="449715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Azure Blob storage contains the following components.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Account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Container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Blob</a:t>
            </a:r>
          </a:p>
        </p:txBody>
      </p:sp>
    </p:spTree>
    <p:extLst>
      <p:ext uri="{BB962C8B-B14F-4D97-AF65-F5344CB8AC3E}">
        <p14:creationId xmlns:p14="http://schemas.microsoft.com/office/powerpoint/2010/main" val="4571664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dirty="0"/>
              <a:t>Azure Data Lake Storage Gen2 </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a:bodyPr>
          <a:lstStyle/>
          <a:p>
            <a:r>
              <a:rPr lang="en-US" sz="1600" dirty="0"/>
              <a:t>Azure Data Lake Storage isn't a dedicated service or account type. Instead, it's implemented as a set of capabilities that you use with the Blob Storage service of your Azure Storage account. You can unlock these capabilities by enabling the hierarchical namespace setting.</a:t>
            </a:r>
          </a:p>
          <a:p>
            <a:r>
              <a:rPr lang="en-US" sz="1600" dirty="0"/>
              <a:t>Data Lake Storage includes the following capabilities.</a:t>
            </a:r>
          </a:p>
          <a:p>
            <a:r>
              <a:rPr lang="en-US" sz="1600" dirty="0"/>
              <a:t>✓   Hadoop-compatible access</a:t>
            </a:r>
          </a:p>
          <a:p>
            <a:r>
              <a:rPr lang="en-US" sz="1600" dirty="0"/>
              <a:t>✓   Hierarchical directory structure</a:t>
            </a:r>
          </a:p>
          <a:p>
            <a:r>
              <a:rPr lang="en-US" sz="1600" dirty="0"/>
              <a:t>✓   Optimized cost and performance</a:t>
            </a:r>
          </a:p>
          <a:p>
            <a:r>
              <a:rPr lang="en-US" sz="1600" dirty="0"/>
              <a:t>✓   Finer grain security model</a:t>
            </a:r>
          </a:p>
          <a:p>
            <a:r>
              <a:rPr lang="en-US" sz="1600" dirty="0"/>
              <a:t>✓   Massive scalability</a:t>
            </a:r>
          </a:p>
          <a:p>
            <a:pPr marL="0" indent="0">
              <a:buNone/>
            </a:pPr>
            <a:endParaRPr lang="en-US" sz="1600" dirty="0"/>
          </a:p>
        </p:txBody>
      </p:sp>
    </p:spTree>
    <p:extLst>
      <p:ext uri="{BB962C8B-B14F-4D97-AF65-F5344CB8AC3E}">
        <p14:creationId xmlns:p14="http://schemas.microsoft.com/office/powerpoint/2010/main" val="2863695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6" name="Rectangle 1035">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589560" y="856180"/>
            <a:ext cx="4560584" cy="1128068"/>
          </a:xfrm>
        </p:spPr>
        <p:txBody>
          <a:bodyPr anchor="ctr">
            <a:normAutofit/>
          </a:bodyPr>
          <a:lstStyle/>
          <a:p>
            <a:r>
              <a:rPr lang="en-US" sz="3700"/>
              <a:t>Azure Databricks Introduction</a:t>
            </a:r>
          </a:p>
        </p:txBody>
      </p:sp>
      <p:grpSp>
        <p:nvGrpSpPr>
          <p:cNvPr id="1038" name="Group 1037">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34" name="Rectangle 103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37" name="Rectangle 103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590719" y="2330505"/>
            <a:ext cx="4559425" cy="3979585"/>
          </a:xfrm>
        </p:spPr>
        <p:txBody>
          <a:bodyPr vert="horz" lIns="91440" tIns="45720" rIns="91440" bIns="45720" rtlCol="0" anchor="ctr">
            <a:normAutofit/>
          </a:bodyPr>
          <a:lstStyle/>
          <a:p>
            <a:pPr>
              <a:buFont typeface="Wingdings" panose="020B0604020202020204" pitchFamily="34" charset="0"/>
              <a:buChar char="q"/>
            </a:pPr>
            <a:r>
              <a:rPr lang="en-US" sz="2000"/>
              <a:t>Azure Databricks is a unified, open analytics platform for building, deploying, sharing, and maintaining enterprise-grade data, analytics, and AI solutions at scale. The Databricks Data Intelligence Platform integrates with cloud storage and security in your cloud account and manages and deploys cloud infrastructure for you</a:t>
            </a:r>
          </a:p>
          <a:p>
            <a:pPr marL="0" indent="0">
              <a:buNone/>
            </a:pPr>
            <a:endParaRPr lang="en-US" sz="2000" dirty="0">
              <a:cs typeface="Calibri"/>
            </a:endParaRPr>
          </a:p>
        </p:txBody>
      </p:sp>
      <p:sp>
        <p:nvSpPr>
          <p:cNvPr id="1039" name="Rectangle 103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Databricks data intelligence platform">
            <a:extLst>
              <a:ext uri="{FF2B5EF4-FFF2-40B4-BE49-F238E27FC236}">
                <a16:creationId xmlns:a16="http://schemas.microsoft.com/office/drawing/2014/main" id="{97993E83-76EB-039C-D67E-7DB8C31D61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031" r="-4" b="-3"/>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0454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9605303" cy="1330839"/>
          </a:xfrm>
        </p:spPr>
        <p:txBody>
          <a:bodyPr>
            <a:normAutofit/>
          </a:bodyPr>
          <a:lstStyle/>
          <a:p>
            <a:r>
              <a:rPr lang="en-US" dirty="0"/>
              <a:t>Azure Databricks Core Components</a:t>
            </a:r>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33612" y="1705272"/>
            <a:ext cx="9868056" cy="4397416"/>
          </a:xfrm>
        </p:spPr>
        <p:txBody>
          <a:bodyPr vert="horz" lIns="91440" tIns="45720" rIns="91440" bIns="45720" rtlCol="0" anchor="t">
            <a:noAutofit/>
          </a:bodyPr>
          <a:lstStyle/>
          <a:p>
            <a:r>
              <a:rPr lang="en-US" sz="1600" dirty="0">
                <a:cs typeface="Calibri"/>
              </a:rPr>
              <a:t>Azure Databricks contains  the following components – </a:t>
            </a:r>
          </a:p>
          <a:p>
            <a:r>
              <a:rPr lang="en-US" sz="1600" b="1" dirty="0">
                <a:cs typeface="Calibri"/>
              </a:rPr>
              <a:t>Databricks Account </a:t>
            </a:r>
            <a:r>
              <a:rPr lang="en-US" sz="1600" dirty="0">
                <a:cs typeface="Calibri"/>
              </a:rPr>
              <a:t>-</a:t>
            </a:r>
            <a:r>
              <a:rPr lang="en-US" sz="1600" dirty="0"/>
              <a:t>An Azure Databricks </a:t>
            </a:r>
            <a:r>
              <a:rPr lang="en-US" sz="1600" i="1" dirty="0"/>
              <a:t>account</a:t>
            </a:r>
            <a:r>
              <a:rPr lang="en-US" sz="1600" dirty="0"/>
              <a:t> represents a single entity that can include multiple workspaces. Accounts enabled for </a:t>
            </a:r>
            <a:r>
              <a:rPr lang="en-US" sz="1600" dirty="0">
                <a:hlinkClick r:id="rId3"/>
              </a:rPr>
              <a:t>Unity Catalog</a:t>
            </a:r>
            <a:r>
              <a:rPr lang="en-US" sz="1600" dirty="0"/>
              <a:t> can be used to manage users and their access to data centrally across all of the workspaces in the account</a:t>
            </a:r>
            <a:endParaRPr lang="en-US" sz="1600" b="1" dirty="0"/>
          </a:p>
          <a:p>
            <a:r>
              <a:rPr lang="en-US" sz="1600" b="1" dirty="0"/>
              <a:t>Databricks Workspace </a:t>
            </a:r>
            <a:r>
              <a:rPr lang="en-US" sz="1600" dirty="0"/>
              <a:t>- In Azure Databricks, a </a:t>
            </a:r>
            <a:r>
              <a:rPr lang="en-US" sz="1600" i="1" dirty="0"/>
              <a:t>workspace</a:t>
            </a:r>
            <a:r>
              <a:rPr lang="en-US" sz="1600" dirty="0"/>
              <a:t> is an Azure Databricks deployment in the cloud that functions as an environment for your team to access Databricks assets</a:t>
            </a:r>
            <a:r>
              <a:rPr lang="en-US" dirty="0"/>
              <a:t>. </a:t>
            </a:r>
          </a:p>
          <a:p>
            <a:r>
              <a:rPr lang="en-US" sz="1600" b="1" dirty="0">
                <a:cs typeface="Calibri"/>
              </a:rPr>
              <a:t>Databricks Unit (DBU) </a:t>
            </a:r>
            <a:r>
              <a:rPr lang="en-US" sz="1600" dirty="0">
                <a:cs typeface="Calibri"/>
              </a:rPr>
              <a:t>- </a:t>
            </a:r>
            <a:r>
              <a:rPr lang="en-US" sz="1600" dirty="0"/>
              <a:t>Azure Databricks bills based on Databricks units (DBUs), which are units of processing capability per hour based on VM instance type.</a:t>
            </a:r>
          </a:p>
          <a:p>
            <a:endParaRPr lang="en-US" sz="1600" dirty="0">
              <a:cs typeface="Calibri"/>
            </a:endParaRPr>
          </a:p>
        </p:txBody>
      </p:sp>
    </p:spTree>
    <p:extLst>
      <p:ext uri="{BB962C8B-B14F-4D97-AF65-F5344CB8AC3E}">
        <p14:creationId xmlns:p14="http://schemas.microsoft.com/office/powerpoint/2010/main" val="2562354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Azure SQL Server Elastic Pools </a:t>
            </a:r>
          </a:p>
          <a:p>
            <a:pPr marL="0" indent="0">
              <a:buNone/>
            </a:pPr>
            <a:endParaRPr lang="en-US" dirty="0">
              <a:ea typeface="Calibri"/>
              <a:cs typeface="Calibri"/>
            </a:endParaRPr>
          </a:p>
          <a:p>
            <a:r>
              <a:rPr lang="en-US" dirty="0">
                <a:ea typeface="Calibri"/>
                <a:cs typeface="Calibri"/>
              </a:rPr>
              <a:t>Azure Storage Types &amp; Blob Storage </a:t>
            </a:r>
          </a:p>
          <a:p>
            <a:pPr marL="0" indent="0">
              <a:buNone/>
            </a:pPr>
            <a:endParaRPr lang="en-US" dirty="0">
              <a:ea typeface="Calibri"/>
              <a:cs typeface="Calibri"/>
            </a:endParaRPr>
          </a:p>
          <a:p>
            <a:r>
              <a:rPr lang="en-US" dirty="0">
                <a:ea typeface="Calibri"/>
                <a:cs typeface="Calibri"/>
              </a:rPr>
              <a:t>Azure Data Lake Storage Gen2</a:t>
            </a:r>
          </a:p>
          <a:p>
            <a:pPr marL="0" indent="0">
              <a:buNone/>
            </a:pPr>
            <a:endParaRPr lang="en-US" dirty="0">
              <a:ea typeface="Calibri"/>
              <a:cs typeface="Calibri"/>
            </a:endParaRPr>
          </a:p>
          <a:p>
            <a:r>
              <a:rPr lang="en-US" dirty="0">
                <a:ea typeface="Calibri"/>
                <a:cs typeface="Calibri"/>
              </a:rPr>
              <a:t> Azure Databricks Overview</a:t>
            </a: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483</TotalTime>
  <Words>553</Words>
  <Application>Microsoft Office PowerPoint</Application>
  <PresentationFormat>Widescreen</PresentationFormat>
  <Paragraphs>60</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Calibri Light</vt:lpstr>
      <vt:lpstr>Wingdings</vt:lpstr>
      <vt:lpstr>Office 2013 - 2022 Theme</vt:lpstr>
      <vt:lpstr>SQL Server Administration &amp; Azure Data Engineering</vt:lpstr>
      <vt:lpstr>Agenda</vt:lpstr>
      <vt:lpstr>Azure SQL Server Elastic Pools</vt:lpstr>
      <vt:lpstr>Real time Scenario to use Azure SQL Elastic Pool</vt:lpstr>
      <vt:lpstr>Azure Blob Storage Overview</vt:lpstr>
      <vt:lpstr>Azure Storage Types</vt:lpstr>
      <vt:lpstr>Azure Blob Storage Components </vt:lpstr>
      <vt:lpstr>Azure Data Lake Storage Gen2 </vt:lpstr>
      <vt:lpstr>Azure Databricks Introduction</vt:lpstr>
      <vt:lpstr>Azure Databricks Core Components</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591</cp:revision>
  <dcterms:created xsi:type="dcterms:W3CDTF">2026-04-11T17:33:10Z</dcterms:created>
  <dcterms:modified xsi:type="dcterms:W3CDTF">2026-04-24T21:21:18Z</dcterms:modified>
</cp:coreProperties>
</file>