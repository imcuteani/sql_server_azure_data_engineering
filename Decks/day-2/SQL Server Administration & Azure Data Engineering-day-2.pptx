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1"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82" r:id="rId23"/>
    <p:sldId id="278"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CB9DF4-AF16-F848-E5C8-FCC2AFB4A77C}" v="225" dt="2026-04-12T09:50:41.797"/>
    <p1510:client id="{09B40EAC-CC0A-5485-BCEE-37BDB29D673B}" v="625" dt="2026-04-12T15:19:31.891"/>
    <p1510:client id="{11D647AD-CFD1-6FBF-DBE3-A2523D9E3428}" v="31" dt="2026-04-12T09:59:21.469"/>
    <p1510:client id="{8E12EF59-2A41-92D6-385B-F56135F5B8D7}" v="97" dt="2026-04-12T17:15:46.777"/>
    <p1510:client id="{8E27CCB5-6C49-4662-9DFA-5F0873AFAD9D}" v="6" dt="2026-04-12T07:12:48.385"/>
    <p1510:client id="{E5DF0B76-E98F-2D85-D1E5-931E795B41E8}" v="1505" dt="2026-04-12T17:04:41.1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1236"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15468F1-4893-434E-817F-5228A826656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A0EEC8E-F56D-43EE-9897-20A4841909C2}">
      <dgm:prSet phldr="0"/>
      <dgm:spPr/>
      <dgm:t>
        <a:bodyPr/>
        <a:lstStyle/>
        <a:p>
          <a:pPr>
            <a:lnSpc>
              <a:spcPct val="100000"/>
            </a:lnSpc>
          </a:pPr>
          <a:r>
            <a:rPr lang="en-US" sz="1500" b="1">
              <a:solidFill>
                <a:srgbClr val="001D35"/>
              </a:solidFill>
            </a:rPr>
            <a:t>SQL Authentication</a:t>
          </a:r>
          <a:endParaRPr lang="en-US">
            <a:latin typeface="Calibri Light" panose="020F0302020204030204"/>
          </a:endParaRPr>
        </a:p>
      </dgm:t>
    </dgm:pt>
    <dgm:pt modelId="{C76C66B3-4D14-4BB6-B5B6-74D29F5FBF27}" type="parTrans" cxnId="{01C2FF80-29B6-4A5A-9A66-1626D89608BD}">
      <dgm:prSet/>
      <dgm:spPr/>
    </dgm:pt>
    <dgm:pt modelId="{404EBF41-4576-4911-AD88-3C20A139F2E9}" type="sibTrans" cxnId="{01C2FF80-29B6-4A5A-9A66-1626D89608BD}">
      <dgm:prSet/>
      <dgm:spPr/>
    </dgm:pt>
    <dgm:pt modelId="{9909F007-A657-4231-95C1-6EBCE01BA947}">
      <dgm:prSet phldr="0"/>
      <dgm:spPr/>
      <dgm:t>
        <a:bodyPr/>
        <a:lstStyle/>
        <a:p>
          <a:pPr>
            <a:lnSpc>
              <a:spcPct val="100000"/>
            </a:lnSpc>
          </a:pPr>
          <a:r>
            <a:rPr lang="en-US" sz="1200">
              <a:solidFill>
                <a:srgbClr val="0A0A0A"/>
              </a:solidFill>
            </a:rPr>
            <a:t>This method uses usernames and passwords created and stored within the SQL database itself. </a:t>
          </a:r>
          <a:endParaRPr lang="en-US"/>
        </a:p>
      </dgm:t>
    </dgm:pt>
    <dgm:pt modelId="{7FEB118A-8240-40C8-A775-D649E222EA40}" type="parTrans" cxnId="{BDB0C875-F9F9-454C-A967-FE651089EE27}">
      <dgm:prSet/>
      <dgm:spPr/>
    </dgm:pt>
    <dgm:pt modelId="{34BAF729-0761-43C6-BB15-FE2203C49214}" type="sibTrans" cxnId="{BDB0C875-F9F9-454C-A967-FE651089EE27}">
      <dgm:prSet/>
      <dgm:spPr/>
    </dgm:pt>
    <dgm:pt modelId="{F986B1F1-EE4A-493D-BC69-5FC2B1D3117D}">
      <dgm:prSet phldr="0"/>
      <dgm:spPr/>
      <dgm:t>
        <a:bodyPr/>
        <a:lstStyle/>
        <a:p>
          <a:pPr>
            <a:lnSpc>
              <a:spcPct val="100000"/>
            </a:lnSpc>
          </a:pPr>
          <a:r>
            <a:rPr lang="en-US" sz="1200" b="1">
              <a:solidFill>
                <a:srgbClr val="0A0A0A"/>
              </a:solidFill>
            </a:rPr>
            <a:t>Server Admin:</a:t>
          </a:r>
          <a:r>
            <a:rPr lang="en-US" sz="1200">
              <a:solidFill>
                <a:srgbClr val="0A0A0A"/>
              </a:solidFill>
            </a:rPr>
            <a:t> A master administrator account is created during server setup with full privileges over all databases.</a:t>
          </a:r>
          <a:endParaRPr lang="en-US"/>
        </a:p>
      </dgm:t>
    </dgm:pt>
    <dgm:pt modelId="{F3C00783-C3B6-4377-8ED8-73A3D9CC5EA3}" type="parTrans" cxnId="{7A54AC2C-9AEF-4590-AE87-64637AC8E8DC}">
      <dgm:prSet/>
      <dgm:spPr/>
    </dgm:pt>
    <dgm:pt modelId="{CFED0A56-8973-435C-B7C5-E961717DFEA7}" type="sibTrans" cxnId="{7A54AC2C-9AEF-4590-AE87-64637AC8E8DC}">
      <dgm:prSet/>
      <dgm:spPr/>
    </dgm:pt>
    <dgm:pt modelId="{37B5BC34-8EB1-4FA8-8D6B-68F3395D86C6}">
      <dgm:prSet phldr="0"/>
      <dgm:spPr/>
      <dgm:t>
        <a:bodyPr/>
        <a:lstStyle/>
        <a:p>
          <a:pPr>
            <a:lnSpc>
              <a:spcPct val="100000"/>
            </a:lnSpc>
          </a:pPr>
          <a:r>
            <a:rPr lang="en-US" sz="1200" b="1" dirty="0">
              <a:solidFill>
                <a:srgbClr val="0A0A0A"/>
              </a:solidFill>
            </a:rPr>
            <a:t>Database Users:</a:t>
          </a:r>
          <a:r>
            <a:rPr lang="en-US" sz="1200" dirty="0">
              <a:solidFill>
                <a:srgbClr val="0A0A0A"/>
              </a:solidFill>
            </a:rPr>
            <a:t> Admins can create additional logins and users for specific databases using the </a:t>
          </a:r>
          <a:r>
            <a:rPr lang="en-US" sz="1100" dirty="0">
              <a:solidFill>
                <a:srgbClr val="0A0A0A"/>
              </a:solidFill>
              <a:latin typeface="Consolas"/>
            </a:rPr>
            <a:t>CREATE USER</a:t>
          </a:r>
          <a:r>
            <a:rPr lang="en-US" sz="1200" dirty="0">
              <a:solidFill>
                <a:srgbClr val="0A0A0A"/>
              </a:solidFill>
            </a:rPr>
            <a:t> command.</a:t>
          </a:r>
          <a:endParaRPr lang="en-US" dirty="0"/>
        </a:p>
      </dgm:t>
    </dgm:pt>
    <dgm:pt modelId="{F80CB732-6822-40B1-9C1B-CE6C4BEAC16C}" type="parTrans" cxnId="{F03D290C-0DD0-4634-B244-DA8DA9B8A14F}">
      <dgm:prSet/>
      <dgm:spPr/>
    </dgm:pt>
    <dgm:pt modelId="{09D4986D-158B-4197-AE84-5A2E1CDD0EF3}" type="sibTrans" cxnId="{F03D290C-0DD0-4634-B244-DA8DA9B8A14F}">
      <dgm:prSet/>
      <dgm:spPr/>
    </dgm:pt>
    <dgm:pt modelId="{E8943512-7A0A-4DEB-8098-83763D659F6A}">
      <dgm:prSet phldr="0"/>
      <dgm:spPr/>
      <dgm:t>
        <a:bodyPr/>
        <a:lstStyle/>
        <a:p>
          <a:pPr>
            <a:lnSpc>
              <a:spcPct val="100000"/>
            </a:lnSpc>
          </a:pPr>
          <a:r>
            <a:rPr lang="en-US" sz="1200" b="1">
              <a:solidFill>
                <a:srgbClr val="0A0A0A"/>
              </a:solidFill>
            </a:rPr>
            <a:t>Use Case:</a:t>
          </a:r>
          <a:r>
            <a:rPr lang="en-US" sz="1200">
              <a:solidFill>
                <a:srgbClr val="0A0A0A"/>
              </a:solidFill>
            </a:rPr>
            <a:t> Best for legacy applications or when external users need access without an Entra ID account.</a:t>
          </a:r>
          <a:endParaRPr lang="en-US"/>
        </a:p>
      </dgm:t>
    </dgm:pt>
    <dgm:pt modelId="{6687C48B-D708-411D-8B66-2E7F9131A596}" type="parTrans" cxnId="{B21D5B2F-DCC6-42DF-8E34-0C613A989C92}">
      <dgm:prSet/>
      <dgm:spPr/>
    </dgm:pt>
    <dgm:pt modelId="{AD856FC6-C8F0-4417-B756-F8CDB7A377FE}" type="sibTrans" cxnId="{B21D5B2F-DCC6-42DF-8E34-0C613A989C92}">
      <dgm:prSet/>
      <dgm:spPr/>
    </dgm:pt>
    <dgm:pt modelId="{52576DE4-B6E2-4C9A-A3BE-7CDA713B0245}" type="pres">
      <dgm:prSet presAssocID="{115468F1-4893-434E-817F-5228A8266564}" presName="root" presStyleCnt="0">
        <dgm:presLayoutVars>
          <dgm:dir/>
          <dgm:resizeHandles val="exact"/>
        </dgm:presLayoutVars>
      </dgm:prSet>
      <dgm:spPr/>
    </dgm:pt>
    <dgm:pt modelId="{3E1EAF3A-2E0D-4986-B05E-7CD81BA808A3}" type="pres">
      <dgm:prSet presAssocID="{EA0EEC8E-F56D-43EE-9897-20A4841909C2}" presName="compNode" presStyleCnt="0"/>
      <dgm:spPr/>
    </dgm:pt>
    <dgm:pt modelId="{BEFEA097-1C4F-45DA-9DB9-8B2A460E001A}" type="pres">
      <dgm:prSet presAssocID="{EA0EEC8E-F56D-43EE-9897-20A4841909C2}" presName="bgRect" presStyleLbl="bgShp" presStyleIdx="0" presStyleCnt="5"/>
      <dgm:spPr/>
    </dgm:pt>
    <dgm:pt modelId="{0BD6E852-7A16-427E-8FF2-A452A0841AAB}" type="pres">
      <dgm:prSet presAssocID="{EA0EEC8E-F56D-43EE-9897-20A4841909C2}" presName="iconRect" presStyleLbl="node1" presStyleIdx="0" presStyleCnt="5"/>
      <dgm:spPr/>
    </dgm:pt>
    <dgm:pt modelId="{B796F9EA-1384-4005-9E72-089B873CE556}" type="pres">
      <dgm:prSet presAssocID="{EA0EEC8E-F56D-43EE-9897-20A4841909C2}" presName="spaceRect" presStyleCnt="0"/>
      <dgm:spPr/>
    </dgm:pt>
    <dgm:pt modelId="{E40A63FC-78A6-4CBD-B825-5126D5CF432A}" type="pres">
      <dgm:prSet presAssocID="{EA0EEC8E-F56D-43EE-9897-20A4841909C2}" presName="parTx" presStyleLbl="revTx" presStyleIdx="0" presStyleCnt="5">
        <dgm:presLayoutVars>
          <dgm:chMax val="0"/>
          <dgm:chPref val="0"/>
        </dgm:presLayoutVars>
      </dgm:prSet>
      <dgm:spPr/>
    </dgm:pt>
    <dgm:pt modelId="{66B7DD44-4647-4C51-A180-A11EB1888174}" type="pres">
      <dgm:prSet presAssocID="{404EBF41-4576-4911-AD88-3C20A139F2E9}" presName="sibTrans" presStyleCnt="0"/>
      <dgm:spPr/>
    </dgm:pt>
    <dgm:pt modelId="{8F8C856C-0031-4861-BC08-23800C7FFADC}" type="pres">
      <dgm:prSet presAssocID="{9909F007-A657-4231-95C1-6EBCE01BA947}" presName="compNode" presStyleCnt="0"/>
      <dgm:spPr/>
    </dgm:pt>
    <dgm:pt modelId="{20CCCBE7-C235-46B3-A816-68B9904C6A96}" type="pres">
      <dgm:prSet presAssocID="{9909F007-A657-4231-95C1-6EBCE01BA947}" presName="bgRect" presStyleLbl="bgShp" presStyleIdx="1" presStyleCnt="5"/>
      <dgm:spPr/>
    </dgm:pt>
    <dgm:pt modelId="{E572B55F-BA73-4934-8CC3-F2DCEA7B83B9}" type="pres">
      <dgm:prSet presAssocID="{9909F007-A657-4231-95C1-6EBCE01BA947}" presName="iconRect" presStyleLbl="node1" presStyleIdx="1" presStyleCnt="5"/>
      <dgm:spPr/>
    </dgm:pt>
    <dgm:pt modelId="{635E8F5F-6654-4471-85EE-C56F10750E7D}" type="pres">
      <dgm:prSet presAssocID="{9909F007-A657-4231-95C1-6EBCE01BA947}" presName="spaceRect" presStyleCnt="0"/>
      <dgm:spPr/>
    </dgm:pt>
    <dgm:pt modelId="{D6FF5874-044F-494E-BC20-C4E6F041750D}" type="pres">
      <dgm:prSet presAssocID="{9909F007-A657-4231-95C1-6EBCE01BA947}" presName="parTx" presStyleLbl="revTx" presStyleIdx="1" presStyleCnt="5">
        <dgm:presLayoutVars>
          <dgm:chMax val="0"/>
          <dgm:chPref val="0"/>
        </dgm:presLayoutVars>
      </dgm:prSet>
      <dgm:spPr/>
    </dgm:pt>
    <dgm:pt modelId="{71541307-6FBA-47DB-9D6B-79CB95A323DB}" type="pres">
      <dgm:prSet presAssocID="{34BAF729-0761-43C6-BB15-FE2203C49214}" presName="sibTrans" presStyleCnt="0"/>
      <dgm:spPr/>
    </dgm:pt>
    <dgm:pt modelId="{687C7A5A-78A6-4EEB-B044-1CA6EA19AA86}" type="pres">
      <dgm:prSet presAssocID="{F986B1F1-EE4A-493D-BC69-5FC2B1D3117D}" presName="compNode" presStyleCnt="0"/>
      <dgm:spPr/>
    </dgm:pt>
    <dgm:pt modelId="{03FF8477-A954-4A07-872D-839364429554}" type="pres">
      <dgm:prSet presAssocID="{F986B1F1-EE4A-493D-BC69-5FC2B1D3117D}" presName="bgRect" presStyleLbl="bgShp" presStyleIdx="2" presStyleCnt="5"/>
      <dgm:spPr/>
    </dgm:pt>
    <dgm:pt modelId="{EB2B2E20-8E59-470D-A73F-7E4B599E663A}" type="pres">
      <dgm:prSet presAssocID="{F986B1F1-EE4A-493D-BC69-5FC2B1D3117D}" presName="iconRect" presStyleLbl="node1" presStyleIdx="2" presStyleCnt="5"/>
      <dgm:spPr/>
    </dgm:pt>
    <dgm:pt modelId="{F7E70EC9-5307-4F15-AD16-2EEA1004DBB6}" type="pres">
      <dgm:prSet presAssocID="{F986B1F1-EE4A-493D-BC69-5FC2B1D3117D}" presName="spaceRect" presStyleCnt="0"/>
      <dgm:spPr/>
    </dgm:pt>
    <dgm:pt modelId="{5D8EC3CD-A0AD-45EB-A022-3B39A074A976}" type="pres">
      <dgm:prSet presAssocID="{F986B1F1-EE4A-493D-BC69-5FC2B1D3117D}" presName="parTx" presStyleLbl="revTx" presStyleIdx="2" presStyleCnt="5">
        <dgm:presLayoutVars>
          <dgm:chMax val="0"/>
          <dgm:chPref val="0"/>
        </dgm:presLayoutVars>
      </dgm:prSet>
      <dgm:spPr/>
    </dgm:pt>
    <dgm:pt modelId="{E6F85DDE-E9C1-4DBC-9053-380FD4CFA352}" type="pres">
      <dgm:prSet presAssocID="{CFED0A56-8973-435C-B7C5-E961717DFEA7}" presName="sibTrans" presStyleCnt="0"/>
      <dgm:spPr/>
    </dgm:pt>
    <dgm:pt modelId="{1EAFEDE4-F00B-42C5-8E72-EF84464BF6E2}" type="pres">
      <dgm:prSet presAssocID="{37B5BC34-8EB1-4FA8-8D6B-68F3395D86C6}" presName="compNode" presStyleCnt="0"/>
      <dgm:spPr/>
    </dgm:pt>
    <dgm:pt modelId="{952F225E-3E07-4A1A-8FA6-5DF8147354BF}" type="pres">
      <dgm:prSet presAssocID="{37B5BC34-8EB1-4FA8-8D6B-68F3395D86C6}" presName="bgRect" presStyleLbl="bgShp" presStyleIdx="3" presStyleCnt="5"/>
      <dgm:spPr/>
    </dgm:pt>
    <dgm:pt modelId="{FE0710E9-1FE1-4B78-B95E-AB53A95BBE36}" type="pres">
      <dgm:prSet presAssocID="{37B5BC34-8EB1-4FA8-8D6B-68F3395D86C6}" presName="iconRect" presStyleLbl="node1" presStyleIdx="3" presStyleCnt="5"/>
      <dgm:spPr/>
    </dgm:pt>
    <dgm:pt modelId="{280E653B-2C75-4C80-8F42-820AFCA63860}" type="pres">
      <dgm:prSet presAssocID="{37B5BC34-8EB1-4FA8-8D6B-68F3395D86C6}" presName="spaceRect" presStyleCnt="0"/>
      <dgm:spPr/>
    </dgm:pt>
    <dgm:pt modelId="{10FA7CB9-14E7-47ED-80B0-95C0C70DD059}" type="pres">
      <dgm:prSet presAssocID="{37B5BC34-8EB1-4FA8-8D6B-68F3395D86C6}" presName="parTx" presStyleLbl="revTx" presStyleIdx="3" presStyleCnt="5">
        <dgm:presLayoutVars>
          <dgm:chMax val="0"/>
          <dgm:chPref val="0"/>
        </dgm:presLayoutVars>
      </dgm:prSet>
      <dgm:spPr/>
    </dgm:pt>
    <dgm:pt modelId="{B25B1C02-67D8-4721-A87E-7B832B5BB94D}" type="pres">
      <dgm:prSet presAssocID="{09D4986D-158B-4197-AE84-5A2E1CDD0EF3}" presName="sibTrans" presStyleCnt="0"/>
      <dgm:spPr/>
    </dgm:pt>
    <dgm:pt modelId="{76FC9D18-001E-4986-A5F7-91EAE13B76D1}" type="pres">
      <dgm:prSet presAssocID="{E8943512-7A0A-4DEB-8098-83763D659F6A}" presName="compNode" presStyleCnt="0"/>
      <dgm:spPr/>
    </dgm:pt>
    <dgm:pt modelId="{BD554DD8-72D5-4BE0-8A41-6C636CC96E81}" type="pres">
      <dgm:prSet presAssocID="{E8943512-7A0A-4DEB-8098-83763D659F6A}" presName="bgRect" presStyleLbl="bgShp" presStyleIdx="4" presStyleCnt="5"/>
      <dgm:spPr/>
    </dgm:pt>
    <dgm:pt modelId="{37BF9ED3-AE89-4CB9-9C4F-D6BA566C5BE7}" type="pres">
      <dgm:prSet presAssocID="{E8943512-7A0A-4DEB-8098-83763D659F6A}" presName="iconRect" presStyleLbl="node1" presStyleIdx="4" presStyleCnt="5"/>
      <dgm:spPr/>
    </dgm:pt>
    <dgm:pt modelId="{50D6DFA4-28B7-4718-A196-52C68032DC5F}" type="pres">
      <dgm:prSet presAssocID="{E8943512-7A0A-4DEB-8098-83763D659F6A}" presName="spaceRect" presStyleCnt="0"/>
      <dgm:spPr/>
    </dgm:pt>
    <dgm:pt modelId="{EC71D6F5-D289-4DA3-87FB-30552D005FDA}" type="pres">
      <dgm:prSet presAssocID="{E8943512-7A0A-4DEB-8098-83763D659F6A}" presName="parTx" presStyleLbl="revTx" presStyleIdx="4" presStyleCnt="5">
        <dgm:presLayoutVars>
          <dgm:chMax val="0"/>
          <dgm:chPref val="0"/>
        </dgm:presLayoutVars>
      </dgm:prSet>
      <dgm:spPr/>
    </dgm:pt>
  </dgm:ptLst>
  <dgm:cxnLst>
    <dgm:cxn modelId="{F03D290C-0DD0-4634-B244-DA8DA9B8A14F}" srcId="{115468F1-4893-434E-817F-5228A8266564}" destId="{37B5BC34-8EB1-4FA8-8D6B-68F3395D86C6}" srcOrd="3" destOrd="0" parTransId="{F80CB732-6822-40B1-9C1B-CE6C4BEAC16C}" sibTransId="{09D4986D-158B-4197-AE84-5A2E1CDD0EF3}"/>
    <dgm:cxn modelId="{7A54AC2C-9AEF-4590-AE87-64637AC8E8DC}" srcId="{115468F1-4893-434E-817F-5228A8266564}" destId="{F986B1F1-EE4A-493D-BC69-5FC2B1D3117D}" srcOrd="2" destOrd="0" parTransId="{F3C00783-C3B6-4377-8ED8-73A3D9CC5EA3}" sibTransId="{CFED0A56-8973-435C-B7C5-E961717DFEA7}"/>
    <dgm:cxn modelId="{B21D5B2F-DCC6-42DF-8E34-0C613A989C92}" srcId="{115468F1-4893-434E-817F-5228A8266564}" destId="{E8943512-7A0A-4DEB-8098-83763D659F6A}" srcOrd="4" destOrd="0" parTransId="{6687C48B-D708-411D-8B66-2E7F9131A596}" sibTransId="{AD856FC6-C8F0-4417-B756-F8CDB7A377FE}"/>
    <dgm:cxn modelId="{A603CD5C-DABA-400A-95DE-85DA73F4496B}" type="presOf" srcId="{EA0EEC8E-F56D-43EE-9897-20A4841909C2}" destId="{E40A63FC-78A6-4CBD-B825-5126D5CF432A}" srcOrd="0" destOrd="0" presId="urn:microsoft.com/office/officeart/2018/2/layout/IconVerticalSolidList"/>
    <dgm:cxn modelId="{0DEFE772-DB86-405B-8F40-7BA3D39DE2C3}" type="presOf" srcId="{37B5BC34-8EB1-4FA8-8D6B-68F3395D86C6}" destId="{10FA7CB9-14E7-47ED-80B0-95C0C70DD059}" srcOrd="0" destOrd="0" presId="urn:microsoft.com/office/officeart/2018/2/layout/IconVerticalSolidList"/>
    <dgm:cxn modelId="{BDB0C875-F9F9-454C-A967-FE651089EE27}" srcId="{115468F1-4893-434E-817F-5228A8266564}" destId="{9909F007-A657-4231-95C1-6EBCE01BA947}" srcOrd="1" destOrd="0" parTransId="{7FEB118A-8240-40C8-A775-D649E222EA40}" sibTransId="{34BAF729-0761-43C6-BB15-FE2203C49214}"/>
    <dgm:cxn modelId="{01C2FF80-29B6-4A5A-9A66-1626D89608BD}" srcId="{115468F1-4893-434E-817F-5228A8266564}" destId="{EA0EEC8E-F56D-43EE-9897-20A4841909C2}" srcOrd="0" destOrd="0" parTransId="{C76C66B3-4D14-4BB6-B5B6-74D29F5FBF27}" sibTransId="{404EBF41-4576-4911-AD88-3C20A139F2E9}"/>
    <dgm:cxn modelId="{EEB72F8C-F652-4CD0-A61B-E675F88E0235}" type="presOf" srcId="{115468F1-4893-434E-817F-5228A8266564}" destId="{52576DE4-B6E2-4C9A-A3BE-7CDA713B0245}" srcOrd="0" destOrd="0" presId="urn:microsoft.com/office/officeart/2018/2/layout/IconVerticalSolidList"/>
    <dgm:cxn modelId="{F610DAB4-DB77-4197-ACFA-E2132F633FFF}" type="presOf" srcId="{E8943512-7A0A-4DEB-8098-83763D659F6A}" destId="{EC71D6F5-D289-4DA3-87FB-30552D005FDA}" srcOrd="0" destOrd="0" presId="urn:microsoft.com/office/officeart/2018/2/layout/IconVerticalSolidList"/>
    <dgm:cxn modelId="{ED4FBED2-9D04-442B-82B2-3A953D826461}" type="presOf" srcId="{9909F007-A657-4231-95C1-6EBCE01BA947}" destId="{D6FF5874-044F-494E-BC20-C4E6F041750D}" srcOrd="0" destOrd="0" presId="urn:microsoft.com/office/officeart/2018/2/layout/IconVerticalSolidList"/>
    <dgm:cxn modelId="{CB49E7E3-F5AE-4EBD-85A8-186AACB02306}" type="presOf" srcId="{F986B1F1-EE4A-493D-BC69-5FC2B1D3117D}" destId="{5D8EC3CD-A0AD-45EB-A022-3B39A074A976}" srcOrd="0" destOrd="0" presId="urn:microsoft.com/office/officeart/2018/2/layout/IconVerticalSolidList"/>
    <dgm:cxn modelId="{460B1B4A-A402-4A34-9015-C7B4761F7F6F}" type="presParOf" srcId="{52576DE4-B6E2-4C9A-A3BE-7CDA713B0245}" destId="{3E1EAF3A-2E0D-4986-B05E-7CD81BA808A3}" srcOrd="0" destOrd="0" presId="urn:microsoft.com/office/officeart/2018/2/layout/IconVerticalSolidList"/>
    <dgm:cxn modelId="{B8405236-BB35-41D6-8DD2-EA166C54EF20}" type="presParOf" srcId="{3E1EAF3A-2E0D-4986-B05E-7CD81BA808A3}" destId="{BEFEA097-1C4F-45DA-9DB9-8B2A460E001A}" srcOrd="0" destOrd="0" presId="urn:microsoft.com/office/officeart/2018/2/layout/IconVerticalSolidList"/>
    <dgm:cxn modelId="{1329F310-B62E-4771-96D2-660BCB0D0186}" type="presParOf" srcId="{3E1EAF3A-2E0D-4986-B05E-7CD81BA808A3}" destId="{0BD6E852-7A16-427E-8FF2-A452A0841AAB}" srcOrd="1" destOrd="0" presId="urn:microsoft.com/office/officeart/2018/2/layout/IconVerticalSolidList"/>
    <dgm:cxn modelId="{FEA89BD4-5429-47E4-A41C-4C3218B5CF4A}" type="presParOf" srcId="{3E1EAF3A-2E0D-4986-B05E-7CD81BA808A3}" destId="{B796F9EA-1384-4005-9E72-089B873CE556}" srcOrd="2" destOrd="0" presId="urn:microsoft.com/office/officeart/2018/2/layout/IconVerticalSolidList"/>
    <dgm:cxn modelId="{FFD6C54B-DFC7-4795-BBD0-D01CF6C87A81}" type="presParOf" srcId="{3E1EAF3A-2E0D-4986-B05E-7CD81BA808A3}" destId="{E40A63FC-78A6-4CBD-B825-5126D5CF432A}" srcOrd="3" destOrd="0" presId="urn:microsoft.com/office/officeart/2018/2/layout/IconVerticalSolidList"/>
    <dgm:cxn modelId="{06C28CDC-CC9C-4C76-9EBF-C88ECF6487B1}" type="presParOf" srcId="{52576DE4-B6E2-4C9A-A3BE-7CDA713B0245}" destId="{66B7DD44-4647-4C51-A180-A11EB1888174}" srcOrd="1" destOrd="0" presId="urn:microsoft.com/office/officeart/2018/2/layout/IconVerticalSolidList"/>
    <dgm:cxn modelId="{47262D50-5CCB-4245-947F-0CB8BBA0C35D}" type="presParOf" srcId="{52576DE4-B6E2-4C9A-A3BE-7CDA713B0245}" destId="{8F8C856C-0031-4861-BC08-23800C7FFADC}" srcOrd="2" destOrd="0" presId="urn:microsoft.com/office/officeart/2018/2/layout/IconVerticalSolidList"/>
    <dgm:cxn modelId="{3574067C-CA5B-4A45-917F-2986DF5422BA}" type="presParOf" srcId="{8F8C856C-0031-4861-BC08-23800C7FFADC}" destId="{20CCCBE7-C235-46B3-A816-68B9904C6A96}" srcOrd="0" destOrd="0" presId="urn:microsoft.com/office/officeart/2018/2/layout/IconVerticalSolidList"/>
    <dgm:cxn modelId="{E20506F2-B32A-4335-B5B3-2ED3117A89FF}" type="presParOf" srcId="{8F8C856C-0031-4861-BC08-23800C7FFADC}" destId="{E572B55F-BA73-4934-8CC3-F2DCEA7B83B9}" srcOrd="1" destOrd="0" presId="urn:microsoft.com/office/officeart/2018/2/layout/IconVerticalSolidList"/>
    <dgm:cxn modelId="{A081880B-13EB-447C-8C43-540BE1BAEE65}" type="presParOf" srcId="{8F8C856C-0031-4861-BC08-23800C7FFADC}" destId="{635E8F5F-6654-4471-85EE-C56F10750E7D}" srcOrd="2" destOrd="0" presId="urn:microsoft.com/office/officeart/2018/2/layout/IconVerticalSolidList"/>
    <dgm:cxn modelId="{5E92717D-466D-4D3F-9476-73C9D0502664}" type="presParOf" srcId="{8F8C856C-0031-4861-BC08-23800C7FFADC}" destId="{D6FF5874-044F-494E-BC20-C4E6F041750D}" srcOrd="3" destOrd="0" presId="urn:microsoft.com/office/officeart/2018/2/layout/IconVerticalSolidList"/>
    <dgm:cxn modelId="{1DF44FF4-3161-407D-9CB7-B596600D2833}" type="presParOf" srcId="{52576DE4-B6E2-4C9A-A3BE-7CDA713B0245}" destId="{71541307-6FBA-47DB-9D6B-79CB95A323DB}" srcOrd="3" destOrd="0" presId="urn:microsoft.com/office/officeart/2018/2/layout/IconVerticalSolidList"/>
    <dgm:cxn modelId="{E637F968-270A-4A68-AE14-9A072951755E}" type="presParOf" srcId="{52576DE4-B6E2-4C9A-A3BE-7CDA713B0245}" destId="{687C7A5A-78A6-4EEB-B044-1CA6EA19AA86}" srcOrd="4" destOrd="0" presId="urn:microsoft.com/office/officeart/2018/2/layout/IconVerticalSolidList"/>
    <dgm:cxn modelId="{5DDCA1D6-353E-4BB9-A393-521DB2863D8F}" type="presParOf" srcId="{687C7A5A-78A6-4EEB-B044-1CA6EA19AA86}" destId="{03FF8477-A954-4A07-872D-839364429554}" srcOrd="0" destOrd="0" presId="urn:microsoft.com/office/officeart/2018/2/layout/IconVerticalSolidList"/>
    <dgm:cxn modelId="{622DB6D4-9745-4121-8DB3-583158B5DC89}" type="presParOf" srcId="{687C7A5A-78A6-4EEB-B044-1CA6EA19AA86}" destId="{EB2B2E20-8E59-470D-A73F-7E4B599E663A}" srcOrd="1" destOrd="0" presId="urn:microsoft.com/office/officeart/2018/2/layout/IconVerticalSolidList"/>
    <dgm:cxn modelId="{F55088BB-1624-4D36-A5BD-9E1D03315F4C}" type="presParOf" srcId="{687C7A5A-78A6-4EEB-B044-1CA6EA19AA86}" destId="{F7E70EC9-5307-4F15-AD16-2EEA1004DBB6}" srcOrd="2" destOrd="0" presId="urn:microsoft.com/office/officeart/2018/2/layout/IconVerticalSolidList"/>
    <dgm:cxn modelId="{88F3102A-E64F-4741-925C-1E54B9C0514B}" type="presParOf" srcId="{687C7A5A-78A6-4EEB-B044-1CA6EA19AA86}" destId="{5D8EC3CD-A0AD-45EB-A022-3B39A074A976}" srcOrd="3" destOrd="0" presId="urn:microsoft.com/office/officeart/2018/2/layout/IconVerticalSolidList"/>
    <dgm:cxn modelId="{27728680-96D9-4AEC-9FE5-592DFC6E0F6C}" type="presParOf" srcId="{52576DE4-B6E2-4C9A-A3BE-7CDA713B0245}" destId="{E6F85DDE-E9C1-4DBC-9053-380FD4CFA352}" srcOrd="5" destOrd="0" presId="urn:microsoft.com/office/officeart/2018/2/layout/IconVerticalSolidList"/>
    <dgm:cxn modelId="{58784D28-28B6-4F50-B1D8-00803D8B2641}" type="presParOf" srcId="{52576DE4-B6E2-4C9A-A3BE-7CDA713B0245}" destId="{1EAFEDE4-F00B-42C5-8E72-EF84464BF6E2}" srcOrd="6" destOrd="0" presId="urn:microsoft.com/office/officeart/2018/2/layout/IconVerticalSolidList"/>
    <dgm:cxn modelId="{3F5B3831-04BF-4FFE-B6A5-168CEE9E5B1B}" type="presParOf" srcId="{1EAFEDE4-F00B-42C5-8E72-EF84464BF6E2}" destId="{952F225E-3E07-4A1A-8FA6-5DF8147354BF}" srcOrd="0" destOrd="0" presId="urn:microsoft.com/office/officeart/2018/2/layout/IconVerticalSolidList"/>
    <dgm:cxn modelId="{5129B4A1-4103-4503-B281-4180F3B43E56}" type="presParOf" srcId="{1EAFEDE4-F00B-42C5-8E72-EF84464BF6E2}" destId="{FE0710E9-1FE1-4B78-B95E-AB53A95BBE36}" srcOrd="1" destOrd="0" presId="urn:microsoft.com/office/officeart/2018/2/layout/IconVerticalSolidList"/>
    <dgm:cxn modelId="{F2589825-52CE-4F60-8C2D-1DE4357D7FB8}" type="presParOf" srcId="{1EAFEDE4-F00B-42C5-8E72-EF84464BF6E2}" destId="{280E653B-2C75-4C80-8F42-820AFCA63860}" srcOrd="2" destOrd="0" presId="urn:microsoft.com/office/officeart/2018/2/layout/IconVerticalSolidList"/>
    <dgm:cxn modelId="{E3979837-D58F-4E7B-8E1E-CD7BAA4AA311}" type="presParOf" srcId="{1EAFEDE4-F00B-42C5-8E72-EF84464BF6E2}" destId="{10FA7CB9-14E7-47ED-80B0-95C0C70DD059}" srcOrd="3" destOrd="0" presId="urn:microsoft.com/office/officeart/2018/2/layout/IconVerticalSolidList"/>
    <dgm:cxn modelId="{B2FEFA5D-35CD-402D-8445-A36DF76FF2D4}" type="presParOf" srcId="{52576DE4-B6E2-4C9A-A3BE-7CDA713B0245}" destId="{B25B1C02-67D8-4721-A87E-7B832B5BB94D}" srcOrd="7" destOrd="0" presId="urn:microsoft.com/office/officeart/2018/2/layout/IconVerticalSolidList"/>
    <dgm:cxn modelId="{627AA523-EEB8-467B-A777-5482215D2FB9}" type="presParOf" srcId="{52576DE4-B6E2-4C9A-A3BE-7CDA713B0245}" destId="{76FC9D18-001E-4986-A5F7-91EAE13B76D1}" srcOrd="8" destOrd="0" presId="urn:microsoft.com/office/officeart/2018/2/layout/IconVerticalSolidList"/>
    <dgm:cxn modelId="{C69AF1B4-85D0-4B4D-828E-49EF456CA22F}" type="presParOf" srcId="{76FC9D18-001E-4986-A5F7-91EAE13B76D1}" destId="{BD554DD8-72D5-4BE0-8A41-6C636CC96E81}" srcOrd="0" destOrd="0" presId="urn:microsoft.com/office/officeart/2018/2/layout/IconVerticalSolidList"/>
    <dgm:cxn modelId="{43D5DCA1-6258-423D-930B-2A2E91E83822}" type="presParOf" srcId="{76FC9D18-001E-4986-A5F7-91EAE13B76D1}" destId="{37BF9ED3-AE89-4CB9-9C4F-D6BA566C5BE7}" srcOrd="1" destOrd="0" presId="urn:microsoft.com/office/officeart/2018/2/layout/IconVerticalSolidList"/>
    <dgm:cxn modelId="{0CE0DEE6-61A9-42DE-B59F-847F3B449B34}" type="presParOf" srcId="{76FC9D18-001E-4986-A5F7-91EAE13B76D1}" destId="{50D6DFA4-28B7-4718-A196-52C68032DC5F}" srcOrd="2" destOrd="0" presId="urn:microsoft.com/office/officeart/2018/2/layout/IconVerticalSolidList"/>
    <dgm:cxn modelId="{8CEFCF57-4896-49AC-959D-3B38E7FC73ED}" type="presParOf" srcId="{76FC9D18-001E-4986-A5F7-91EAE13B76D1}" destId="{EC71D6F5-D289-4DA3-87FB-30552D005FD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FEA097-1C4F-45DA-9DB9-8B2A460E001A}">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D6E852-7A16-427E-8FF2-A452A0841AAB}">
      <dsp:nvSpPr>
        <dsp:cNvPr id="0" name=""/>
        <dsp:cNvSpPr/>
      </dsp:nvSpPr>
      <dsp:spPr>
        <a:xfrm>
          <a:off x="219348" y="166556"/>
          <a:ext cx="398815" cy="398815"/>
        </a:xfrm>
        <a:prstGeom prst="rect">
          <a:avLst/>
        </a:prstGeom>
        <a:solidFill>
          <a:schemeClr val="bg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0A63FC-78A6-4CBD-B825-5126D5CF432A}">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b="1" kern="1200">
              <a:solidFill>
                <a:srgbClr val="001D35"/>
              </a:solidFill>
            </a:rPr>
            <a:t>SQL Authentication</a:t>
          </a:r>
          <a:endParaRPr lang="en-US" sz="1800" kern="1200">
            <a:latin typeface="Calibri Light" panose="020F0302020204030204"/>
          </a:endParaRPr>
        </a:p>
      </dsp:txBody>
      <dsp:txXfrm>
        <a:off x="837512" y="3404"/>
        <a:ext cx="9678087" cy="725119"/>
      </dsp:txXfrm>
    </dsp:sp>
    <dsp:sp modelId="{20CCCBE7-C235-46B3-A816-68B9904C6A96}">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72B55F-BA73-4934-8CC3-F2DCEA7B83B9}">
      <dsp:nvSpPr>
        <dsp:cNvPr id="0" name=""/>
        <dsp:cNvSpPr/>
      </dsp:nvSpPr>
      <dsp:spPr>
        <a:xfrm>
          <a:off x="219348" y="1072955"/>
          <a:ext cx="398815" cy="398815"/>
        </a:xfrm>
        <a:prstGeom prst="rect">
          <a:avLst/>
        </a:prstGeom>
        <a:solidFill>
          <a:schemeClr val="bg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FF5874-044F-494E-BC20-C4E6F041750D}">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kern="1200">
              <a:solidFill>
                <a:srgbClr val="0A0A0A"/>
              </a:solidFill>
            </a:rPr>
            <a:t>This method uses usernames and passwords created and stored within the SQL database itself. </a:t>
          </a:r>
          <a:endParaRPr lang="en-US" sz="1800" kern="1200"/>
        </a:p>
      </dsp:txBody>
      <dsp:txXfrm>
        <a:off x="837512" y="909803"/>
        <a:ext cx="9678087" cy="725119"/>
      </dsp:txXfrm>
    </dsp:sp>
    <dsp:sp modelId="{03FF8477-A954-4A07-872D-839364429554}">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2B2E20-8E59-470D-A73F-7E4B599E663A}">
      <dsp:nvSpPr>
        <dsp:cNvPr id="0" name=""/>
        <dsp:cNvSpPr/>
      </dsp:nvSpPr>
      <dsp:spPr>
        <a:xfrm>
          <a:off x="219348" y="1979354"/>
          <a:ext cx="398815" cy="398815"/>
        </a:xfrm>
        <a:prstGeom prst="rect">
          <a:avLst/>
        </a:prstGeom>
        <a:solidFill>
          <a:schemeClr val="bg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D8EC3CD-A0AD-45EB-A022-3B39A074A976}">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b="1" kern="1200">
              <a:solidFill>
                <a:srgbClr val="0A0A0A"/>
              </a:solidFill>
            </a:rPr>
            <a:t>Server Admin:</a:t>
          </a:r>
          <a:r>
            <a:rPr lang="en-US" sz="1800" kern="1200">
              <a:solidFill>
                <a:srgbClr val="0A0A0A"/>
              </a:solidFill>
            </a:rPr>
            <a:t> A master administrator account is created during server setup with full privileges over all databases.</a:t>
          </a:r>
          <a:endParaRPr lang="en-US" sz="1800" kern="1200"/>
        </a:p>
      </dsp:txBody>
      <dsp:txXfrm>
        <a:off x="837512" y="1816202"/>
        <a:ext cx="9678087" cy="725119"/>
      </dsp:txXfrm>
    </dsp:sp>
    <dsp:sp modelId="{952F225E-3E07-4A1A-8FA6-5DF8147354BF}">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0710E9-1FE1-4B78-B95E-AB53A95BBE36}">
      <dsp:nvSpPr>
        <dsp:cNvPr id="0" name=""/>
        <dsp:cNvSpPr/>
      </dsp:nvSpPr>
      <dsp:spPr>
        <a:xfrm>
          <a:off x="219348" y="2885753"/>
          <a:ext cx="398815" cy="398815"/>
        </a:xfrm>
        <a:prstGeom prst="rect">
          <a:avLst/>
        </a:prstGeom>
        <a:solidFill>
          <a:schemeClr val="bg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FA7CB9-14E7-47ED-80B0-95C0C70DD059}">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b="1" kern="1200" dirty="0">
              <a:solidFill>
                <a:srgbClr val="0A0A0A"/>
              </a:solidFill>
            </a:rPr>
            <a:t>Database Users:</a:t>
          </a:r>
          <a:r>
            <a:rPr lang="en-US" sz="1800" kern="1200" dirty="0">
              <a:solidFill>
                <a:srgbClr val="0A0A0A"/>
              </a:solidFill>
            </a:rPr>
            <a:t> Admins can create additional logins and users for specific databases using the </a:t>
          </a:r>
          <a:r>
            <a:rPr lang="en-US" sz="1800" kern="1200" dirty="0">
              <a:solidFill>
                <a:srgbClr val="0A0A0A"/>
              </a:solidFill>
              <a:latin typeface="Consolas"/>
            </a:rPr>
            <a:t>CREATE USER</a:t>
          </a:r>
          <a:r>
            <a:rPr lang="en-US" sz="1800" kern="1200" dirty="0">
              <a:solidFill>
                <a:srgbClr val="0A0A0A"/>
              </a:solidFill>
            </a:rPr>
            <a:t> command.</a:t>
          </a:r>
          <a:endParaRPr lang="en-US" sz="1800" kern="1200" dirty="0"/>
        </a:p>
      </dsp:txBody>
      <dsp:txXfrm>
        <a:off x="837512" y="2722601"/>
        <a:ext cx="9678087" cy="725119"/>
      </dsp:txXfrm>
    </dsp:sp>
    <dsp:sp modelId="{BD554DD8-72D5-4BE0-8A41-6C636CC96E81}">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BF9ED3-AE89-4CB9-9C4F-D6BA566C5BE7}">
      <dsp:nvSpPr>
        <dsp:cNvPr id="0" name=""/>
        <dsp:cNvSpPr/>
      </dsp:nvSpPr>
      <dsp:spPr>
        <a:xfrm>
          <a:off x="219348" y="3792152"/>
          <a:ext cx="398815" cy="398815"/>
        </a:xfrm>
        <a:prstGeom prst="rect">
          <a:avLst/>
        </a:prstGeom>
        <a:solidFill>
          <a:schemeClr val="bg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71D6F5-D289-4DA3-87FB-30552D005FDA}">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00100">
            <a:lnSpc>
              <a:spcPct val="100000"/>
            </a:lnSpc>
            <a:spcBef>
              <a:spcPct val="0"/>
            </a:spcBef>
            <a:spcAft>
              <a:spcPct val="35000"/>
            </a:spcAft>
            <a:buNone/>
          </a:pPr>
          <a:r>
            <a:rPr lang="en-US" sz="1800" b="1" kern="1200">
              <a:solidFill>
                <a:srgbClr val="0A0A0A"/>
              </a:solidFill>
            </a:rPr>
            <a:t>Use Case:</a:t>
          </a:r>
          <a:r>
            <a:rPr lang="en-US" sz="1800" kern="1200">
              <a:solidFill>
                <a:srgbClr val="0A0A0A"/>
              </a:solidFill>
            </a:rPr>
            <a:t> Best for legacy applications or when external users need access without an Entra ID account.</a:t>
          </a:r>
          <a:endParaRPr lang="en-US" sz="1800" kern="1200"/>
        </a:p>
      </dsp:txBody>
      <dsp:txXfrm>
        <a:off x="837512" y="3629000"/>
        <a:ext cx="9678087" cy="72511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4/16/2026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learn.microsoft.com/en-us/sql/database-engine/configure-windows/configure-a-windows-firewall-for-database-engine-access?view=sql-server-ver17"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learn.microsoft.com/en-us/sql/t-sql/statements/grant-object-permissions-transact-sql?view=sql-server-ver17" TargetMode="External"/><Relationship Id="rId3" Type="http://schemas.openxmlformats.org/officeDocument/2006/relationships/hyperlink" Target="https://learn.microsoft.com/en-us/sql/relational-databases/security/encryption/always-encrypted-database-engine?view=sql-server-ver17#selecting--deterministic-or-randomized-encryption" TargetMode="External"/><Relationship Id="rId7" Type="http://schemas.openxmlformats.org/officeDocument/2006/relationships/hyperlink" Target="https://learn.microsoft.com/en-us/sql/relational-databases/security/dynamic-data-masking?view=sql-server-ver17#limitations-and-restrictions" TargetMode="External"/><Relationship Id="rId2" Type="http://schemas.openxmlformats.org/officeDocument/2006/relationships/hyperlink" Target="https://learn.microsoft.com/en-us/sql/relational-databases/security/encryption/always-encrypted-database-engine?view=sql-server-ver17" TargetMode="External"/><Relationship Id="rId1" Type="http://schemas.openxmlformats.org/officeDocument/2006/relationships/slideLayout" Target="../slideLayouts/slideLayout2.xml"/><Relationship Id="rId6" Type="http://schemas.openxmlformats.org/officeDocument/2006/relationships/hyperlink" Target="https://learn.microsoft.com/en-us/sql/relational-databases/security/dynamic-data-masking?view=sql-server-ver17#creating-a-dynamic-data-mask" TargetMode="External"/><Relationship Id="rId5" Type="http://schemas.openxmlformats.org/officeDocument/2006/relationships/hyperlink" Target="https://learn.microsoft.com/en-us/sql/relational-databases/security/encryption/always-encrypted-enclaves?view=sql-server-ver17#confidential-queries" TargetMode="External"/><Relationship Id="rId4" Type="http://schemas.openxmlformats.org/officeDocument/2006/relationships/hyperlink" Target="https://learn.microsoft.com/en-us/sql/relational-databases/security/encryption/always-encrypted-enclaves?view=sql-server-ver17"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sql/relational-databases/security/encryption/transparent-data-encryption?view=sql-server-ver17#enable-tde" TargetMode="External"/><Relationship Id="rId2" Type="http://schemas.openxmlformats.org/officeDocument/2006/relationships/hyperlink" Target="https://learn.microsoft.com/en-us/sql/relational-databases/security/row-level-security?view=sql-server-ver17#Typical" TargetMode="External"/><Relationship Id="rId1" Type="http://schemas.openxmlformats.org/officeDocument/2006/relationships/slideLayout" Target="../slideLayouts/slideLayout2.xml"/><Relationship Id="rId4" Type="http://schemas.openxmlformats.org/officeDocument/2006/relationships/hyperlink" Target="https://learn.microsoft.com/en-us/sql/relational-databases/security/auditing/sql-server-audit-database-engine?view=sql-server-ver17"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azure/active-directory/authentication/concept-mfa-howitworks" TargetMode="External"/><Relationship Id="rId2" Type="http://schemas.openxmlformats.org/officeDocument/2006/relationships/hyperlink" Target="https://learn.microsoft.com/en-us/sql/relational-databases/security/authentication-access/getting-started-with-database-engine-permissions?view=sql-server-ver17#grant-the-least-permission" TargetMode="External"/><Relationship Id="rId1" Type="http://schemas.openxmlformats.org/officeDocument/2006/relationships/slideLayout" Target="../slideLayouts/slideLayout2.xml"/><Relationship Id="rId6" Type="http://schemas.openxmlformats.org/officeDocument/2006/relationships/hyperlink" Target="https://learn.microsoft.com/en-us/sql/relational-databases/security/permissions-database-engine?view=sql-server-ver17#chart-of-sql-server-permissions" TargetMode="External"/><Relationship Id="rId5" Type="http://schemas.openxmlformats.org/officeDocument/2006/relationships/hyperlink" Target="https://learn.microsoft.com/en-us/windows-server/security/group-managed-service-accounts/group-managed-service-accounts-overview" TargetMode="External"/><Relationship Id="rId4" Type="http://schemas.openxmlformats.org/officeDocument/2006/relationships/hyperlink" Target="https://learn.microsoft.com/en-us/sql/relational-databases/security/strong-passwords?view=sql-server-ver1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learn.microsoft.com/en-us/sql/t-sql/statements/create-user-transact-sql?view=sql-server-ver17"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learn.microsoft.com/en-us/sql/t-sql/statements/restore-statements-transact-sql?view=sql-server-ver17#permissions" TargetMode="External"/><Relationship Id="rId2" Type="http://schemas.openxmlformats.org/officeDocument/2006/relationships/hyperlink" Target="https://learn.microsoft.com/en-us/sql/t-sql/statements/backup-transact-sql?view=sql-server-ver17#permissions" TargetMode="External"/><Relationship Id="rId1" Type="http://schemas.openxmlformats.org/officeDocument/2006/relationships/slideLayout" Target="../slideLayouts/slideLayout2.xml"/><Relationship Id="rId6" Type="http://schemas.openxmlformats.org/officeDocument/2006/relationships/hyperlink" Target="https://learn.microsoft.com/en-us/sql/relational-databases/backup-restore/recovery-models-sql-server?view=sql-server-ver17" TargetMode="External"/><Relationship Id="rId5" Type="http://schemas.openxmlformats.org/officeDocument/2006/relationships/hyperlink" Target="https://learn.microsoft.com/en-us/sql/relational-databases/backup-restore/backup-compression-sql-server?view=sql-server-ver17" TargetMode="External"/><Relationship Id="rId4" Type="http://schemas.openxmlformats.org/officeDocument/2006/relationships/hyperlink" Target="https://learn.microsoft.com/en-us/sql/relational-databases/security/encryption/transparent-data-encryption?view=sql-server-ver17" TargetMode="External"/></Relationships>
</file>

<file path=ppt/slides/_rels/slide18.xml.rels><?xml version="1.0" encoding="UTF-8" standalone="yes"?>
<Relationships xmlns="http://schemas.openxmlformats.org/package/2006/relationships"><Relationship Id="rId2" Type="http://schemas.openxmlformats.org/officeDocument/2006/relationships/hyperlink" Target="https://learn.microsoft.com/en-us/sql/t-sql/statements/create-server-audit-specification-transact-sq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2" Type="http://schemas.openxmlformats.org/officeDocument/2006/relationships/hyperlink" Target="https://learn.microsoft.com/en-us/azure/azure-sql/database/authentication-aad-overview?view=azuresq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E6270C-38E6-D2FD-B5FE-86A8E7E8290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097E9C-6A88-640A-1B7A-57EF5554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77191FA-128A-151D-C806-C80E608965DF}"/>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A9887CBC-D83C-1624-7DF1-5EF9C8BB7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84BC4FC-C017-2295-43BC-2D91377609D0}"/>
              </a:ext>
            </a:extLst>
          </p:cNvPr>
          <p:cNvSpPr>
            <a:spLocks noGrp="1"/>
          </p:cNvSpPr>
          <p:nvPr>
            <p:ph type="ctrTitle"/>
          </p:nvPr>
        </p:nvSpPr>
        <p:spPr>
          <a:xfrm>
            <a:off x="3325473" y="1924619"/>
            <a:ext cx="5541054" cy="1655378"/>
          </a:xfrm>
        </p:spPr>
        <p:txBody>
          <a:bodyPr>
            <a:normAutofit/>
          </a:bodyPr>
          <a:lstStyle/>
          <a:p>
            <a:r>
              <a:rPr lang="en-US" sz="3700"/>
              <a:t>SQL Server Administration &amp; Azure Data Engineering</a:t>
            </a:r>
          </a:p>
        </p:txBody>
      </p:sp>
      <p:sp>
        <p:nvSpPr>
          <p:cNvPr id="3" name="Subtitle 2">
            <a:extLst>
              <a:ext uri="{FF2B5EF4-FFF2-40B4-BE49-F238E27FC236}">
                <a16:creationId xmlns:a16="http://schemas.microsoft.com/office/drawing/2014/main" id="{FD497E32-F36E-4B3B-B511-144A35F7007B}"/>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a:t>Day 2</a:t>
            </a:r>
          </a:p>
        </p:txBody>
      </p:sp>
    </p:spTree>
    <p:extLst>
      <p:ext uri="{BB962C8B-B14F-4D97-AF65-F5344CB8AC3E}">
        <p14:creationId xmlns:p14="http://schemas.microsoft.com/office/powerpoint/2010/main" val="1318010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fontScale="92500" lnSpcReduction="20000"/>
          </a:bodyPr>
          <a:lstStyle/>
          <a:p>
            <a:r>
              <a:rPr lang="en-US" sz="2200"/>
              <a:t>SQL Server Security</a:t>
            </a:r>
            <a:endParaRPr lang="en-US"/>
          </a:p>
          <a:p>
            <a:r>
              <a:rPr lang="en-US" sz="2200"/>
              <a:t>SQL Server Authentication</a:t>
            </a:r>
            <a:endParaRPr lang="en-US">
              <a:ea typeface="Calibri"/>
              <a:cs typeface="Calibri"/>
            </a:endParaRPr>
          </a:p>
          <a:p>
            <a:r>
              <a:rPr lang="en-US" sz="2200"/>
              <a:t>SQL Server Authorization</a:t>
            </a:r>
          </a:p>
          <a:p>
            <a:r>
              <a:rPr lang="en-US" sz="2200"/>
              <a:t>SQL Server Users &amp; Logins</a:t>
            </a:r>
            <a:endParaRPr lang="en-US"/>
          </a:p>
          <a:p>
            <a:r>
              <a:rPr lang="en-US" sz="2200"/>
              <a:t>Server Roles</a:t>
            </a:r>
            <a:endParaRPr lang="en-US">
              <a:ea typeface="Calibri" panose="020F0502020204030204"/>
              <a:cs typeface="Calibri" panose="020F0502020204030204"/>
            </a:endParaRPr>
          </a:p>
          <a:p>
            <a:r>
              <a:rPr lang="en-US" sz="2200"/>
              <a:t>Database Roles</a:t>
            </a:r>
          </a:p>
          <a:p>
            <a:r>
              <a:rPr lang="en-US" sz="2200">
                <a:ea typeface="Calibri" panose="020F0502020204030204"/>
                <a:cs typeface="Calibri" panose="020F0502020204030204"/>
              </a:rPr>
              <a:t>SQL Server Backup &amp; Restore </a:t>
            </a:r>
          </a:p>
          <a:p>
            <a:r>
              <a:rPr lang="en-US" sz="2200">
                <a:ea typeface="Calibri" panose="020F0502020204030204"/>
                <a:cs typeface="Calibri" panose="020F0502020204030204"/>
              </a:rPr>
              <a:t>SQL Server Recovery </a:t>
            </a:r>
          </a:p>
          <a:p>
            <a:r>
              <a:rPr lang="en-US" sz="2200">
                <a:ea typeface="Calibri" panose="020F0502020204030204"/>
                <a:cs typeface="Calibri" panose="020F0502020204030204"/>
              </a:rPr>
              <a:t>Azure SQL database Security &amp; Authentication</a:t>
            </a:r>
          </a:p>
          <a:p>
            <a:r>
              <a:rPr lang="en-US" sz="2200">
                <a:ea typeface="Calibri" panose="020F0502020204030204"/>
                <a:cs typeface="Calibri" panose="020F0502020204030204"/>
              </a:rPr>
              <a:t>Azure SQL Backup</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01CD0A-13AF-6BEA-32F0-04CE9D993CD1}"/>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SQL Server Platform Security </a:t>
            </a:r>
          </a:p>
        </p:txBody>
      </p:sp>
      <p:sp>
        <p:nvSpPr>
          <p:cNvPr id="3" name="Content Placeholder 2">
            <a:extLst>
              <a:ext uri="{FF2B5EF4-FFF2-40B4-BE49-F238E27FC236}">
                <a16:creationId xmlns:a16="http://schemas.microsoft.com/office/drawing/2014/main" id="{83DA21EC-EC3E-D0FA-CDB9-B872137B1193}"/>
              </a:ext>
            </a:extLst>
          </p:cNvPr>
          <p:cNvSpPr>
            <a:spLocks noGrp="1"/>
          </p:cNvSpPr>
          <p:nvPr>
            <p:ph idx="1"/>
          </p:nvPr>
        </p:nvSpPr>
        <p:spPr>
          <a:xfrm>
            <a:off x="1138478" y="1942935"/>
            <a:ext cx="10202591" cy="4355200"/>
          </a:xfrm>
        </p:spPr>
        <p:txBody>
          <a:bodyPr anchor="ctr">
            <a:normAutofit/>
          </a:bodyPr>
          <a:lstStyle/>
          <a:p>
            <a:r>
              <a:rPr lang="en-US" sz="1600">
                <a:solidFill>
                  <a:schemeClr val="tx1">
                    <a:lumMod val="85000"/>
                    <a:lumOff val="15000"/>
                  </a:schemeClr>
                </a:solidFill>
                <a:ea typeface="Calibri"/>
                <a:cs typeface="Calibri"/>
              </a:rPr>
              <a:t>Securing SQL Server can be viewed as a series of steps, involving four areas: the platform, authentication, objects (including data), and applications that access the system. This article guides you through creating and implementing an effective security plan.</a:t>
            </a:r>
            <a:endParaRPr lang="en-US"/>
          </a:p>
          <a:p>
            <a:r>
              <a:rPr lang="en-US" sz="1600">
                <a:solidFill>
                  <a:schemeClr val="tx1">
                    <a:lumMod val="85000"/>
                    <a:lumOff val="15000"/>
                  </a:schemeClr>
                </a:solidFill>
                <a:ea typeface="Calibri"/>
                <a:cs typeface="Calibri"/>
              </a:rPr>
              <a:t>Network Security - </a:t>
            </a:r>
            <a:r>
              <a:rPr lang="en-US" sz="1600" b="1">
                <a:solidFill>
                  <a:schemeClr val="tx1">
                    <a:lumMod val="85000"/>
                    <a:lumOff val="15000"/>
                  </a:schemeClr>
                </a:solidFill>
                <a:ea typeface="Calibri"/>
                <a:cs typeface="Calibri"/>
              </a:rPr>
              <a:t>Restrict inbound traffic with firewalls and NSGs</a:t>
            </a:r>
            <a:r>
              <a:rPr lang="en-US" sz="1600">
                <a:solidFill>
                  <a:schemeClr val="tx1">
                    <a:lumMod val="85000"/>
                    <a:lumOff val="15000"/>
                  </a:schemeClr>
                </a:solidFill>
                <a:ea typeface="Calibri"/>
                <a:cs typeface="Calibri"/>
              </a:rPr>
              <a:t>: Limit network access to SQL Server by </a:t>
            </a:r>
            <a:r>
              <a:rPr lang="en-US" sz="1600">
                <a:solidFill>
                  <a:schemeClr val="tx1">
                    <a:lumMod val="85000"/>
                    <a:lumOff val="15000"/>
                  </a:schemeClr>
                </a:solidFill>
                <a:ea typeface="Calibri"/>
                <a:cs typeface="Calibri"/>
                <a:hlinkClick r:id="rId2">
                  <a:extLst>
                    <a:ext uri="{A12FA001-AC4F-418D-AE19-62706E023703}">
                      <ahyp:hlinkClr xmlns:ahyp="http://schemas.microsoft.com/office/drawing/2018/hyperlinkcolor" val="tx"/>
                    </a:ext>
                  </a:extLst>
                </a:hlinkClick>
              </a:rPr>
              <a:t>Configuring Windows Firewall for Database Engine access</a:t>
            </a:r>
            <a:r>
              <a:rPr lang="en-US" sz="1600">
                <a:solidFill>
                  <a:schemeClr val="tx1">
                    <a:lumMod val="85000"/>
                    <a:lumOff val="15000"/>
                  </a:schemeClr>
                </a:solidFill>
                <a:ea typeface="Calibri"/>
                <a:cs typeface="Calibri"/>
              </a:rPr>
              <a:t>. </a:t>
            </a:r>
          </a:p>
          <a:p>
            <a:r>
              <a:rPr lang="en-US" sz="1600" b="1">
                <a:solidFill>
                  <a:schemeClr val="tx1">
                    <a:lumMod val="85000"/>
                    <a:lumOff val="15000"/>
                  </a:schemeClr>
                </a:solidFill>
                <a:ea typeface="Calibri"/>
                <a:cs typeface="Calibri"/>
              </a:rPr>
              <a:t>Encrypt connections to SQL Server</a:t>
            </a:r>
            <a:r>
              <a:rPr lang="en-US" sz="1600">
                <a:solidFill>
                  <a:schemeClr val="tx1">
                    <a:lumMod val="85000"/>
                    <a:lumOff val="15000"/>
                  </a:schemeClr>
                </a:solidFill>
                <a:ea typeface="Calibri"/>
                <a:cs typeface="Calibri"/>
              </a:rPr>
              <a:t>: Configure SQL Server Database Engine to encrypt connections using a certificate. This ensures data in transit is protected from eavesdropping and tampering.</a:t>
            </a:r>
          </a:p>
          <a:p>
            <a:r>
              <a:rPr lang="en-US" sz="1600" b="1">
                <a:solidFill>
                  <a:schemeClr val="tx1">
                    <a:lumMod val="85000"/>
                    <a:lumOff val="15000"/>
                  </a:schemeClr>
                </a:solidFill>
                <a:ea typeface="Calibri"/>
                <a:cs typeface="Calibri"/>
              </a:rPr>
              <a:t>Secure remote management</a:t>
            </a:r>
            <a:r>
              <a:rPr lang="en-US" sz="1600">
                <a:solidFill>
                  <a:schemeClr val="tx1">
                    <a:lumMod val="85000"/>
                    <a:lumOff val="15000"/>
                  </a:schemeClr>
                </a:solidFill>
                <a:ea typeface="Calibri"/>
                <a:cs typeface="Calibri"/>
              </a:rPr>
              <a:t>: Use encrypted protocols (such as TLS 1.3) for all remote connections. </a:t>
            </a:r>
          </a:p>
          <a:p>
            <a:r>
              <a:rPr lang="en-US" sz="1600" b="1">
                <a:solidFill>
                  <a:schemeClr val="tx1">
                    <a:lumMod val="85000"/>
                    <a:lumOff val="15000"/>
                  </a:schemeClr>
                </a:solidFill>
                <a:ea typeface="Calibri"/>
                <a:cs typeface="Calibri"/>
              </a:rPr>
              <a:t>Connect to SQL Server with strict encryption</a:t>
            </a:r>
            <a:r>
              <a:rPr lang="en-US" sz="1600">
                <a:solidFill>
                  <a:schemeClr val="tx1">
                    <a:lumMod val="85000"/>
                    <a:lumOff val="15000"/>
                  </a:schemeClr>
                </a:solidFill>
                <a:ea typeface="Calibri"/>
                <a:cs typeface="Calibri"/>
              </a:rPr>
              <a:t>: SQL Server 2022 introduced the strict encryption option, which requires all connections to use encryption. This helps ensure that all data in transit is protected.</a:t>
            </a:r>
            <a:endParaRPr lang="en-US"/>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28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33BD5E3-0DBB-CADA-614E-FE2F01E78952}"/>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SQL Database Platform Security</a:t>
            </a:r>
          </a:p>
        </p:txBody>
      </p:sp>
      <p:sp>
        <p:nvSpPr>
          <p:cNvPr id="3" name="Content Placeholder 2">
            <a:extLst>
              <a:ext uri="{FF2B5EF4-FFF2-40B4-BE49-F238E27FC236}">
                <a16:creationId xmlns:a16="http://schemas.microsoft.com/office/drawing/2014/main" id="{386F02B9-AAC6-6836-E0CB-226308CE407D}"/>
              </a:ext>
            </a:extLst>
          </p:cNvPr>
          <p:cNvSpPr>
            <a:spLocks noGrp="1"/>
          </p:cNvSpPr>
          <p:nvPr>
            <p:ph idx="1"/>
          </p:nvPr>
        </p:nvSpPr>
        <p:spPr>
          <a:xfrm>
            <a:off x="1138478" y="2101086"/>
            <a:ext cx="9958176" cy="3650710"/>
          </a:xfrm>
        </p:spPr>
        <p:txBody>
          <a:bodyPr anchor="ctr">
            <a:normAutofit/>
          </a:bodyPr>
          <a:lstStyle/>
          <a:p>
            <a:r>
              <a:rPr lang="en-US" sz="1600">
                <a:solidFill>
                  <a:schemeClr val="tx1">
                    <a:lumMod val="85000"/>
                    <a:lumOff val="15000"/>
                  </a:schemeClr>
                </a:solidFill>
                <a:ea typeface="Calibri"/>
                <a:cs typeface="Calibri"/>
              </a:rPr>
              <a:t>Use Windows authentication or Microsoft Entra authentication: Prefer Windows authentication or Microsoft Entra authentication over SQL authentication for centralized identity management and easier account lifecycle control. </a:t>
            </a:r>
            <a:endParaRPr lang="en-US">
              <a:solidFill>
                <a:schemeClr val="tx1">
                  <a:lumMod val="85000"/>
                  <a:lumOff val="15000"/>
                </a:schemeClr>
              </a:solidFill>
              <a:ea typeface="Calibri"/>
              <a:cs typeface="Calibri"/>
            </a:endParaRPr>
          </a:p>
          <a:p>
            <a:r>
              <a:rPr lang="en-US" sz="1600">
                <a:solidFill>
                  <a:schemeClr val="tx1">
                    <a:lumMod val="85000"/>
                    <a:lumOff val="15000"/>
                  </a:schemeClr>
                </a:solidFill>
                <a:ea typeface="Calibri"/>
                <a:cs typeface="Calibri"/>
              </a:rPr>
              <a:t>Use group-managed service accounts (</a:t>
            </a:r>
            <a:r>
              <a:rPr lang="en-US" sz="1600" err="1">
                <a:solidFill>
                  <a:schemeClr val="tx1">
                    <a:lumMod val="85000"/>
                    <a:lumOff val="15000"/>
                  </a:schemeClr>
                </a:solidFill>
                <a:ea typeface="Calibri"/>
                <a:cs typeface="Calibri"/>
              </a:rPr>
              <a:t>gMSA</a:t>
            </a:r>
            <a:r>
              <a:rPr lang="en-US" sz="1600">
                <a:solidFill>
                  <a:schemeClr val="tx1">
                    <a:lumMod val="85000"/>
                    <a:lumOff val="15000"/>
                  </a:schemeClr>
                </a:solidFill>
                <a:ea typeface="Calibri"/>
                <a:cs typeface="Calibri"/>
              </a:rPr>
              <a:t>) for services: Use </a:t>
            </a:r>
            <a:r>
              <a:rPr lang="en-US" sz="1600" err="1">
                <a:solidFill>
                  <a:schemeClr val="tx1">
                    <a:lumMod val="85000"/>
                    <a:lumOff val="15000"/>
                  </a:schemeClr>
                </a:solidFill>
                <a:ea typeface="Calibri"/>
                <a:cs typeface="Calibri"/>
              </a:rPr>
              <a:t>gMSA</a:t>
            </a:r>
            <a:r>
              <a:rPr lang="en-US" sz="1600">
                <a:solidFill>
                  <a:schemeClr val="tx1">
                    <a:lumMod val="85000"/>
                    <a:lumOff val="15000"/>
                  </a:schemeClr>
                </a:solidFill>
                <a:ea typeface="Calibri"/>
                <a:cs typeface="Calibri"/>
              </a:rPr>
              <a:t> to manage service account credentials automatically and securely.</a:t>
            </a:r>
            <a:endParaRPr lang="en-US">
              <a:solidFill>
                <a:schemeClr val="tx1">
                  <a:lumMod val="85000"/>
                  <a:lumOff val="15000"/>
                </a:schemeClr>
              </a:solidFill>
              <a:ea typeface="Calibri"/>
              <a:cs typeface="Calibri"/>
            </a:endParaRPr>
          </a:p>
          <a:p>
            <a:r>
              <a:rPr lang="en-US" sz="1600">
                <a:solidFill>
                  <a:schemeClr val="tx1">
                    <a:lumMod val="85000"/>
                    <a:lumOff val="15000"/>
                  </a:schemeClr>
                </a:solidFill>
                <a:ea typeface="Calibri"/>
                <a:cs typeface="Calibri"/>
              </a:rPr>
              <a:t>Enforce strong password policies: If you're using SQL authentication, require complex passwords that can't be easily guessed and aren't used for other accounts. Regularly update passwords and enforce Active Directory policies. </a:t>
            </a:r>
            <a:endParaRPr lang="en-US">
              <a:solidFill>
                <a:schemeClr val="tx1">
                  <a:lumMod val="85000"/>
                  <a:lumOff val="15000"/>
                </a:schemeClr>
              </a:solidFill>
              <a:ea typeface="Calibri"/>
              <a:cs typeface="Calibri"/>
            </a:endParaRPr>
          </a:p>
          <a:p>
            <a:r>
              <a:rPr lang="en-US" sz="1600">
                <a:solidFill>
                  <a:schemeClr val="tx1">
                    <a:lumMod val="85000"/>
                    <a:lumOff val="15000"/>
                  </a:schemeClr>
                </a:solidFill>
                <a:ea typeface="Calibri"/>
                <a:cs typeface="Calibri"/>
              </a:rPr>
              <a:t>Use contained database users when appropriate: Consider contained database users for applications that need database-level authentication without requiring server-level logins. </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3596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4D5AD4-9F36-F7A2-D973-EF701D964D44}"/>
              </a:ext>
            </a:extLst>
          </p:cNvPr>
          <p:cNvSpPr>
            <a:spLocks noGrp="1"/>
          </p:cNvSpPr>
          <p:nvPr>
            <p:ph type="title"/>
          </p:nvPr>
        </p:nvSpPr>
        <p:spPr>
          <a:xfrm>
            <a:off x="1137036" y="548640"/>
            <a:ext cx="9543405" cy="1188720"/>
          </a:xfrm>
        </p:spPr>
        <p:txBody>
          <a:bodyPr>
            <a:normAutofit/>
          </a:bodyPr>
          <a:lstStyle/>
          <a:p>
            <a:r>
              <a:rPr lang="en-US" sz="3600">
                <a:solidFill>
                  <a:schemeClr val="tx1">
                    <a:lumMod val="85000"/>
                    <a:lumOff val="15000"/>
                  </a:schemeClr>
                </a:solidFill>
              </a:rPr>
              <a:t>SQL Server Security – IAM &amp; Access Management</a:t>
            </a:r>
            <a:endParaRPr lang="en-US" sz="3600">
              <a:solidFill>
                <a:schemeClr val="tx1">
                  <a:lumMod val="85000"/>
                  <a:lumOff val="15000"/>
                </a:schemeClr>
              </a:solidFill>
              <a:ea typeface="Calibri Light"/>
              <a:cs typeface="Calibri Light"/>
            </a:endParaRPr>
          </a:p>
        </p:txBody>
      </p:sp>
      <p:sp>
        <p:nvSpPr>
          <p:cNvPr id="3" name="Content Placeholder 2">
            <a:extLst>
              <a:ext uri="{FF2B5EF4-FFF2-40B4-BE49-F238E27FC236}">
                <a16:creationId xmlns:a16="http://schemas.microsoft.com/office/drawing/2014/main" id="{4245BC49-D8D9-1850-23D6-F9DEDD4FA571}"/>
              </a:ext>
            </a:extLst>
          </p:cNvPr>
          <p:cNvSpPr>
            <a:spLocks noGrp="1"/>
          </p:cNvSpPr>
          <p:nvPr>
            <p:ph idx="1"/>
          </p:nvPr>
        </p:nvSpPr>
        <p:spPr>
          <a:xfrm>
            <a:off x="1138478" y="2029199"/>
            <a:ext cx="9095535" cy="3722597"/>
          </a:xfrm>
        </p:spPr>
        <p:txBody>
          <a:bodyPr anchor="ctr">
            <a:normAutofit/>
          </a:bodyPr>
          <a:lstStyle/>
          <a:p>
            <a:r>
              <a:rPr lang="en-US" sz="1600">
                <a:solidFill>
                  <a:schemeClr val="tx1">
                    <a:lumMod val="85000"/>
                    <a:lumOff val="15000"/>
                  </a:schemeClr>
                </a:solidFill>
                <a:ea typeface="Calibri"/>
                <a:cs typeface="Calibri"/>
              </a:rPr>
              <a:t>Grant the minimum permissions required: Assign the lowest level of privilege needed for each user or service. Regularly review and adjust permissions to maintain least privilege.</a:t>
            </a:r>
            <a:endParaRPr lang="en-US">
              <a:solidFill>
                <a:schemeClr val="tx1">
                  <a:lumMod val="85000"/>
                  <a:lumOff val="15000"/>
                </a:schemeClr>
              </a:solidFill>
              <a:ea typeface="Calibri"/>
              <a:cs typeface="Calibri"/>
            </a:endParaRPr>
          </a:p>
          <a:p>
            <a:r>
              <a:rPr lang="en-US" sz="1600">
                <a:solidFill>
                  <a:schemeClr val="tx1">
                    <a:lumMod val="85000"/>
                    <a:lumOff val="15000"/>
                  </a:schemeClr>
                </a:solidFill>
                <a:ea typeface="Calibri"/>
                <a:cs typeface="Calibri"/>
              </a:rPr>
              <a:t>Separate database administrators (DBA) and sysadmin roles: Avoid granting sysadmin rights to all DBAs. Use the CONTROL SERVER </a:t>
            </a:r>
            <a:r>
              <a:rPr lang="en-US" sz="1600" err="1">
                <a:solidFill>
                  <a:schemeClr val="tx1">
                    <a:lumMod val="85000"/>
                    <a:lumOff val="15000"/>
                  </a:schemeClr>
                </a:solidFill>
                <a:ea typeface="Calibri"/>
                <a:cs typeface="Calibri"/>
              </a:rPr>
              <a:t>permission</a:t>
            </a:r>
            <a:r>
              <a:rPr lang="en-US" sz="1600">
                <a:solidFill>
                  <a:schemeClr val="tx1">
                    <a:lumMod val="85000"/>
                    <a:lumOff val="15000"/>
                  </a:schemeClr>
                </a:solidFill>
                <a:ea typeface="Calibri"/>
                <a:cs typeface="Calibri"/>
              </a:rPr>
              <a:t> when possible, as it respects DENY permissions and allows for more granular control. </a:t>
            </a:r>
            <a:endParaRPr lang="en-US">
              <a:solidFill>
                <a:schemeClr val="tx1">
                  <a:lumMod val="85000"/>
                  <a:lumOff val="15000"/>
                </a:schemeClr>
              </a:solidFill>
              <a:ea typeface="Calibri"/>
              <a:cs typeface="Calibri"/>
            </a:endParaRPr>
          </a:p>
          <a:p>
            <a:r>
              <a:rPr lang="en-US" sz="1600">
                <a:solidFill>
                  <a:schemeClr val="tx1">
                    <a:lumMod val="85000"/>
                    <a:lumOff val="15000"/>
                  </a:schemeClr>
                </a:solidFill>
                <a:ea typeface="Calibri"/>
                <a:cs typeface="Calibri"/>
              </a:rPr>
              <a:t>Consider a separation of duties that limit access to the virtual machine, the ability to log into the operating system, the ability to modify error and auditing logs, and the ability to install applications and/or features. </a:t>
            </a:r>
            <a:endParaRPr lang="en-US">
              <a:solidFill>
                <a:schemeClr val="tx1">
                  <a:lumMod val="85000"/>
                  <a:lumOff val="15000"/>
                </a:schemeClr>
              </a:solidFill>
              <a:ea typeface="Calibri"/>
              <a:cs typeface="Calibri"/>
            </a:endParaRPr>
          </a:p>
          <a:p>
            <a:r>
              <a:rPr lang="en-US" sz="1600">
                <a:solidFill>
                  <a:schemeClr val="tx1">
                    <a:lumMod val="85000"/>
                    <a:lumOff val="15000"/>
                  </a:schemeClr>
                </a:solidFill>
                <a:ea typeface="Calibri"/>
                <a:cs typeface="Calibri"/>
              </a:rPr>
              <a:t>Monitor and audit privileged activities: Enable auditing to track changes made by privileged accounts and review logs regularly for suspicious activity. </a:t>
            </a:r>
            <a:endParaRPr lang="en-US">
              <a:solidFill>
                <a:schemeClr val="tx1">
                  <a:lumMod val="85000"/>
                  <a:lumOff val="15000"/>
                </a:schemeClr>
              </a:solidFill>
              <a:ea typeface="Calibri"/>
              <a:cs typeface="Calibri"/>
            </a:endParaRPr>
          </a:p>
          <a:p>
            <a:r>
              <a:rPr lang="en-US" sz="1600">
                <a:solidFill>
                  <a:schemeClr val="tx1">
                    <a:lumMod val="85000"/>
                    <a:lumOff val="15000"/>
                  </a:schemeClr>
                </a:solidFill>
                <a:ea typeface="Calibri"/>
                <a:cs typeface="Calibri"/>
              </a:rPr>
              <a:t>Implement role separation: Place Active Directory users in AD groups, map AD groups to SQL Server roles, and grant SQL Server roles the minimum permissions required by applications. </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4103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75836F-94AA-AAEE-3F5E-FA2C418478E2}"/>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SQL Server Data Protection</a:t>
            </a:r>
          </a:p>
        </p:txBody>
      </p:sp>
      <p:sp>
        <p:nvSpPr>
          <p:cNvPr id="3" name="Content Placeholder 2">
            <a:extLst>
              <a:ext uri="{FF2B5EF4-FFF2-40B4-BE49-F238E27FC236}">
                <a16:creationId xmlns:a16="http://schemas.microsoft.com/office/drawing/2014/main" id="{888DC3AA-2AC5-86CE-7237-2C1AA112260B}"/>
              </a:ext>
            </a:extLst>
          </p:cNvPr>
          <p:cNvSpPr>
            <a:spLocks noGrp="1"/>
          </p:cNvSpPr>
          <p:nvPr>
            <p:ph idx="1"/>
          </p:nvPr>
        </p:nvSpPr>
        <p:spPr>
          <a:xfrm>
            <a:off x="1426025" y="2029199"/>
            <a:ext cx="8807988" cy="3722597"/>
          </a:xfrm>
        </p:spPr>
        <p:txBody>
          <a:bodyPr anchor="ctr">
            <a:normAutofit lnSpcReduction="10000"/>
          </a:bodyPr>
          <a:lstStyle/>
          <a:p>
            <a:pPr>
              <a:buFont typeface="Arial" panose="05000000000000000000" pitchFamily="2" charset="2"/>
              <a:buChar char="•"/>
            </a:pPr>
            <a:r>
              <a:rPr lang="en-US" sz="1600">
                <a:solidFill>
                  <a:schemeClr val="tx1">
                    <a:lumMod val="85000"/>
                    <a:lumOff val="15000"/>
                  </a:schemeClr>
                </a:solidFill>
                <a:ea typeface="Calibri"/>
                <a:cs typeface="Calibri"/>
              </a:rPr>
              <a:t>Encrypt sensitive information with Always Encrypted: Use Always Encrypted and Always Encrypted with secure enclaves to protect sensitive data in SQL Server. Prefer randomized encryption for stronger security. </a:t>
            </a:r>
            <a:endParaRPr lang="en-US">
              <a:solidFill>
                <a:schemeClr val="tx1">
                  <a:lumMod val="85000"/>
                  <a:lumOff val="15000"/>
                </a:schemeClr>
              </a:solidFill>
            </a:endParaRPr>
          </a:p>
          <a:p>
            <a:pPr>
              <a:buFont typeface="Arial" panose="05000000000000000000" pitchFamily="2" charset="2"/>
              <a:buChar char="•"/>
            </a:pPr>
            <a:r>
              <a:rPr lang="en-US" sz="1600">
                <a:solidFill>
                  <a:schemeClr val="tx1">
                    <a:lumMod val="85000"/>
                    <a:lumOff val="15000"/>
                  </a:schemeClr>
                </a:solidFill>
                <a:ea typeface="Calibri"/>
                <a:cs typeface="Calibri"/>
              </a:rPr>
              <a:t>Use Transparent Data Encryption (TDE) for database files: Enable TDE to encrypt database, backup, and </a:t>
            </a:r>
            <a:r>
              <a:rPr lang="en-US" sz="1600" err="1">
                <a:solidFill>
                  <a:schemeClr val="tx1">
                    <a:lumMod val="85000"/>
                    <a:lumOff val="15000"/>
                  </a:schemeClr>
                </a:solidFill>
                <a:ea typeface="Calibri"/>
                <a:cs typeface="Calibri"/>
              </a:rPr>
              <a:t>tempdb</a:t>
            </a:r>
            <a:r>
              <a:rPr lang="en-US" sz="1600">
                <a:solidFill>
                  <a:schemeClr val="tx1">
                    <a:lumMod val="85000"/>
                    <a:lumOff val="15000"/>
                  </a:schemeClr>
                </a:solidFill>
                <a:ea typeface="Calibri"/>
                <a:cs typeface="Calibri"/>
              </a:rPr>
              <a:t> files, protecting data if physical media is compromised. </a:t>
            </a:r>
            <a:endParaRPr lang="en-US">
              <a:solidFill>
                <a:schemeClr val="tx1">
                  <a:lumMod val="85000"/>
                  <a:lumOff val="15000"/>
                </a:schemeClr>
              </a:solidFill>
              <a:ea typeface="Calibri"/>
              <a:cs typeface="Calibri"/>
            </a:endParaRPr>
          </a:p>
          <a:p>
            <a:pPr>
              <a:buFont typeface="Arial" panose="05000000000000000000" pitchFamily="2" charset="2"/>
              <a:buChar char="•"/>
            </a:pPr>
            <a:r>
              <a:rPr lang="en-US" sz="1600">
                <a:solidFill>
                  <a:schemeClr val="tx1">
                    <a:lumMod val="85000"/>
                    <a:lumOff val="15000"/>
                  </a:schemeClr>
                </a:solidFill>
                <a:ea typeface="Calibri"/>
                <a:cs typeface="Calibri"/>
              </a:rPr>
              <a:t>Mask sensitive data with Dynamic Data Masking (DDM): Use DDM to obfuscate sensitive data in query results when encryption isn't possible. </a:t>
            </a:r>
            <a:endParaRPr lang="en-US">
              <a:solidFill>
                <a:schemeClr val="tx1">
                  <a:lumMod val="85000"/>
                  <a:lumOff val="15000"/>
                </a:schemeClr>
              </a:solidFill>
              <a:ea typeface="Calibri"/>
              <a:cs typeface="Calibri"/>
            </a:endParaRPr>
          </a:p>
          <a:p>
            <a:pPr>
              <a:buFont typeface="Arial" panose="05000000000000000000" pitchFamily="2" charset="2"/>
              <a:buChar char="•"/>
            </a:pPr>
            <a:r>
              <a:rPr lang="en-US" sz="1600">
                <a:solidFill>
                  <a:schemeClr val="tx1">
                    <a:lumMod val="85000"/>
                    <a:lumOff val="15000"/>
                  </a:schemeClr>
                </a:solidFill>
                <a:ea typeface="Calibri"/>
                <a:cs typeface="Calibri"/>
              </a:rPr>
              <a:t>Grant column-level permissions: Limit access to sensitive columns by granting SELECT, REFERENCES, or UPDATE permissions only to authorized users. </a:t>
            </a:r>
            <a:endParaRPr lang="en-US">
              <a:solidFill>
                <a:schemeClr val="tx1">
                  <a:lumMod val="85000"/>
                  <a:lumOff val="15000"/>
                </a:schemeClr>
              </a:solidFill>
              <a:ea typeface="Calibri"/>
              <a:cs typeface="Calibri"/>
            </a:endParaRPr>
          </a:p>
          <a:p>
            <a:pPr>
              <a:buFont typeface="Arial" panose="05000000000000000000" pitchFamily="2" charset="2"/>
              <a:buChar char="•"/>
            </a:pPr>
            <a:r>
              <a:rPr lang="en-US" sz="1600">
                <a:solidFill>
                  <a:schemeClr val="tx1">
                    <a:lumMod val="85000"/>
                    <a:lumOff val="15000"/>
                  </a:schemeClr>
                </a:solidFill>
                <a:ea typeface="Calibri"/>
                <a:cs typeface="Calibri"/>
              </a:rPr>
              <a:t>Use Row-Level Security (RLS) to restrict data access: Implement RLS to ensure users only see data relevant to them. Use SESSION_CONTEXT for middle-tier applications where users share SQL accounts. </a:t>
            </a:r>
            <a:endParaRPr lang="en-US">
              <a:solidFill>
                <a:schemeClr val="tx1">
                  <a:lumMod val="85000"/>
                  <a:lumOff val="15000"/>
                </a:schemeClr>
              </a:solidFill>
              <a:ea typeface="Calibri"/>
              <a:cs typeface="Calibri"/>
            </a:endParaRPr>
          </a:p>
          <a:p>
            <a:pPr>
              <a:buFont typeface="Arial" panose="05000000000000000000" pitchFamily="2" charset="2"/>
              <a:buChar char="•"/>
            </a:pPr>
            <a:r>
              <a:rPr lang="en-US" sz="1600">
                <a:solidFill>
                  <a:schemeClr val="tx1">
                    <a:lumMod val="85000"/>
                    <a:lumOff val="15000"/>
                  </a:schemeClr>
                </a:solidFill>
                <a:ea typeface="Calibri"/>
                <a:cs typeface="Calibri"/>
              </a:rPr>
              <a:t>Combine security features for maximum protection: Use Row-Level Security together with Always Encrypted or Dynamic Data Masking to maximize your organization's security posture. </a:t>
            </a:r>
          </a:p>
          <a:p>
            <a:pPr marL="0" indent="0">
              <a:buNone/>
            </a:pPr>
            <a:endParaRPr lang="en-US" sz="1300">
              <a:solidFill>
                <a:schemeClr val="tx1">
                  <a:lumMod val="85000"/>
                  <a:lumOff val="15000"/>
                </a:schemeClr>
              </a:solidFill>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7016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595C4-11D6-B1AA-E07E-B83B85A1CC10}"/>
              </a:ext>
            </a:extLst>
          </p:cNvPr>
          <p:cNvSpPr>
            <a:spLocks noGrp="1"/>
          </p:cNvSpPr>
          <p:nvPr>
            <p:ph type="title"/>
          </p:nvPr>
        </p:nvSpPr>
        <p:spPr>
          <a:xfrm>
            <a:off x="793662" y="386930"/>
            <a:ext cx="10066122" cy="1298448"/>
          </a:xfrm>
        </p:spPr>
        <p:txBody>
          <a:bodyPr anchor="b">
            <a:normAutofit/>
          </a:bodyPr>
          <a:lstStyle/>
          <a:p>
            <a:r>
              <a:rPr lang="en-US" sz="4800">
                <a:ea typeface="Calibri Light"/>
                <a:cs typeface="Calibri Light"/>
              </a:rPr>
              <a:t>SQL Server Security Best Practice</a:t>
            </a:r>
          </a:p>
        </p:txBody>
      </p:sp>
      <p:sp>
        <p:nvSpPr>
          <p:cNvPr id="1035" name="Rectangle 10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Content Placeholder 1029">
            <a:extLst>
              <a:ext uri="{FF2B5EF4-FFF2-40B4-BE49-F238E27FC236}">
                <a16:creationId xmlns:a16="http://schemas.microsoft.com/office/drawing/2014/main" id="{EB12F5DE-84BF-A3BA-AC20-78988ABF90CD}"/>
              </a:ext>
            </a:extLst>
          </p:cNvPr>
          <p:cNvSpPr>
            <a:spLocks noGrp="1"/>
          </p:cNvSpPr>
          <p:nvPr>
            <p:ph idx="1"/>
          </p:nvPr>
        </p:nvSpPr>
        <p:spPr>
          <a:xfrm>
            <a:off x="793660" y="2599509"/>
            <a:ext cx="9321891" cy="3639450"/>
          </a:xfrm>
        </p:spPr>
        <p:txBody>
          <a:bodyPr anchor="ctr">
            <a:normAutofit/>
          </a:bodyPr>
          <a:lstStyle/>
          <a:p>
            <a:pPr>
              <a:buFont typeface="Arial" panose="05000000000000000000" pitchFamily="2" charset="2"/>
              <a:buChar char="•"/>
            </a:pPr>
            <a:r>
              <a:rPr lang="en-US" sz="1600" b="1">
                <a:solidFill>
                  <a:schemeClr val="tx1">
                    <a:lumMod val="85000"/>
                    <a:lumOff val="15000"/>
                  </a:schemeClr>
                </a:solidFill>
                <a:ea typeface="Calibri"/>
                <a:cs typeface="Calibri"/>
              </a:rPr>
              <a:t>Column-level Encryption</a:t>
            </a:r>
            <a:r>
              <a:rPr lang="en-US" sz="1600">
                <a:solidFill>
                  <a:schemeClr val="tx1">
                    <a:lumMod val="85000"/>
                    <a:lumOff val="15000"/>
                  </a:schemeClr>
                </a:solidFill>
                <a:ea typeface="Calibri"/>
                <a:cs typeface="Calibri"/>
              </a:rPr>
              <a:t> - Use </a:t>
            </a:r>
            <a:r>
              <a:rPr lang="en-US" sz="1600">
                <a:solidFill>
                  <a:schemeClr val="tx1">
                    <a:lumMod val="85000"/>
                    <a:lumOff val="15000"/>
                  </a:schemeClr>
                </a:solidFill>
                <a:ea typeface="Calibri"/>
                <a:cs typeface="Calibri"/>
                <a:hlinkClick r:id="rId2">
                  <a:extLst>
                    <a:ext uri="{A12FA001-AC4F-418D-AE19-62706E023703}">
                      <ahyp:hlinkClr xmlns:ahyp="http://schemas.microsoft.com/office/drawing/2018/hyperlinkcolor" val="tx"/>
                    </a:ext>
                  </a:extLst>
                </a:hlinkClick>
              </a:rPr>
              <a:t>Always Encrypted</a:t>
            </a:r>
            <a:r>
              <a:rPr lang="en-US" sz="1600">
                <a:solidFill>
                  <a:schemeClr val="tx1">
                    <a:lumMod val="85000"/>
                    <a:lumOff val="15000"/>
                  </a:schemeClr>
                </a:solidFill>
                <a:ea typeface="Calibri"/>
                <a:cs typeface="Calibri"/>
              </a:rPr>
              <a:t> to encrypt data at rest and over the wire. Encrypted data is only decrypted by client libraries at the application client level. Use </a:t>
            </a:r>
            <a:r>
              <a:rPr lang="en-US" sz="1600">
                <a:solidFill>
                  <a:schemeClr val="tx1">
                    <a:lumMod val="85000"/>
                    <a:lumOff val="15000"/>
                  </a:schemeClr>
                </a:solidFill>
                <a:ea typeface="Calibri"/>
                <a:cs typeface="Calibri"/>
                <a:hlinkClick r:id="rId3">
                  <a:extLst>
                    <a:ext uri="{A12FA001-AC4F-418D-AE19-62706E023703}">
                      <ahyp:hlinkClr xmlns:ahyp="http://schemas.microsoft.com/office/drawing/2018/hyperlinkcolor" val="tx"/>
                    </a:ext>
                  </a:extLst>
                </a:hlinkClick>
              </a:rPr>
              <a:t>randomized encryption over deterministic</a:t>
            </a:r>
            <a:r>
              <a:rPr lang="en-US" sz="1600">
                <a:solidFill>
                  <a:schemeClr val="tx1">
                    <a:lumMod val="85000"/>
                    <a:lumOff val="15000"/>
                  </a:schemeClr>
                </a:solidFill>
                <a:ea typeface="Calibri"/>
                <a:cs typeface="Calibri"/>
              </a:rPr>
              <a:t> where possible. </a:t>
            </a:r>
            <a:r>
              <a:rPr lang="en-US" sz="1600">
                <a:solidFill>
                  <a:schemeClr val="tx1">
                    <a:lumMod val="85000"/>
                    <a:lumOff val="15000"/>
                  </a:schemeClr>
                </a:solidFill>
                <a:ea typeface="Calibri"/>
                <a:cs typeface="Calibri"/>
                <a:hlinkClick r:id="rId4">
                  <a:extLst>
                    <a:ext uri="{A12FA001-AC4F-418D-AE19-62706E023703}">
                      <ahyp:hlinkClr xmlns:ahyp="http://schemas.microsoft.com/office/drawing/2018/hyperlinkcolor" val="tx"/>
                    </a:ext>
                  </a:extLst>
                </a:hlinkClick>
              </a:rPr>
              <a:t>Always Encrypted with secure enclaves</a:t>
            </a:r>
            <a:r>
              <a:rPr lang="en-US" sz="1600">
                <a:solidFill>
                  <a:schemeClr val="tx1">
                    <a:lumMod val="85000"/>
                    <a:lumOff val="15000"/>
                  </a:schemeClr>
                </a:solidFill>
                <a:ea typeface="Calibri"/>
                <a:cs typeface="Calibri"/>
              </a:rPr>
              <a:t> can improve performance for comparison operations such as </a:t>
            </a:r>
            <a:r>
              <a:rPr lang="en-US" sz="1600">
                <a:solidFill>
                  <a:schemeClr val="tx1">
                    <a:lumMod val="85000"/>
                    <a:lumOff val="15000"/>
                  </a:schemeClr>
                </a:solidFill>
                <a:ea typeface="Calibri"/>
                <a:cs typeface="Calibri"/>
                <a:hlinkClick r:id="rId5">
                  <a:extLst>
                    <a:ext uri="{A12FA001-AC4F-418D-AE19-62706E023703}">
                      <ahyp:hlinkClr xmlns:ahyp="http://schemas.microsoft.com/office/drawing/2018/hyperlinkcolor" val="tx"/>
                    </a:ext>
                  </a:extLst>
                </a:hlinkClick>
              </a:rPr>
              <a:t>BETWEEN, IN, LIKE, DISTINCT, Joins, and more</a:t>
            </a:r>
            <a:r>
              <a:rPr lang="en-US" sz="1600">
                <a:solidFill>
                  <a:schemeClr val="tx1">
                    <a:lumMod val="85000"/>
                    <a:lumOff val="15000"/>
                  </a:schemeClr>
                </a:solidFill>
                <a:ea typeface="Calibri"/>
                <a:cs typeface="Calibri"/>
              </a:rPr>
              <a:t> for randomized encryption scenarios.</a:t>
            </a:r>
          </a:p>
          <a:p>
            <a:pPr>
              <a:buFont typeface="Arial" panose="05000000000000000000" pitchFamily="2" charset="2"/>
              <a:buChar char="•"/>
            </a:pPr>
            <a:r>
              <a:rPr lang="en-US" sz="1600">
                <a:solidFill>
                  <a:schemeClr val="tx1">
                    <a:lumMod val="85000"/>
                    <a:lumOff val="15000"/>
                  </a:schemeClr>
                </a:solidFill>
                <a:ea typeface="Calibri"/>
                <a:cs typeface="Calibri"/>
              </a:rPr>
              <a:t>Use </a:t>
            </a:r>
            <a:r>
              <a:rPr lang="en-US" sz="1600">
                <a:solidFill>
                  <a:schemeClr val="tx1">
                    <a:lumMod val="85000"/>
                    <a:lumOff val="15000"/>
                  </a:schemeClr>
                </a:solidFill>
                <a:ea typeface="Calibri"/>
                <a:cs typeface="Calibri"/>
                <a:hlinkClick r:id="rId6">
                  <a:extLst>
                    <a:ext uri="{A12FA001-AC4F-418D-AE19-62706E023703}">
                      <ahyp:hlinkClr xmlns:ahyp="http://schemas.microsoft.com/office/drawing/2018/hyperlinkcolor" val="tx"/>
                    </a:ext>
                  </a:extLst>
                </a:hlinkClick>
              </a:rPr>
              <a:t>Dynamic Data Masking (DDM)</a:t>
            </a:r>
            <a:r>
              <a:rPr lang="en-US" sz="1600">
                <a:solidFill>
                  <a:schemeClr val="tx1">
                    <a:lumMod val="85000"/>
                    <a:lumOff val="15000"/>
                  </a:schemeClr>
                </a:solidFill>
                <a:ea typeface="Calibri"/>
                <a:cs typeface="Calibri"/>
              </a:rPr>
              <a:t> to obfuscate data at the column level when Always Encrypted isn't an available option. Dynamic Data Masking (DDM) </a:t>
            </a:r>
            <a:r>
              <a:rPr lang="en-US" sz="1600">
                <a:solidFill>
                  <a:schemeClr val="tx1">
                    <a:lumMod val="85000"/>
                    <a:lumOff val="15000"/>
                  </a:schemeClr>
                </a:solidFill>
                <a:ea typeface="Calibri"/>
                <a:cs typeface="Calibri"/>
                <a:hlinkClick r:id="rId7">
                  <a:extLst>
                    <a:ext uri="{A12FA001-AC4F-418D-AE19-62706E023703}">
                      <ahyp:hlinkClr xmlns:ahyp="http://schemas.microsoft.com/office/drawing/2018/hyperlinkcolor" val="tx"/>
                    </a:ext>
                  </a:extLst>
                </a:hlinkClick>
              </a:rPr>
              <a:t>isn't compatible with Always Encrypted</a:t>
            </a:r>
            <a:r>
              <a:rPr lang="en-US" sz="1600">
                <a:solidFill>
                  <a:schemeClr val="tx1">
                    <a:lumMod val="85000"/>
                    <a:lumOff val="15000"/>
                  </a:schemeClr>
                </a:solidFill>
                <a:ea typeface="Calibri"/>
                <a:cs typeface="Calibri"/>
              </a:rPr>
              <a:t>. Use Always Encrypted over dynamic data masking whenever possible.</a:t>
            </a:r>
          </a:p>
          <a:p>
            <a:pPr>
              <a:buFont typeface="Arial" panose="05000000000000000000" pitchFamily="2" charset="2"/>
              <a:buChar char="•"/>
            </a:pPr>
            <a:r>
              <a:rPr lang="en-US" sz="1600">
                <a:solidFill>
                  <a:schemeClr val="tx1">
                    <a:lumMod val="85000"/>
                    <a:lumOff val="15000"/>
                  </a:schemeClr>
                </a:solidFill>
                <a:ea typeface="Calibri"/>
                <a:cs typeface="Calibri"/>
              </a:rPr>
              <a:t>You can also </a:t>
            </a:r>
            <a:r>
              <a:rPr lang="en-US" sz="1600">
                <a:solidFill>
                  <a:schemeClr val="tx1">
                    <a:lumMod val="85000"/>
                    <a:lumOff val="15000"/>
                  </a:schemeClr>
                </a:solidFill>
                <a:ea typeface="Calibri"/>
                <a:cs typeface="Calibri"/>
                <a:hlinkClick r:id="rId8">
                  <a:extLst>
                    <a:ext uri="{A12FA001-AC4F-418D-AE19-62706E023703}">
                      <ahyp:hlinkClr xmlns:ahyp="http://schemas.microsoft.com/office/drawing/2018/hyperlinkcolor" val="tx"/>
                    </a:ext>
                  </a:extLst>
                </a:hlinkClick>
              </a:rPr>
              <a:t>GRANT permissions</a:t>
            </a:r>
            <a:r>
              <a:rPr lang="en-US" sz="1600">
                <a:solidFill>
                  <a:schemeClr val="tx1">
                    <a:lumMod val="85000"/>
                    <a:lumOff val="15000"/>
                  </a:schemeClr>
                </a:solidFill>
                <a:ea typeface="Calibri"/>
                <a:cs typeface="Calibri"/>
              </a:rPr>
              <a:t> at the column level to a table, view, or table-valued function. Consider the following: - Only SELECT, REFERENCES, and UPDATE permissions can be granted on a column. - A table-level DENY doesn't take precedence over a column-level GRANT.</a:t>
            </a:r>
          </a:p>
          <a:p>
            <a:pPr>
              <a:buFont typeface="Wingdings" panose="05000000000000000000" pitchFamily="2" charset="2"/>
              <a:buChar char="§"/>
            </a:pPr>
            <a:endParaRPr lang="en-US" sz="1600">
              <a:solidFill>
                <a:schemeClr val="tx1">
                  <a:lumMod val="85000"/>
                  <a:lumOff val="15000"/>
                </a:schemeClr>
              </a:solidFill>
              <a:ea typeface="Calibri"/>
              <a:cs typeface="Calibri"/>
            </a:endParaRPr>
          </a:p>
        </p:txBody>
      </p:sp>
      <p:sp>
        <p:nvSpPr>
          <p:cNvPr id="1039" name="Rectangle 10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7585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C19FA-8109-E306-2BD0-50DBE1E0CB40}"/>
              </a:ext>
            </a:extLst>
          </p:cNvPr>
          <p:cNvSpPr>
            <a:spLocks noGrp="1"/>
          </p:cNvSpPr>
          <p:nvPr>
            <p:ph type="title"/>
          </p:nvPr>
        </p:nvSpPr>
        <p:spPr/>
        <p:txBody>
          <a:bodyPr/>
          <a:lstStyle/>
          <a:p>
            <a:r>
              <a:rPr lang="en-US"/>
              <a:t>SQL Server Security Best Practice</a:t>
            </a:r>
            <a:endParaRPr lang="en-US">
              <a:ea typeface="Calibri Light"/>
              <a:cs typeface="Calibri Light"/>
            </a:endParaRPr>
          </a:p>
        </p:txBody>
      </p:sp>
      <p:sp>
        <p:nvSpPr>
          <p:cNvPr id="3" name="Content Placeholder 2">
            <a:extLst>
              <a:ext uri="{FF2B5EF4-FFF2-40B4-BE49-F238E27FC236}">
                <a16:creationId xmlns:a16="http://schemas.microsoft.com/office/drawing/2014/main" id="{3C821F84-A5E5-58E7-F8CB-8C7FD76B76B8}"/>
              </a:ext>
            </a:extLst>
          </p:cNvPr>
          <p:cNvSpPr>
            <a:spLocks noGrp="1"/>
          </p:cNvSpPr>
          <p:nvPr>
            <p:ph idx="1"/>
          </p:nvPr>
        </p:nvSpPr>
        <p:spPr>
          <a:xfrm>
            <a:off x="838200" y="1825625"/>
            <a:ext cx="10688128" cy="4351338"/>
          </a:xfrm>
        </p:spPr>
        <p:txBody>
          <a:bodyPr vert="horz" lIns="91440" tIns="45720" rIns="91440" bIns="45720" rtlCol="0" anchor="t">
            <a:normAutofit lnSpcReduction="10000"/>
          </a:bodyPr>
          <a:lstStyle/>
          <a:p>
            <a:r>
              <a:rPr lang="en-US" sz="1600">
                <a:solidFill>
                  <a:schemeClr val="tx1">
                    <a:lumMod val="85000"/>
                    <a:lumOff val="15000"/>
                  </a:schemeClr>
                </a:solidFill>
                <a:ea typeface="Calibri"/>
                <a:cs typeface="Calibri"/>
              </a:rPr>
              <a:t>Row level security - </a:t>
            </a:r>
            <a:r>
              <a:rPr lang="en-US" sz="1600">
                <a:solidFill>
                  <a:schemeClr val="tx1">
                    <a:lumMod val="85000"/>
                    <a:lumOff val="15000"/>
                  </a:schemeClr>
                </a:solidFill>
                <a:ea typeface="Calibri"/>
                <a:cs typeface="Calibri"/>
                <a:hlinkClick r:id="rId2">
                  <a:extLst>
                    <a:ext uri="{A12FA001-AC4F-418D-AE19-62706E023703}">
                      <ahyp:hlinkClr xmlns:ahyp="http://schemas.microsoft.com/office/drawing/2018/hyperlinkcolor" val="tx"/>
                    </a:ext>
                  </a:extLst>
                </a:hlinkClick>
              </a:rPr>
              <a:t>Row-Level Security (RLS)</a:t>
            </a:r>
            <a:r>
              <a:rPr lang="en-US" sz="1600">
                <a:solidFill>
                  <a:schemeClr val="tx1">
                    <a:lumMod val="85000"/>
                    <a:lumOff val="15000"/>
                  </a:schemeClr>
                </a:solidFill>
                <a:ea typeface="Calibri"/>
                <a:cs typeface="Calibri"/>
              </a:rPr>
              <a:t> enables the ability to use user execution context in order to control access to rows in a database table. RLS ensures that users can only see the record that pertains to them. This gives your application 'record level' security without having to make significant changes to your application.</a:t>
            </a:r>
          </a:p>
          <a:p>
            <a:endParaRPr lang="en-US" sz="1600">
              <a:solidFill>
                <a:schemeClr val="tx1">
                  <a:lumMod val="85000"/>
                  <a:lumOff val="15000"/>
                </a:schemeClr>
              </a:solidFill>
              <a:ea typeface="Calibri"/>
              <a:cs typeface="Calibri"/>
            </a:endParaRPr>
          </a:p>
          <a:p>
            <a:r>
              <a:rPr lang="en-US" sz="1600">
                <a:solidFill>
                  <a:schemeClr val="tx1">
                    <a:lumMod val="85000"/>
                    <a:lumOff val="15000"/>
                  </a:schemeClr>
                </a:solidFill>
                <a:ea typeface="Calibri"/>
                <a:cs typeface="Calibri"/>
              </a:rPr>
              <a:t>File Encryption - </a:t>
            </a:r>
            <a:r>
              <a:rPr lang="en-US" sz="1600">
                <a:solidFill>
                  <a:schemeClr val="tx1">
                    <a:lumMod val="85000"/>
                    <a:lumOff val="15000"/>
                  </a:schemeClr>
                </a:solidFill>
                <a:ea typeface="Calibri"/>
                <a:cs typeface="Calibri"/>
                <a:hlinkClick r:id="rId3">
                  <a:extLst>
                    <a:ext uri="{A12FA001-AC4F-418D-AE19-62706E023703}">
                      <ahyp:hlinkClr xmlns:ahyp="http://schemas.microsoft.com/office/drawing/2018/hyperlinkcolor" val="tx"/>
                    </a:ext>
                  </a:extLst>
                </a:hlinkClick>
              </a:rPr>
              <a:t>Transparent Data Encryption (TDE)</a:t>
            </a:r>
            <a:r>
              <a:rPr lang="en-US" sz="1600">
                <a:solidFill>
                  <a:schemeClr val="tx1">
                    <a:lumMod val="85000"/>
                    <a:lumOff val="15000"/>
                  </a:schemeClr>
                </a:solidFill>
                <a:ea typeface="Calibri"/>
                <a:cs typeface="Calibri"/>
              </a:rPr>
              <a:t> protects the data at the file level by providing encryption-at-rest to the database files. Transparent Data Encryption (TDE) ensures that database files, backup files, and </a:t>
            </a:r>
            <a:r>
              <a:rPr lang="en-US" sz="1600" err="1">
                <a:solidFill>
                  <a:schemeClr val="tx1">
                    <a:lumMod val="85000"/>
                    <a:lumOff val="15000"/>
                  </a:schemeClr>
                </a:solidFill>
                <a:ea typeface="Calibri"/>
                <a:cs typeface="Calibri"/>
              </a:rPr>
              <a:t>tempdb</a:t>
            </a:r>
            <a:r>
              <a:rPr lang="en-US" sz="1600">
                <a:solidFill>
                  <a:schemeClr val="tx1">
                    <a:lumMod val="85000"/>
                    <a:lumOff val="15000"/>
                  </a:schemeClr>
                </a:solidFill>
                <a:ea typeface="Calibri"/>
                <a:cs typeface="Calibri"/>
              </a:rPr>
              <a:t> files can't be attached and read without proper certificates decrypting database files. </a:t>
            </a:r>
          </a:p>
          <a:p>
            <a:r>
              <a:rPr lang="en-US" sz="1600">
                <a:solidFill>
                  <a:schemeClr val="tx1">
                    <a:lumMod val="85000"/>
                    <a:lumOff val="15000"/>
                  </a:schemeClr>
                </a:solidFill>
                <a:ea typeface="Calibri"/>
                <a:cs typeface="Calibri"/>
              </a:rPr>
              <a:t>Without Transparent Data Encryption (TDE), it's possible for an attacker to take the physical media (drives or backup tapes) and restore or attach the database to read the contents. </a:t>
            </a:r>
          </a:p>
          <a:p>
            <a:endParaRPr lang="en-US" sz="1600">
              <a:solidFill>
                <a:schemeClr val="tx1">
                  <a:lumMod val="85000"/>
                  <a:lumOff val="15000"/>
                </a:schemeClr>
              </a:solidFill>
              <a:ea typeface="Calibri"/>
              <a:cs typeface="Calibri"/>
            </a:endParaRPr>
          </a:p>
          <a:p>
            <a:r>
              <a:rPr lang="en-US" sz="1600">
                <a:solidFill>
                  <a:schemeClr val="tx1">
                    <a:lumMod val="85000"/>
                    <a:lumOff val="15000"/>
                  </a:schemeClr>
                </a:solidFill>
                <a:ea typeface="Calibri"/>
                <a:cs typeface="Calibri"/>
              </a:rPr>
              <a:t>Auditing &amp; Reporting - To </a:t>
            </a:r>
            <a:r>
              <a:rPr lang="en-US" sz="1600">
                <a:solidFill>
                  <a:schemeClr val="tx1">
                    <a:lumMod val="85000"/>
                    <a:lumOff val="15000"/>
                  </a:schemeClr>
                </a:solidFill>
                <a:ea typeface="Calibri"/>
                <a:cs typeface="Calibri"/>
                <a:hlinkClick r:id="rId4">
                  <a:extLst>
                    <a:ext uri="{A12FA001-AC4F-418D-AE19-62706E023703}">
                      <ahyp:hlinkClr xmlns:ahyp="http://schemas.microsoft.com/office/drawing/2018/hyperlinkcolor" val="tx"/>
                    </a:ext>
                  </a:extLst>
                </a:hlinkClick>
              </a:rPr>
              <a:t>audit SQL Server</a:t>
            </a:r>
            <a:r>
              <a:rPr lang="en-US" sz="1600">
                <a:solidFill>
                  <a:schemeClr val="tx1">
                    <a:lumMod val="85000"/>
                    <a:lumOff val="15000"/>
                  </a:schemeClr>
                </a:solidFill>
                <a:ea typeface="Calibri"/>
                <a:cs typeface="Calibri"/>
              </a:rPr>
              <a:t>, create an audit policy at either the server or database level. Server policies apply to all existing and newly created databases on the server. </a:t>
            </a:r>
          </a:p>
          <a:p>
            <a:endParaRPr lang="en-US" sz="1600">
              <a:solidFill>
                <a:schemeClr val="tx1">
                  <a:lumMod val="85000"/>
                  <a:lumOff val="15000"/>
                </a:schemeClr>
              </a:solidFill>
              <a:ea typeface="Calibri"/>
              <a:cs typeface="Calibri"/>
            </a:endParaRPr>
          </a:p>
          <a:p>
            <a:r>
              <a:rPr lang="en-US" sz="1600">
                <a:solidFill>
                  <a:schemeClr val="tx1">
                    <a:lumMod val="85000"/>
                    <a:lumOff val="15000"/>
                  </a:schemeClr>
                </a:solidFill>
                <a:ea typeface="Calibri"/>
                <a:cs typeface="Calibri"/>
              </a:rPr>
              <a:t>Audit </a:t>
            </a:r>
            <a:r>
              <a:rPr lang="en-US" sz="1600">
                <a:solidFill>
                  <a:schemeClr val="tx1">
                    <a:lumMod val="85000"/>
                    <a:lumOff val="15000"/>
                  </a:schemeClr>
                </a:solidFill>
                <a:ea typeface="Calibri"/>
                <a:cs typeface="Calibri"/>
                <a:hlinkClick r:id="rId4">
                  <a:extLst>
                    <a:ext uri="{A12FA001-AC4F-418D-AE19-62706E023703}">
                      <ahyp:hlinkClr xmlns:ahyp="http://schemas.microsoft.com/office/drawing/2018/hyperlinkcolor" val="tx"/>
                    </a:ext>
                  </a:extLst>
                </a:hlinkClick>
              </a:rPr>
              <a:t>tables and columns</a:t>
            </a:r>
            <a:r>
              <a:rPr lang="en-US" sz="1600">
                <a:solidFill>
                  <a:schemeClr val="tx1">
                    <a:lumMod val="85000"/>
                    <a:lumOff val="15000"/>
                  </a:schemeClr>
                </a:solidFill>
                <a:ea typeface="Calibri"/>
                <a:cs typeface="Calibri"/>
              </a:rPr>
              <a:t> with sensitive data that have security measures applied to them. If a table or column is important enough to need protection by a security capability, then it should be considered important enough to audit. It's especially important to audit and regularly review tables that contain sensitive information but where it's not possible to apply desired security measures due to some kind of application or architectural limitation</a:t>
            </a:r>
          </a:p>
        </p:txBody>
      </p:sp>
    </p:spTree>
    <p:extLst>
      <p:ext uri="{BB962C8B-B14F-4D97-AF65-F5344CB8AC3E}">
        <p14:creationId xmlns:p14="http://schemas.microsoft.com/office/powerpoint/2010/main" val="3283607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0A08-4B1A-B8B0-4A32-998EA0564033}"/>
              </a:ext>
            </a:extLst>
          </p:cNvPr>
          <p:cNvSpPr>
            <a:spLocks noGrp="1"/>
          </p:cNvSpPr>
          <p:nvPr>
            <p:ph type="title"/>
          </p:nvPr>
        </p:nvSpPr>
        <p:spPr/>
        <p:txBody>
          <a:bodyPr/>
          <a:lstStyle/>
          <a:p>
            <a:r>
              <a:rPr lang="en-US"/>
              <a:t>SQL Server Identity &amp; Access</a:t>
            </a:r>
            <a:endParaRPr lang="en-US">
              <a:ea typeface="Calibri Light"/>
              <a:cs typeface="Calibri Light"/>
            </a:endParaRPr>
          </a:p>
        </p:txBody>
      </p:sp>
      <p:sp>
        <p:nvSpPr>
          <p:cNvPr id="3" name="Content Placeholder 2">
            <a:extLst>
              <a:ext uri="{FF2B5EF4-FFF2-40B4-BE49-F238E27FC236}">
                <a16:creationId xmlns:a16="http://schemas.microsoft.com/office/drawing/2014/main" id="{E72EABCE-4314-EE41-14B7-A041134C7AF2}"/>
              </a:ext>
            </a:extLst>
          </p:cNvPr>
          <p:cNvSpPr>
            <a:spLocks noGrp="1"/>
          </p:cNvSpPr>
          <p:nvPr>
            <p:ph idx="1"/>
          </p:nvPr>
        </p:nvSpPr>
        <p:spPr>
          <a:xfrm>
            <a:off x="277484" y="1523701"/>
            <a:ext cx="11076316" cy="4653262"/>
          </a:xfrm>
        </p:spPr>
        <p:txBody>
          <a:bodyPr vert="horz" lIns="91440" tIns="45720" rIns="91440" bIns="45720" rtlCol="0" anchor="t">
            <a:normAutofit fontScale="92500" lnSpcReduction="20000"/>
          </a:bodyPr>
          <a:lstStyle/>
          <a:p>
            <a:r>
              <a:rPr lang="en-US" sz="1600">
                <a:ea typeface="Calibri"/>
                <a:cs typeface="Calibri"/>
              </a:rPr>
              <a:t>Two authentication modes – Windows Authentication, SQL Server &amp; Windows Authentication (Mixed mode). </a:t>
            </a:r>
          </a:p>
          <a:p>
            <a:endParaRPr lang="en-US" sz="1600">
              <a:ea typeface="Calibri"/>
              <a:cs typeface="Calibri"/>
            </a:endParaRPr>
          </a:p>
          <a:p>
            <a:r>
              <a:rPr lang="en-US" sz="1600">
                <a:ea typeface="Calibri"/>
                <a:cs typeface="Calibri"/>
              </a:rPr>
              <a:t>Use </a:t>
            </a:r>
            <a:r>
              <a:rPr lang="en-US" sz="1600">
                <a:ea typeface="Calibri"/>
                <a:cs typeface="Calibri"/>
                <a:hlinkClick r:id="rId2">
                  <a:extLst>
                    <a:ext uri="{A12FA001-AC4F-418D-AE19-62706E023703}">
                      <ahyp:hlinkClr xmlns:ahyp="http://schemas.microsoft.com/office/drawing/2018/hyperlinkcolor" val="tx"/>
                    </a:ext>
                  </a:extLst>
                </a:hlinkClick>
              </a:rPr>
              <a:t>least-privilege role-based security</a:t>
            </a:r>
            <a:r>
              <a:rPr lang="en-US" sz="1600">
                <a:ea typeface="Calibri"/>
                <a:cs typeface="Calibri"/>
              </a:rPr>
              <a:t> strategies to improve security management.</a:t>
            </a:r>
          </a:p>
          <a:p>
            <a:pPr lvl="1"/>
            <a:r>
              <a:rPr lang="en-US" sz="1600">
                <a:ea typeface="Calibri"/>
                <a:cs typeface="Calibri"/>
              </a:rPr>
              <a:t>It's standard to place Active Directory users in AD groups, AD groups should exist in SQL Server roles, and SQL Server roles should be granted the minimum permissions required by the application.</a:t>
            </a:r>
          </a:p>
          <a:p>
            <a:r>
              <a:rPr lang="en-US" sz="1600">
                <a:ea typeface="Calibri"/>
                <a:cs typeface="Calibri"/>
              </a:rPr>
              <a:t>Use </a:t>
            </a:r>
            <a:r>
              <a:rPr lang="en-US" sz="1600">
                <a:ea typeface="Calibri"/>
                <a:cs typeface="Calibri"/>
                <a:hlinkClick r:id="rId3">
                  <a:extLst>
                    <a:ext uri="{A12FA001-AC4F-418D-AE19-62706E023703}">
                      <ahyp:hlinkClr xmlns:ahyp="http://schemas.microsoft.com/office/drawing/2018/hyperlinkcolor" val="tx"/>
                    </a:ext>
                  </a:extLst>
                </a:hlinkClick>
              </a:rPr>
              <a:t>multifactor authentication</a:t>
            </a:r>
            <a:r>
              <a:rPr lang="en-US" sz="1600">
                <a:ea typeface="Calibri"/>
                <a:cs typeface="Calibri"/>
              </a:rPr>
              <a:t> for accounts that have machine-level access, including accounts that use RDP to log into the machine. This helps guard against credential theft or leaks, as single-factor password-based authentication is a weaker form of authentication with credentials at risk of being compromised or mistakenly given away.</a:t>
            </a:r>
          </a:p>
          <a:p>
            <a:r>
              <a:rPr lang="en-US" sz="1600">
                <a:ea typeface="Calibri"/>
                <a:cs typeface="Calibri"/>
              </a:rPr>
              <a:t>Require </a:t>
            </a:r>
            <a:r>
              <a:rPr lang="en-US" sz="1600">
                <a:ea typeface="Calibri"/>
                <a:cs typeface="Calibri"/>
                <a:hlinkClick r:id="rId4">
                  <a:extLst>
                    <a:ext uri="{A12FA001-AC4F-418D-AE19-62706E023703}">
                      <ahyp:hlinkClr xmlns:ahyp="http://schemas.microsoft.com/office/drawing/2018/hyperlinkcolor" val="tx"/>
                    </a:ext>
                  </a:extLst>
                </a:hlinkClick>
              </a:rPr>
              <a:t>strong and complex passwords</a:t>
            </a:r>
            <a:r>
              <a:rPr lang="en-US" sz="1600">
                <a:ea typeface="Calibri"/>
                <a:cs typeface="Calibri"/>
              </a:rPr>
              <a:t> that can't be easily </a:t>
            </a:r>
            <a:r>
              <a:rPr lang="en-US" sz="1600" err="1">
                <a:ea typeface="Calibri"/>
                <a:cs typeface="Calibri"/>
              </a:rPr>
              <a:t>guessed, and</a:t>
            </a:r>
            <a:r>
              <a:rPr lang="en-US" sz="1600">
                <a:ea typeface="Calibri"/>
                <a:cs typeface="Calibri"/>
              </a:rPr>
              <a:t> aren't used for any other accounts or purposes. Regularly update passwords and enforce Active Directory policies.</a:t>
            </a:r>
          </a:p>
          <a:p>
            <a:r>
              <a:rPr lang="en-US" sz="1600">
                <a:ea typeface="Calibri"/>
                <a:cs typeface="Calibri"/>
                <a:hlinkClick r:id="rId5">
                  <a:extLst>
                    <a:ext uri="{A12FA001-AC4F-418D-AE19-62706E023703}">
                      <ahyp:hlinkClr xmlns:ahyp="http://schemas.microsoft.com/office/drawing/2018/hyperlinkcolor" val="tx"/>
                    </a:ext>
                  </a:extLst>
                </a:hlinkClick>
              </a:rPr>
              <a:t>Group-Managed Service Accounts (</a:t>
            </a:r>
            <a:r>
              <a:rPr lang="en-US" sz="1600" err="1">
                <a:ea typeface="Calibri"/>
                <a:cs typeface="Calibri"/>
                <a:hlinkClick r:id="rId5">
                  <a:extLst>
                    <a:ext uri="{A12FA001-AC4F-418D-AE19-62706E023703}">
                      <ahyp:hlinkClr xmlns:ahyp="http://schemas.microsoft.com/office/drawing/2018/hyperlinkcolor" val="tx"/>
                    </a:ext>
                  </a:extLst>
                </a:hlinkClick>
              </a:rPr>
              <a:t>gMSA</a:t>
            </a:r>
            <a:r>
              <a:rPr lang="en-US" sz="1600">
                <a:ea typeface="Calibri"/>
                <a:cs typeface="Calibri"/>
                <a:hlinkClick r:id="rId5">
                  <a:extLst>
                    <a:ext uri="{A12FA001-AC4F-418D-AE19-62706E023703}">
                      <ahyp:hlinkClr xmlns:ahyp="http://schemas.microsoft.com/office/drawing/2018/hyperlinkcolor" val="tx"/>
                    </a:ext>
                  </a:extLst>
                </a:hlinkClick>
              </a:rPr>
              <a:t>)</a:t>
            </a:r>
            <a:r>
              <a:rPr lang="en-US" sz="1600">
                <a:ea typeface="Calibri"/>
                <a:cs typeface="Calibri"/>
              </a:rPr>
              <a:t> provide automatic password management, simplified service principal name (SPN) management and delegate the management to other administrators.</a:t>
            </a:r>
          </a:p>
          <a:p>
            <a:pPr lvl="1"/>
            <a:r>
              <a:rPr lang="en-US" sz="1600">
                <a:ea typeface="Calibri"/>
                <a:cs typeface="Calibri"/>
              </a:rPr>
              <a:t>With </a:t>
            </a:r>
            <a:r>
              <a:rPr lang="en-US" sz="1600" err="1">
                <a:ea typeface="Calibri"/>
                <a:cs typeface="Calibri"/>
              </a:rPr>
              <a:t>gMSA</a:t>
            </a:r>
            <a:r>
              <a:rPr lang="en-US" sz="1600">
                <a:ea typeface="Calibri"/>
                <a:cs typeface="Calibri"/>
              </a:rPr>
              <a:t>, the Windows operating system manages passwords for the account instead of relying on the administrator to manage the password.</a:t>
            </a:r>
          </a:p>
          <a:p>
            <a:pPr lvl="1"/>
            <a:r>
              <a:rPr lang="en-US" sz="1600" err="1">
                <a:ea typeface="Calibri"/>
                <a:cs typeface="Calibri"/>
              </a:rPr>
              <a:t>gMSA</a:t>
            </a:r>
            <a:r>
              <a:rPr lang="en-US" sz="1600">
                <a:ea typeface="Calibri"/>
                <a:cs typeface="Calibri"/>
              </a:rPr>
              <a:t> automatically updates the account passwords without restarting services.</a:t>
            </a:r>
          </a:p>
          <a:p>
            <a:pPr lvl="1"/>
            <a:r>
              <a:rPr lang="en-US" sz="1600" err="1">
                <a:ea typeface="Calibri"/>
                <a:cs typeface="Calibri"/>
              </a:rPr>
              <a:t>gMSA</a:t>
            </a:r>
            <a:r>
              <a:rPr lang="en-US" sz="1600">
                <a:ea typeface="Calibri"/>
                <a:cs typeface="Calibri"/>
              </a:rPr>
              <a:t> reduces the administrative surface-level and improves the separation of duties.</a:t>
            </a:r>
          </a:p>
          <a:p>
            <a:r>
              <a:rPr lang="en-US" sz="1600">
                <a:ea typeface="Calibri"/>
                <a:cs typeface="Calibri"/>
              </a:rPr>
              <a:t>Minimize the rights granted to the AD account of the DBA; Consider a separation of duties that limit access to the virtual machine, the ability to log into the operating system, the ability to modify error and auditing logs, and the ability to install applications and/or features.</a:t>
            </a:r>
          </a:p>
          <a:p>
            <a:r>
              <a:rPr lang="en-US" sz="1600">
                <a:ea typeface="Calibri"/>
                <a:cs typeface="Calibri"/>
              </a:rPr>
              <a:t>Consider removing DBA accounts from the sysadmin role and granting </a:t>
            </a:r>
            <a:r>
              <a:rPr lang="en-US" sz="1600">
                <a:ea typeface="Calibri"/>
                <a:cs typeface="Calibri"/>
                <a:hlinkClick r:id="rId6">
                  <a:extLst>
                    <a:ext uri="{A12FA001-AC4F-418D-AE19-62706E023703}">
                      <ahyp:hlinkClr xmlns:ahyp="http://schemas.microsoft.com/office/drawing/2018/hyperlinkcolor" val="tx"/>
                    </a:ext>
                  </a:extLst>
                </a:hlinkClick>
              </a:rPr>
              <a:t>CONTROL SERVER</a:t>
            </a:r>
            <a:r>
              <a:rPr lang="en-US" sz="1600">
                <a:ea typeface="Calibri"/>
                <a:cs typeface="Calibri"/>
              </a:rPr>
              <a:t> to DBA accounts rather than making them a member of the sysadmin role. The system admin role doesn't respect DENY while </a:t>
            </a:r>
            <a:r>
              <a:rPr lang="en-US" sz="1600">
                <a:ea typeface="Calibri"/>
                <a:cs typeface="Calibri"/>
                <a:hlinkClick r:id="rId6">
                  <a:extLst>
                    <a:ext uri="{A12FA001-AC4F-418D-AE19-62706E023703}">
                      <ahyp:hlinkClr xmlns:ahyp="http://schemas.microsoft.com/office/drawing/2018/hyperlinkcolor" val="tx"/>
                    </a:ext>
                  </a:extLst>
                </a:hlinkClick>
              </a:rPr>
              <a:t>CONTROL SERVER</a:t>
            </a:r>
            <a:r>
              <a:rPr lang="en-US" sz="1600">
                <a:ea typeface="Calibri"/>
                <a:cs typeface="Calibri"/>
              </a:rPr>
              <a:t> does.</a:t>
            </a:r>
          </a:p>
          <a:p>
            <a:endParaRPr lang="en-US" sz="1600">
              <a:ea typeface="Calibri"/>
              <a:cs typeface="Calibri"/>
            </a:endParaRPr>
          </a:p>
        </p:txBody>
      </p:sp>
    </p:spTree>
    <p:extLst>
      <p:ext uri="{BB962C8B-B14F-4D97-AF65-F5344CB8AC3E}">
        <p14:creationId xmlns:p14="http://schemas.microsoft.com/office/powerpoint/2010/main" val="45716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2EE7-505B-D75C-41C9-2170C90E3759}"/>
              </a:ext>
            </a:extLst>
          </p:cNvPr>
          <p:cNvSpPr>
            <a:spLocks noGrp="1"/>
          </p:cNvSpPr>
          <p:nvPr>
            <p:ph type="title"/>
          </p:nvPr>
        </p:nvSpPr>
        <p:spPr/>
        <p:txBody>
          <a:bodyPr>
            <a:normAutofit/>
          </a:bodyPr>
          <a:lstStyle/>
          <a:p>
            <a:r>
              <a:rPr lang="en-US" sz="2400"/>
              <a:t>Difference Between Clustered Columnstore &amp; </a:t>
            </a:r>
            <a:r>
              <a:rPr lang="en-US" sz="2400" err="1"/>
              <a:t>NonClustered</a:t>
            </a:r>
            <a:r>
              <a:rPr lang="en-US" sz="2400"/>
              <a:t> Columnstore Index</a:t>
            </a:r>
          </a:p>
        </p:txBody>
      </p:sp>
      <p:sp>
        <p:nvSpPr>
          <p:cNvPr id="3" name="Content Placeholder 2">
            <a:extLst>
              <a:ext uri="{FF2B5EF4-FFF2-40B4-BE49-F238E27FC236}">
                <a16:creationId xmlns:a16="http://schemas.microsoft.com/office/drawing/2014/main" id="{C106DC33-4756-BA4F-EDCD-D4E8AD68CF35}"/>
              </a:ext>
            </a:extLst>
          </p:cNvPr>
          <p:cNvSpPr>
            <a:spLocks noGrp="1"/>
          </p:cNvSpPr>
          <p:nvPr>
            <p:ph idx="1"/>
          </p:nvPr>
        </p:nvSpPr>
        <p:spPr>
          <a:xfrm>
            <a:off x="838200" y="1552456"/>
            <a:ext cx="10515600" cy="4624507"/>
          </a:xfrm>
        </p:spPr>
        <p:txBody>
          <a:bodyPr vert="horz" lIns="91440" tIns="45720" rIns="91440" bIns="45720" rtlCol="0" anchor="t">
            <a:normAutofit lnSpcReduction="10000"/>
          </a:bodyPr>
          <a:lstStyle/>
          <a:p>
            <a:r>
              <a:rPr lang="en-US" sz="1600"/>
              <a:t>Use a clustered </a:t>
            </a:r>
            <a:r>
              <a:rPr lang="en-US" sz="1600" err="1"/>
              <a:t>columnstore</a:t>
            </a:r>
            <a:r>
              <a:rPr lang="en-US" sz="1600"/>
              <a:t> index to store fact tables and large dimension tables for data warehousing workloads. This method improves query performance and data compression by up to 10 times. </a:t>
            </a:r>
            <a:endParaRPr lang="en-US" sz="1600">
              <a:ea typeface="Calibri"/>
              <a:cs typeface="Calibri"/>
            </a:endParaRPr>
          </a:p>
          <a:p>
            <a:pPr marL="0" indent="0">
              <a:buNone/>
            </a:pPr>
            <a:endParaRPr lang="en-US" sz="1600">
              <a:ea typeface="Calibri"/>
              <a:cs typeface="Calibri"/>
            </a:endParaRPr>
          </a:p>
          <a:p>
            <a:r>
              <a:rPr lang="en-US" sz="1600"/>
              <a:t>Columns store values from the same domain and commonly have similar values, which result in high compression rates. I/O bottlenecks in your system are minimized or eliminated, and memory footprint is reduced significantly.</a:t>
            </a:r>
          </a:p>
          <a:p>
            <a:pPr marL="0" indent="0">
              <a:buNone/>
            </a:pPr>
            <a:endParaRPr lang="en-US" sz="1600">
              <a:ea typeface="Calibri" panose="020F0502020204030204"/>
              <a:cs typeface="Calibri" panose="020F0502020204030204"/>
            </a:endParaRPr>
          </a:p>
          <a:p>
            <a:r>
              <a:rPr lang="en-US" sz="1600"/>
              <a:t>High compression rates improve query performance by using a smaller in-memory footprint. In turn, query performance can improve because SQL Server can perform more query and data operations in memory.</a:t>
            </a:r>
          </a:p>
          <a:p>
            <a:pPr marL="0" indent="0">
              <a:buNone/>
            </a:pPr>
            <a:endParaRPr lang="en-US" sz="1600">
              <a:ea typeface="Calibri"/>
              <a:cs typeface="Calibri"/>
            </a:endParaRPr>
          </a:p>
          <a:p>
            <a:r>
              <a:rPr lang="en-US" sz="1600"/>
              <a:t>Batch execution improves query performance, typically by two to four times, by processing multiple rows together.</a:t>
            </a:r>
          </a:p>
          <a:p>
            <a:endParaRPr lang="en-US" sz="1600"/>
          </a:p>
          <a:p>
            <a:pPr marL="0" indent="0">
              <a:buNone/>
            </a:pPr>
            <a:endParaRPr lang="en-US" sz="1600">
              <a:ea typeface="Calibri" panose="020F0502020204030204"/>
              <a:cs typeface="Calibri" panose="020F0502020204030204"/>
            </a:endParaRPr>
          </a:p>
          <a:p>
            <a:r>
              <a:rPr lang="en-US" sz="1600"/>
              <a:t>Queries often select only a few columns from a table, which reduces total I/O from the physical media.</a:t>
            </a:r>
          </a:p>
          <a:p>
            <a:endParaRPr lang="en-US" sz="1600"/>
          </a:p>
          <a:p>
            <a:r>
              <a:rPr lang="en-US" sz="1600"/>
              <a:t>Use a </a:t>
            </a:r>
            <a:r>
              <a:rPr lang="en-US" sz="1600" err="1"/>
              <a:t>nonclustered</a:t>
            </a:r>
            <a:r>
              <a:rPr lang="en-US" sz="1600"/>
              <a:t> </a:t>
            </a:r>
            <a:r>
              <a:rPr lang="en-US" sz="1600" err="1"/>
              <a:t>columnstore</a:t>
            </a:r>
            <a:r>
              <a:rPr lang="en-US" sz="1600"/>
              <a:t> index to perform analysis in real time on an OLTP workload</a:t>
            </a:r>
          </a:p>
          <a:p>
            <a:endParaRPr lang="en-US" sz="1600"/>
          </a:p>
        </p:txBody>
      </p:sp>
    </p:spTree>
    <p:extLst>
      <p:ext uri="{BB962C8B-B14F-4D97-AF65-F5344CB8AC3E}">
        <p14:creationId xmlns:p14="http://schemas.microsoft.com/office/powerpoint/2010/main" val="2863695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1137034" y="609597"/>
            <a:ext cx="10068156" cy="1330841"/>
          </a:xfrm>
        </p:spPr>
        <p:txBody>
          <a:bodyPr>
            <a:normAutofit/>
          </a:bodyPr>
          <a:lstStyle/>
          <a:p>
            <a:r>
              <a:rPr lang="en-US">
                <a:ea typeface="Calibri Light"/>
                <a:cs typeface="Calibri Light"/>
              </a:rPr>
              <a:t>SQL Server Authentication &amp; Authorization</a:t>
            </a:r>
            <a:endParaRPr lang="en-US"/>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1137034" y="2198362"/>
            <a:ext cx="9732249" cy="4018414"/>
          </a:xfrm>
        </p:spPr>
        <p:txBody>
          <a:bodyPr vert="horz" lIns="91440" tIns="45720" rIns="91440" bIns="45720" rtlCol="0" anchor="t">
            <a:normAutofit/>
          </a:bodyPr>
          <a:lstStyle/>
          <a:p>
            <a:pPr>
              <a:buFont typeface="Wingdings" panose="020B0604020202020204" pitchFamily="34" charset="0"/>
              <a:buChar char="q"/>
            </a:pPr>
            <a:r>
              <a:rPr lang="en-US" sz="1200" i="1">
                <a:solidFill>
                  <a:srgbClr val="161616"/>
                </a:solidFill>
                <a:highlight>
                  <a:srgbClr val="FFFFFF"/>
                </a:highlight>
                <a:latin typeface="Segoe UI"/>
                <a:ea typeface="Calibri"/>
                <a:cs typeface="Segoe UI"/>
              </a:rPr>
              <a:t>Principals</a:t>
            </a:r>
            <a:r>
              <a:rPr lang="en-US" sz="1200">
                <a:solidFill>
                  <a:srgbClr val="161616"/>
                </a:solidFill>
                <a:highlight>
                  <a:srgbClr val="FFFFFF"/>
                </a:highlight>
                <a:latin typeface="Segoe UI"/>
                <a:ea typeface="Calibri"/>
                <a:cs typeface="Segoe UI"/>
              </a:rPr>
              <a:t> are entities that can request SQL Server resources. Like other components of the SQL Server authorization model, principals can be arranged in a hierarchy. The scope of influence of a principal depends on the scope of the definition of the principal: Windows, server, database; and whether the principal is indivisible or a collection. A Windows Login is an example of an indivisible principal, and a Windows Group is an example of a principal that is a collection. Every principal has a security identifier (</a:t>
            </a:r>
            <a:r>
              <a:rPr lang="en-US" sz="1000">
                <a:solidFill>
                  <a:srgbClr val="161616"/>
                </a:solidFill>
                <a:highlight>
                  <a:srgbClr val="E6E6E6"/>
                </a:highlight>
                <a:latin typeface="Consolas"/>
                <a:ea typeface="Calibri"/>
                <a:cs typeface="Calibri"/>
              </a:rPr>
              <a:t>SID</a:t>
            </a:r>
            <a:r>
              <a:rPr lang="en-US" sz="1200">
                <a:solidFill>
                  <a:srgbClr val="161616"/>
                </a:solidFill>
                <a:highlight>
                  <a:srgbClr val="FFFFFF"/>
                </a:highlight>
                <a:latin typeface="Segoe UI"/>
                <a:ea typeface="Calibri"/>
                <a:cs typeface="Segoe UI"/>
              </a:rPr>
              <a:t>). This topic applies to all versions of SQL Server, but there are some restrictions on server-level principals in SQL Database or Azure Synapse Analytics.</a:t>
            </a:r>
            <a:endParaRPr lang="en-US" sz="2000">
              <a:ea typeface="Calibri"/>
              <a:cs typeface="Calibri"/>
            </a:endParaRPr>
          </a:p>
          <a:p>
            <a:pPr>
              <a:buFont typeface="Wingdings" panose="020B0604020202020204" pitchFamily="34" charset="0"/>
              <a:buChar char="q"/>
            </a:pPr>
            <a:endParaRPr lang="en-US" sz="1200">
              <a:solidFill>
                <a:srgbClr val="161616"/>
              </a:solidFill>
              <a:highlight>
                <a:srgbClr val="FFFFFF"/>
              </a:highlight>
              <a:latin typeface="Segoe UI"/>
              <a:ea typeface="Calibri"/>
              <a:cs typeface="Segoe UI"/>
            </a:endParaRPr>
          </a:p>
          <a:p>
            <a:pPr>
              <a:buFont typeface="Wingdings" panose="020B0604020202020204" pitchFamily="34" charset="0"/>
              <a:buChar char="q"/>
            </a:pPr>
            <a:r>
              <a:rPr lang="en-US" sz="1200">
                <a:solidFill>
                  <a:srgbClr val="161616"/>
                </a:solidFill>
                <a:highlight>
                  <a:srgbClr val="FFFFFF"/>
                </a:highlight>
                <a:latin typeface="Segoe UI"/>
                <a:ea typeface="Calibri"/>
                <a:cs typeface="Segoe UI"/>
              </a:rPr>
              <a:t>SQL Server Level Principals</a:t>
            </a:r>
          </a:p>
          <a:p>
            <a:pPr>
              <a:buFont typeface="Wingdings" panose="020B0604020202020204" pitchFamily="34" charset="0"/>
              <a:buChar char="q"/>
            </a:pPr>
            <a:r>
              <a:rPr lang="en-US" sz="1200">
                <a:solidFill>
                  <a:srgbClr val="161616"/>
                </a:solidFill>
                <a:highlight>
                  <a:srgbClr val="FFFFFF"/>
                </a:highlight>
                <a:latin typeface="Segoe UI"/>
                <a:ea typeface="Calibri"/>
                <a:cs typeface="Segoe UI"/>
              </a:rPr>
              <a:t>SQL Server authentication Login</a:t>
            </a:r>
          </a:p>
          <a:p>
            <a:pPr>
              <a:buFont typeface="Wingdings" panose="020B0604020202020204" pitchFamily="34" charset="0"/>
              <a:buChar char="q"/>
            </a:pPr>
            <a:r>
              <a:rPr lang="en-US" sz="1200">
                <a:solidFill>
                  <a:srgbClr val="161616"/>
                </a:solidFill>
                <a:highlight>
                  <a:srgbClr val="FFFFFF"/>
                </a:highlight>
                <a:latin typeface="Segoe UI"/>
                <a:ea typeface="Calibri"/>
                <a:cs typeface="Segoe UI"/>
              </a:rPr>
              <a:t>Windows authentication login for a Windows user</a:t>
            </a:r>
            <a:endParaRPr lang="en-US">
              <a:ea typeface="Calibri" panose="020F0502020204030204"/>
              <a:cs typeface="Calibri" panose="020F0502020204030204"/>
            </a:endParaRPr>
          </a:p>
          <a:p>
            <a:pPr>
              <a:buFont typeface="Wingdings" panose="020B0604020202020204" pitchFamily="34" charset="0"/>
              <a:buChar char="q"/>
            </a:pPr>
            <a:r>
              <a:rPr lang="en-US" sz="1200">
                <a:solidFill>
                  <a:srgbClr val="161616"/>
                </a:solidFill>
                <a:highlight>
                  <a:srgbClr val="FFFFFF"/>
                </a:highlight>
                <a:latin typeface="Segoe UI"/>
                <a:ea typeface="Calibri"/>
                <a:cs typeface="Segoe UI"/>
              </a:rPr>
              <a:t>Windows authentication login for a Windows group</a:t>
            </a:r>
            <a:endParaRPr lang="en-US">
              <a:ea typeface="Calibri" panose="020F0502020204030204"/>
              <a:cs typeface="Calibri" panose="020F0502020204030204"/>
            </a:endParaRPr>
          </a:p>
          <a:p>
            <a:pPr>
              <a:buFont typeface="Wingdings" panose="020B0604020202020204" pitchFamily="34" charset="0"/>
              <a:buChar char="q"/>
            </a:pPr>
            <a:r>
              <a:rPr lang="en-US" sz="1200">
                <a:solidFill>
                  <a:srgbClr val="161616"/>
                </a:solidFill>
                <a:highlight>
                  <a:srgbClr val="FFFFFF"/>
                </a:highlight>
                <a:latin typeface="Segoe UI"/>
                <a:ea typeface="Calibri"/>
                <a:cs typeface="Segoe UI"/>
              </a:rPr>
              <a:t>Microsoft Entra authentication login for a Microsoft Entra user</a:t>
            </a:r>
            <a:endParaRPr lang="en-US">
              <a:ea typeface="Calibri" panose="020F0502020204030204"/>
              <a:cs typeface="Calibri" panose="020F0502020204030204"/>
            </a:endParaRPr>
          </a:p>
          <a:p>
            <a:pPr>
              <a:buFont typeface="Wingdings" panose="020B0604020202020204" pitchFamily="34" charset="0"/>
              <a:buChar char="q"/>
            </a:pPr>
            <a:r>
              <a:rPr lang="en-US" sz="1200">
                <a:solidFill>
                  <a:srgbClr val="161616"/>
                </a:solidFill>
                <a:highlight>
                  <a:srgbClr val="FFFFFF"/>
                </a:highlight>
                <a:latin typeface="Segoe UI"/>
                <a:ea typeface="Calibri"/>
                <a:cs typeface="Segoe UI"/>
              </a:rPr>
              <a:t>Microsoft Entra authentication login for a Microsoft Entra group</a:t>
            </a:r>
            <a:endParaRPr lang="en-US">
              <a:ea typeface="Calibri" panose="020F0502020204030204"/>
              <a:cs typeface="Calibri" panose="020F0502020204030204"/>
            </a:endParaRPr>
          </a:p>
          <a:p>
            <a:pPr>
              <a:buFont typeface="Wingdings" panose="020B0604020202020204" pitchFamily="34" charset="0"/>
              <a:buChar char="q"/>
            </a:pPr>
            <a:r>
              <a:rPr lang="en-US" sz="1200">
                <a:solidFill>
                  <a:srgbClr val="161616"/>
                </a:solidFill>
                <a:highlight>
                  <a:srgbClr val="FFFFFF"/>
                </a:highlight>
                <a:latin typeface="Segoe UI"/>
                <a:ea typeface="Calibri"/>
                <a:cs typeface="Segoe UI"/>
              </a:rPr>
              <a:t>Microsoft Entra authentication login for a Microsoft Entra service principal</a:t>
            </a:r>
            <a:endParaRPr lang="en-US">
              <a:ea typeface="Calibri" panose="020F0502020204030204"/>
              <a:cs typeface="Calibri" panose="020F0502020204030204"/>
            </a:endParaRPr>
          </a:p>
          <a:p>
            <a:pPr>
              <a:buFont typeface="Wingdings" panose="020B0604020202020204" pitchFamily="34" charset="0"/>
              <a:buChar char="q"/>
            </a:pPr>
            <a:r>
              <a:rPr lang="en-US" sz="1200">
                <a:solidFill>
                  <a:srgbClr val="161616"/>
                </a:solidFill>
                <a:highlight>
                  <a:srgbClr val="FFFFFF"/>
                </a:highlight>
                <a:latin typeface="Segoe UI"/>
                <a:ea typeface="Calibri"/>
                <a:cs typeface="Segoe UI"/>
              </a:rPr>
              <a:t>Server Role</a:t>
            </a:r>
            <a:endParaRPr lang="en-US">
              <a:ea typeface="Calibri" panose="020F0502020204030204"/>
              <a:cs typeface="Calibri" panose="020F0502020204030204"/>
            </a:endParaRPr>
          </a:p>
          <a:p>
            <a:pPr>
              <a:buFont typeface="Wingdings" panose="020B0604020202020204" pitchFamily="34" charset="0"/>
              <a:buChar char="q"/>
            </a:pPr>
            <a:endParaRPr lang="en-US" sz="1200">
              <a:solidFill>
                <a:srgbClr val="161616"/>
              </a:solidFill>
              <a:highlight>
                <a:srgbClr val="FFFFFF"/>
              </a:highlight>
              <a:latin typeface="Segoe UI"/>
              <a:ea typeface="Calibri"/>
              <a:cs typeface="Segoe UI"/>
            </a:endParaRPr>
          </a:p>
          <a:p>
            <a:pPr>
              <a:buFont typeface="Wingdings" panose="020B0604020202020204" pitchFamily="34" charset="0"/>
              <a:buChar char="q"/>
            </a:pPr>
            <a:endParaRPr lang="en-US" sz="2000">
              <a:ea typeface="Calibri"/>
              <a:cs typeface="Calibri"/>
            </a:endParaRPr>
          </a:p>
          <a:p>
            <a:pPr>
              <a:buFont typeface="Wingdings" panose="020B0604020202020204" pitchFamily="34" charset="0"/>
              <a:buChar char="q"/>
            </a:pPr>
            <a:endParaRPr lang="en-US" sz="2000">
              <a:ea typeface="Calibri"/>
              <a:cs typeface="Calibri"/>
            </a:endParaRPr>
          </a:p>
        </p:txBody>
      </p:sp>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80454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a:ea typeface="Calibri Light"/>
                <a:cs typeface="Calibri Light"/>
              </a:rPr>
              <a:t>SQL Server Logins</a:t>
            </a:r>
            <a:endParaRPr lang="en-US"/>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2194102"/>
            <a:ext cx="9868056" cy="3908586"/>
          </a:xfrm>
        </p:spPr>
        <p:txBody>
          <a:bodyPr vert="horz" lIns="91440" tIns="45720" rIns="91440" bIns="45720" rtlCol="0" anchor="t">
            <a:normAutofit/>
          </a:bodyPr>
          <a:lstStyle/>
          <a:p>
            <a:r>
              <a:rPr lang="en-US" sz="1200">
                <a:solidFill>
                  <a:srgbClr val="161616"/>
                </a:solidFill>
                <a:highlight>
                  <a:srgbClr val="FFFFFF"/>
                </a:highlight>
                <a:latin typeface="Segoe UI"/>
                <a:ea typeface="Calibri"/>
                <a:cs typeface="Segoe UI"/>
              </a:rPr>
              <a:t>Database-level principals</a:t>
            </a:r>
          </a:p>
          <a:p>
            <a:r>
              <a:rPr lang="en-US" sz="1200">
                <a:solidFill>
                  <a:srgbClr val="161616"/>
                </a:solidFill>
                <a:highlight>
                  <a:srgbClr val="FFFFFF"/>
                </a:highlight>
                <a:latin typeface="Segoe UI"/>
                <a:ea typeface="Calibri"/>
                <a:cs typeface="Segoe UI"/>
              </a:rPr>
              <a:t>Database User (For more information on types of database users, see </a:t>
            </a:r>
            <a:r>
              <a:rPr lang="en-US" sz="1200">
                <a:solidFill>
                  <a:srgbClr val="161616"/>
                </a:solidFill>
                <a:highlight>
                  <a:srgbClr val="FFFFFF"/>
                </a:highlight>
                <a:latin typeface="Segoe UI"/>
                <a:ea typeface="Calibri"/>
                <a:cs typeface="Segoe UI"/>
                <a:hlinkClick r:id="rId2">
                  <a:extLst>
                    <a:ext uri="{A12FA001-AC4F-418D-AE19-62706E023703}">
                      <ahyp:hlinkClr xmlns:ahyp="http://schemas.microsoft.com/office/drawing/2018/hyperlinkcolor" val="tx"/>
                    </a:ext>
                  </a:extLst>
                </a:hlinkClick>
              </a:rPr>
              <a:t>CREATE USER (Transact-SQL)</a:t>
            </a:r>
            <a:r>
              <a:rPr lang="en-US" sz="1200">
                <a:solidFill>
                  <a:srgbClr val="161616"/>
                </a:solidFill>
                <a:highlight>
                  <a:srgbClr val="FFFFFF"/>
                </a:highlight>
                <a:latin typeface="Segoe UI"/>
                <a:ea typeface="Calibri"/>
                <a:cs typeface="Segoe UI"/>
              </a:rPr>
              <a:t>.)</a:t>
            </a:r>
          </a:p>
          <a:p>
            <a:r>
              <a:rPr lang="en-US" sz="1200">
                <a:solidFill>
                  <a:srgbClr val="161616"/>
                </a:solidFill>
                <a:highlight>
                  <a:srgbClr val="FFFFFF"/>
                </a:highlight>
                <a:latin typeface="Segoe UI"/>
                <a:ea typeface="Calibri"/>
                <a:cs typeface="Segoe UI"/>
              </a:rPr>
              <a:t>Database Role</a:t>
            </a:r>
          </a:p>
          <a:p>
            <a:r>
              <a:rPr lang="en-US" sz="1200">
                <a:solidFill>
                  <a:srgbClr val="161616"/>
                </a:solidFill>
                <a:highlight>
                  <a:srgbClr val="FFFFFF"/>
                </a:highlight>
                <a:latin typeface="Segoe UI"/>
                <a:ea typeface="Calibri"/>
                <a:cs typeface="Segoe UI"/>
              </a:rPr>
              <a:t>Application Role</a:t>
            </a:r>
          </a:p>
          <a:p>
            <a:r>
              <a:rPr lang="en-US" sz="1200" err="1">
                <a:solidFill>
                  <a:srgbClr val="161616"/>
                </a:solidFill>
                <a:highlight>
                  <a:srgbClr val="FFFFFF"/>
                </a:highlight>
                <a:latin typeface="Segoe UI"/>
                <a:ea typeface="Calibri"/>
                <a:cs typeface="Segoe UI"/>
              </a:rPr>
              <a:t>sa</a:t>
            </a:r>
            <a:r>
              <a:rPr lang="en-US" sz="1200">
                <a:solidFill>
                  <a:srgbClr val="161616"/>
                </a:solidFill>
                <a:highlight>
                  <a:srgbClr val="FFFFFF"/>
                </a:highlight>
                <a:latin typeface="Segoe UI"/>
                <a:ea typeface="Calibri"/>
                <a:cs typeface="Segoe UI"/>
              </a:rPr>
              <a:t> login</a:t>
            </a:r>
          </a:p>
          <a:p>
            <a:r>
              <a:rPr lang="en-US" sz="1200" err="1">
                <a:solidFill>
                  <a:srgbClr val="161616"/>
                </a:solidFill>
                <a:highlight>
                  <a:srgbClr val="FFFFFF"/>
                </a:highlight>
                <a:latin typeface="Segoe UI"/>
                <a:ea typeface="Calibri"/>
                <a:cs typeface="Segoe UI"/>
              </a:rPr>
              <a:t>dbo</a:t>
            </a:r>
            <a:r>
              <a:rPr lang="en-US" sz="1200">
                <a:solidFill>
                  <a:srgbClr val="161616"/>
                </a:solidFill>
                <a:highlight>
                  <a:srgbClr val="FFFFFF"/>
                </a:highlight>
                <a:latin typeface="Segoe UI"/>
                <a:ea typeface="Calibri"/>
                <a:cs typeface="Segoe UI"/>
              </a:rPr>
              <a:t> user &amp; </a:t>
            </a:r>
            <a:r>
              <a:rPr lang="en-US" sz="1200" err="1">
                <a:solidFill>
                  <a:srgbClr val="161616"/>
                </a:solidFill>
                <a:highlight>
                  <a:srgbClr val="FFFFFF"/>
                </a:highlight>
                <a:latin typeface="Segoe UI"/>
                <a:ea typeface="Calibri"/>
                <a:cs typeface="Segoe UI"/>
              </a:rPr>
              <a:t>dbo</a:t>
            </a:r>
            <a:r>
              <a:rPr lang="en-US" sz="1200">
                <a:solidFill>
                  <a:srgbClr val="161616"/>
                </a:solidFill>
                <a:highlight>
                  <a:srgbClr val="FFFFFF"/>
                </a:highlight>
                <a:latin typeface="Segoe UI"/>
                <a:ea typeface="Calibri"/>
                <a:cs typeface="Segoe UI"/>
              </a:rPr>
              <a:t> schema</a:t>
            </a:r>
          </a:p>
          <a:p>
            <a:r>
              <a:rPr lang="en-US" sz="1200">
                <a:solidFill>
                  <a:srgbClr val="161616"/>
                </a:solidFill>
                <a:highlight>
                  <a:srgbClr val="FFFFFF"/>
                </a:highlight>
                <a:latin typeface="Segoe UI"/>
                <a:ea typeface="Calibri"/>
                <a:cs typeface="Segoe UI"/>
              </a:rPr>
              <a:t>Public server roles &amp; database roles</a:t>
            </a:r>
          </a:p>
          <a:p>
            <a:r>
              <a:rPr lang="en-US" sz="1200" err="1">
                <a:solidFill>
                  <a:srgbClr val="161616"/>
                </a:solidFill>
                <a:highlight>
                  <a:srgbClr val="FFFFFF"/>
                </a:highlight>
                <a:latin typeface="Segoe UI"/>
                <a:ea typeface="Calibri"/>
                <a:cs typeface="Segoe UI"/>
              </a:rPr>
              <a:t>Information_schema</a:t>
            </a:r>
            <a:r>
              <a:rPr lang="en-US" sz="1200">
                <a:solidFill>
                  <a:srgbClr val="161616"/>
                </a:solidFill>
                <a:highlight>
                  <a:srgbClr val="FFFFFF"/>
                </a:highlight>
                <a:latin typeface="Segoe UI"/>
                <a:ea typeface="Calibri"/>
                <a:cs typeface="Segoe UI"/>
              </a:rPr>
              <a:t> &amp; sys users &amp; schema</a:t>
            </a:r>
          </a:p>
          <a:p>
            <a:r>
              <a:rPr lang="en-US" sz="1200">
                <a:solidFill>
                  <a:srgbClr val="161616"/>
                </a:solidFill>
                <a:highlight>
                  <a:srgbClr val="FFFFFF"/>
                </a:highlight>
                <a:latin typeface="Segoe UI"/>
                <a:ea typeface="Calibri"/>
                <a:cs typeface="Segoe UI"/>
              </a:rPr>
              <a:t>Certificate based logins </a:t>
            </a:r>
          </a:p>
          <a:p>
            <a:endParaRPr lang="en-US" sz="2000">
              <a:ea typeface="Calibri"/>
              <a:cs typeface="Calibri"/>
            </a:endParaRPr>
          </a:p>
          <a:p>
            <a:endParaRPr lang="en-US" sz="2000">
              <a:ea typeface="Calibri"/>
              <a:cs typeface="Calibri"/>
            </a:endParaRPr>
          </a:p>
        </p:txBody>
      </p:sp>
    </p:spTree>
    <p:extLst>
      <p:ext uri="{BB962C8B-B14F-4D97-AF65-F5344CB8AC3E}">
        <p14:creationId xmlns:p14="http://schemas.microsoft.com/office/powerpoint/2010/main" val="2562354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err="1">
                <a:ea typeface="Calibri Light"/>
                <a:cs typeface="Calibri Light"/>
              </a:rPr>
              <a:t>Certifica</a:t>
            </a:r>
            <a:r>
              <a:rPr lang="en-US">
                <a:ea typeface="Calibri Light"/>
                <a:cs typeface="Calibri Light"/>
              </a:rPr>
              <a:t>te based SQL Server Logins</a:t>
            </a:r>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4" y="1421985"/>
            <a:ext cx="7029304" cy="4794791"/>
          </a:xfrm>
        </p:spPr>
        <p:txBody>
          <a:bodyPr vert="horz" lIns="91440" tIns="45720" rIns="91440" bIns="45720" rtlCol="0" anchor="t">
            <a:noAutofit/>
          </a:bodyPr>
          <a:lstStyle/>
          <a:p>
            <a:r>
              <a:rPr lang="en-US" sz="1200">
                <a:solidFill>
                  <a:srgbClr val="161616"/>
                </a:solidFill>
                <a:highlight>
                  <a:srgbClr val="FFFFFF"/>
                </a:highlight>
                <a:latin typeface="Segoe UI"/>
                <a:ea typeface="Calibri"/>
                <a:cs typeface="Segoe UI"/>
              </a:rPr>
              <a:t>Server principals with names enclosed by double hash marks (##) are for internal system use only. The following principals are created from certificates when SQL Server is </a:t>
            </a:r>
            <a:r>
              <a:rPr lang="en-US" sz="1200" err="1">
                <a:solidFill>
                  <a:srgbClr val="161616"/>
                </a:solidFill>
                <a:highlight>
                  <a:srgbClr val="FFFFFF"/>
                </a:highlight>
                <a:latin typeface="Segoe UI"/>
                <a:ea typeface="Calibri"/>
                <a:cs typeface="Segoe UI"/>
              </a:rPr>
              <a:t>installed, and</a:t>
            </a:r>
            <a:r>
              <a:rPr lang="en-US" sz="1200">
                <a:solidFill>
                  <a:srgbClr val="161616"/>
                </a:solidFill>
                <a:highlight>
                  <a:srgbClr val="FFFFFF"/>
                </a:highlight>
                <a:latin typeface="Segoe UI"/>
                <a:ea typeface="Calibri"/>
                <a:cs typeface="Segoe UI"/>
              </a:rPr>
              <a:t> shouldn't be deleted.</a:t>
            </a:r>
            <a:endParaRPr lang="en-US" sz="800">
              <a:highlight>
                <a:srgbClr val="1F1F1F"/>
              </a:highlight>
              <a:latin typeface="Segoe UI"/>
              <a:ea typeface="Calibri"/>
              <a:cs typeface="Segoe UI"/>
            </a:endParaRPr>
          </a:p>
          <a:p>
            <a:r>
              <a:rPr lang="en-US" sz="1200">
                <a:solidFill>
                  <a:srgbClr val="161616"/>
                </a:solidFill>
                <a:highlight>
                  <a:srgbClr val="FFFFFF"/>
                </a:highlight>
                <a:latin typeface="Segoe UI"/>
                <a:ea typeface="Calibri"/>
                <a:cs typeface="Segoe UI"/>
              </a:rPr>
              <a:t>##MS_SQLResourceSigningCertificate##</a:t>
            </a:r>
            <a:endParaRPr lang="en-US"/>
          </a:p>
          <a:p>
            <a:r>
              <a:rPr lang="en-US" sz="1200">
                <a:solidFill>
                  <a:srgbClr val="161616"/>
                </a:solidFill>
                <a:highlight>
                  <a:srgbClr val="FFFFFF"/>
                </a:highlight>
                <a:latin typeface="Segoe UI"/>
                <a:ea typeface="Calibri"/>
                <a:cs typeface="Segoe UI"/>
              </a:rPr>
              <a:t>##MS_SQLReplicationSigningCertificate##</a:t>
            </a:r>
            <a:endParaRPr lang="en-US"/>
          </a:p>
          <a:p>
            <a:r>
              <a:rPr lang="en-US" sz="1200">
                <a:solidFill>
                  <a:srgbClr val="161616"/>
                </a:solidFill>
                <a:highlight>
                  <a:srgbClr val="FFFFFF"/>
                </a:highlight>
                <a:latin typeface="Segoe UI"/>
                <a:ea typeface="Calibri"/>
                <a:cs typeface="Segoe UI"/>
              </a:rPr>
              <a:t>##MS_SQLAuthenticatorCertificate##</a:t>
            </a:r>
            <a:endParaRPr lang="en-US"/>
          </a:p>
          <a:p>
            <a:r>
              <a:rPr lang="en-US" sz="1200">
                <a:solidFill>
                  <a:srgbClr val="161616"/>
                </a:solidFill>
                <a:highlight>
                  <a:srgbClr val="FFFFFF"/>
                </a:highlight>
                <a:latin typeface="Segoe UI"/>
                <a:ea typeface="Calibri"/>
                <a:cs typeface="Segoe UI"/>
              </a:rPr>
              <a:t>##MS_AgentSigningCertificate##</a:t>
            </a:r>
            <a:endParaRPr lang="en-US"/>
          </a:p>
          <a:p>
            <a:r>
              <a:rPr lang="en-US" sz="1200">
                <a:solidFill>
                  <a:srgbClr val="161616"/>
                </a:solidFill>
                <a:highlight>
                  <a:srgbClr val="FFFFFF"/>
                </a:highlight>
                <a:latin typeface="Segoe UI"/>
                <a:ea typeface="Calibri"/>
                <a:cs typeface="Segoe UI"/>
              </a:rPr>
              <a:t>##MS_PolicyEventProcessingLogin##</a:t>
            </a:r>
            <a:endParaRPr lang="en-US"/>
          </a:p>
          <a:p>
            <a:r>
              <a:rPr lang="en-US" sz="1200">
                <a:solidFill>
                  <a:srgbClr val="161616"/>
                </a:solidFill>
                <a:highlight>
                  <a:srgbClr val="FFFFFF"/>
                </a:highlight>
                <a:latin typeface="Segoe UI"/>
                <a:ea typeface="Calibri"/>
                <a:cs typeface="Segoe UI"/>
              </a:rPr>
              <a:t>##MS_PolicySigningCertificate##</a:t>
            </a:r>
            <a:endParaRPr lang="en-US"/>
          </a:p>
          <a:p>
            <a:r>
              <a:rPr lang="en-US" sz="1200">
                <a:solidFill>
                  <a:srgbClr val="161616"/>
                </a:solidFill>
                <a:highlight>
                  <a:srgbClr val="FFFFFF"/>
                </a:highlight>
                <a:latin typeface="Segoe UI"/>
                <a:ea typeface="Calibri"/>
                <a:cs typeface="Segoe UI"/>
              </a:rPr>
              <a:t>##MS_PolicyTsqlExecutionLogin##</a:t>
            </a:r>
            <a:endParaRPr lang="en-US"/>
          </a:p>
          <a:p>
            <a:r>
              <a:rPr lang="en-US" sz="1200">
                <a:solidFill>
                  <a:srgbClr val="161616"/>
                </a:solidFill>
                <a:highlight>
                  <a:srgbClr val="FFFFFF"/>
                </a:highlight>
                <a:latin typeface="Segoe UI"/>
                <a:ea typeface="Calibri"/>
                <a:cs typeface="Segoe UI"/>
              </a:rPr>
              <a:t>These principal accounts don't have passwords that can be changed by administrators as they're based on certificates issued to Microsoft.</a:t>
            </a:r>
            <a:endParaRPr lang="en-US"/>
          </a:p>
          <a:p>
            <a:r>
              <a:rPr lang="en-US" b="1"/>
              <a:t>The </a:t>
            </a:r>
            <a:r>
              <a:rPr lang="en-US" sz="2200" b="1">
                <a:highlight>
                  <a:srgbClr val="E6E6E6"/>
                </a:highlight>
                <a:latin typeface="Consolas"/>
                <a:ea typeface="Calibri"/>
                <a:cs typeface="Segoe UI"/>
              </a:rPr>
              <a:t>guest</a:t>
            </a:r>
            <a:r>
              <a:rPr lang="en-US" b="1"/>
              <a:t> User</a:t>
            </a:r>
            <a:endParaRPr lang="en-US"/>
          </a:p>
          <a:p>
            <a:r>
              <a:rPr lang="en-US" sz="1200">
                <a:solidFill>
                  <a:srgbClr val="161616"/>
                </a:solidFill>
                <a:highlight>
                  <a:srgbClr val="FFFFFF"/>
                </a:highlight>
                <a:latin typeface="Segoe UI"/>
                <a:ea typeface="Calibri"/>
                <a:cs typeface="Segoe UI"/>
              </a:rPr>
              <a:t>Each database includes a </a:t>
            </a:r>
            <a:r>
              <a:rPr lang="en-US" sz="1000">
                <a:solidFill>
                  <a:srgbClr val="161616"/>
                </a:solidFill>
                <a:highlight>
                  <a:srgbClr val="E6E6E6"/>
                </a:highlight>
                <a:latin typeface="Consolas"/>
                <a:ea typeface="Calibri"/>
                <a:cs typeface="Segoe UI"/>
              </a:rPr>
              <a:t>guest</a:t>
            </a:r>
            <a:r>
              <a:rPr lang="en-US" sz="1200">
                <a:solidFill>
                  <a:srgbClr val="161616"/>
                </a:solidFill>
                <a:highlight>
                  <a:srgbClr val="FFFFFF"/>
                </a:highlight>
                <a:latin typeface="Segoe UI"/>
                <a:ea typeface="Calibri"/>
                <a:cs typeface="Segoe UI"/>
              </a:rPr>
              <a:t>. Permissions granted to the </a:t>
            </a:r>
            <a:r>
              <a:rPr lang="en-US" sz="1000">
                <a:solidFill>
                  <a:srgbClr val="161616"/>
                </a:solidFill>
                <a:highlight>
                  <a:srgbClr val="E6E6E6"/>
                </a:highlight>
                <a:latin typeface="Consolas"/>
                <a:ea typeface="Calibri"/>
                <a:cs typeface="Segoe UI"/>
              </a:rPr>
              <a:t>guest</a:t>
            </a:r>
            <a:r>
              <a:rPr lang="en-US" sz="1200">
                <a:solidFill>
                  <a:srgbClr val="161616"/>
                </a:solidFill>
                <a:highlight>
                  <a:srgbClr val="FFFFFF"/>
                </a:highlight>
                <a:latin typeface="Segoe UI"/>
                <a:ea typeface="Calibri"/>
                <a:cs typeface="Segoe UI"/>
              </a:rPr>
              <a:t> user are inherited by users who have access to the database, but who don't have a user account in the database. The </a:t>
            </a:r>
            <a:r>
              <a:rPr lang="en-US" sz="1000">
                <a:solidFill>
                  <a:srgbClr val="161616"/>
                </a:solidFill>
                <a:highlight>
                  <a:srgbClr val="E6E6E6"/>
                </a:highlight>
                <a:latin typeface="Consolas"/>
                <a:ea typeface="Calibri"/>
                <a:cs typeface="Segoe UI"/>
              </a:rPr>
              <a:t>guest</a:t>
            </a:r>
            <a:r>
              <a:rPr lang="en-US" sz="1200">
                <a:solidFill>
                  <a:srgbClr val="161616"/>
                </a:solidFill>
                <a:highlight>
                  <a:srgbClr val="FFFFFF"/>
                </a:highlight>
                <a:latin typeface="Segoe UI"/>
                <a:ea typeface="Calibri"/>
                <a:cs typeface="Segoe UI"/>
              </a:rPr>
              <a:t> user can't be dropped, but it can be disabled by revoking its </a:t>
            </a:r>
            <a:r>
              <a:rPr lang="en-US" sz="1000">
                <a:solidFill>
                  <a:srgbClr val="161616"/>
                </a:solidFill>
                <a:highlight>
                  <a:srgbClr val="E6E6E6"/>
                </a:highlight>
                <a:latin typeface="Consolas"/>
                <a:ea typeface="Calibri"/>
                <a:cs typeface="Segoe UI"/>
              </a:rPr>
              <a:t>CONNECT</a:t>
            </a:r>
            <a:r>
              <a:rPr lang="en-US" sz="1200">
                <a:solidFill>
                  <a:srgbClr val="161616"/>
                </a:solidFill>
                <a:highlight>
                  <a:srgbClr val="FFFFFF"/>
                </a:highlight>
                <a:latin typeface="Segoe UI"/>
                <a:ea typeface="Calibri"/>
                <a:cs typeface="Segoe UI"/>
              </a:rPr>
              <a:t> permission. The </a:t>
            </a:r>
            <a:r>
              <a:rPr lang="en-US" sz="1000">
                <a:solidFill>
                  <a:srgbClr val="161616"/>
                </a:solidFill>
                <a:highlight>
                  <a:srgbClr val="E6E6E6"/>
                </a:highlight>
                <a:latin typeface="Consolas"/>
                <a:ea typeface="Calibri"/>
                <a:cs typeface="Segoe UI"/>
              </a:rPr>
              <a:t>CONNECT</a:t>
            </a:r>
            <a:r>
              <a:rPr lang="en-US" sz="1200">
                <a:solidFill>
                  <a:srgbClr val="161616"/>
                </a:solidFill>
                <a:highlight>
                  <a:srgbClr val="FFFFFF"/>
                </a:highlight>
                <a:latin typeface="Segoe UI"/>
                <a:ea typeface="Calibri"/>
                <a:cs typeface="Segoe UI"/>
              </a:rPr>
              <a:t> permission can be revoked by executing </a:t>
            </a:r>
            <a:r>
              <a:rPr lang="en-US" sz="1000">
                <a:solidFill>
                  <a:srgbClr val="161616"/>
                </a:solidFill>
                <a:highlight>
                  <a:srgbClr val="E6E6E6"/>
                </a:highlight>
                <a:latin typeface="Consolas"/>
                <a:ea typeface="Calibri"/>
                <a:cs typeface="Segoe UI"/>
              </a:rPr>
              <a:t>REVOKE CONNECT FROM GUEST;</a:t>
            </a:r>
            <a:r>
              <a:rPr lang="en-US" sz="1200">
                <a:solidFill>
                  <a:srgbClr val="161616"/>
                </a:solidFill>
                <a:highlight>
                  <a:srgbClr val="FFFFFF"/>
                </a:highlight>
                <a:latin typeface="Segoe UI"/>
                <a:ea typeface="Calibri"/>
                <a:cs typeface="Segoe UI"/>
              </a:rPr>
              <a:t> within any database other than </a:t>
            </a:r>
            <a:r>
              <a:rPr lang="en-US" sz="1000">
                <a:solidFill>
                  <a:srgbClr val="161616"/>
                </a:solidFill>
                <a:highlight>
                  <a:srgbClr val="E6E6E6"/>
                </a:highlight>
                <a:latin typeface="Consolas"/>
                <a:ea typeface="Calibri"/>
                <a:cs typeface="Segoe UI"/>
              </a:rPr>
              <a:t>master</a:t>
            </a:r>
            <a:r>
              <a:rPr lang="en-US" sz="1200">
                <a:solidFill>
                  <a:srgbClr val="161616"/>
                </a:solidFill>
                <a:highlight>
                  <a:srgbClr val="FFFFFF"/>
                </a:highlight>
                <a:latin typeface="Segoe UI"/>
                <a:ea typeface="Calibri"/>
                <a:cs typeface="Segoe UI"/>
              </a:rPr>
              <a:t> or </a:t>
            </a:r>
            <a:r>
              <a:rPr lang="en-US" sz="1000" err="1">
                <a:solidFill>
                  <a:srgbClr val="161616"/>
                </a:solidFill>
                <a:highlight>
                  <a:srgbClr val="E6E6E6"/>
                </a:highlight>
                <a:latin typeface="Consolas"/>
                <a:ea typeface="Calibri"/>
                <a:cs typeface="Segoe UI"/>
              </a:rPr>
              <a:t>tempdb</a:t>
            </a:r>
            <a:r>
              <a:rPr lang="en-US" sz="1200">
                <a:solidFill>
                  <a:srgbClr val="161616"/>
                </a:solidFill>
                <a:highlight>
                  <a:srgbClr val="FFFFFF"/>
                </a:highlight>
                <a:latin typeface="Segoe UI"/>
                <a:ea typeface="Calibri"/>
                <a:cs typeface="Segoe UI"/>
              </a:rPr>
              <a:t>.</a:t>
            </a:r>
            <a:endParaRPr lang="en-US"/>
          </a:p>
          <a:p>
            <a:endParaRPr lang="en-US" sz="800">
              <a:highlight>
                <a:srgbClr val="1F1F1F"/>
              </a:highlight>
              <a:latin typeface="Segoe UI"/>
              <a:ea typeface="Calibri"/>
              <a:cs typeface="Segoe UI"/>
            </a:endParaRPr>
          </a:p>
          <a:p>
            <a:endParaRPr lang="en-US" sz="800">
              <a:highlight>
                <a:srgbClr val="1F1F1F"/>
              </a:highlight>
              <a:latin typeface="Segoe UI"/>
              <a:ea typeface="Calibri"/>
              <a:cs typeface="Segoe UI"/>
            </a:endParaRPr>
          </a:p>
          <a:p>
            <a:endParaRPr lang="en-US" sz="800">
              <a:highlight>
                <a:srgbClr val="1F1F1F"/>
              </a:highlight>
              <a:latin typeface="Segoe UI"/>
              <a:ea typeface="Calibri"/>
              <a:cs typeface="Segoe UI"/>
            </a:endParaRPr>
          </a:p>
          <a:p>
            <a:endParaRPr lang="en-US" sz="800">
              <a:highlight>
                <a:srgbClr val="1F1F1F"/>
              </a:highlight>
              <a:latin typeface="Segoe UI"/>
              <a:ea typeface="Calibri"/>
              <a:cs typeface="Segoe UI"/>
            </a:endParaRPr>
          </a:p>
        </p:txBody>
      </p:sp>
      <p:pic>
        <p:nvPicPr>
          <p:cNvPr id="28" name="Graphic 27" descr="Database">
            <a:extLst>
              <a:ext uri="{FF2B5EF4-FFF2-40B4-BE49-F238E27FC236}">
                <a16:creationId xmlns:a16="http://schemas.microsoft.com/office/drawing/2014/main" id="{CCBC0961-34A1-EB79-116D-76876B8319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235662" y="2184914"/>
            <a:ext cx="3755915" cy="3755915"/>
          </a:xfrm>
          <a:prstGeom prst="rect">
            <a:avLst/>
          </a:prstGeom>
        </p:spPr>
      </p:pic>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06416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08283-2637-E98D-FC33-16868C2F082B}"/>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SQL Server Database Backup</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5594B27-688E-7B71-AB9C-75CB2D6B7FF1}"/>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sz="1600" b="1">
                <a:solidFill>
                  <a:srgbClr val="0A0A0A"/>
                </a:solidFill>
                <a:highlight>
                  <a:srgbClr val="FFFFFF"/>
                </a:highlight>
                <a:ea typeface="+mn-lt"/>
                <a:cs typeface="+mn-lt"/>
              </a:rPr>
              <a:t>Full </a:t>
            </a:r>
            <a:r>
              <a:rPr lang="en-US" sz="1600" b="1" err="1">
                <a:solidFill>
                  <a:srgbClr val="0A0A0A"/>
                </a:solidFill>
                <a:highlight>
                  <a:srgbClr val="FFFFFF"/>
                </a:highlight>
                <a:ea typeface="+mn-lt"/>
                <a:cs typeface="+mn-lt"/>
              </a:rPr>
              <a:t>Backup</a:t>
            </a:r>
            <a:r>
              <a:rPr lang="en-US" sz="1600" b="1">
                <a:solidFill>
                  <a:srgbClr val="0A0A0A"/>
                </a:solidFill>
                <a:highlight>
                  <a:srgbClr val="FFFFFF"/>
                </a:highlight>
                <a:ea typeface="+mn-lt"/>
                <a:cs typeface="+mn-lt"/>
              </a:rPr>
              <a:t>:</a:t>
            </a:r>
            <a:r>
              <a:rPr lang="en-US" sz="1600">
                <a:solidFill>
                  <a:srgbClr val="0A0A0A"/>
                </a:solidFill>
                <a:highlight>
                  <a:srgbClr val="FFFFFF"/>
                </a:highlight>
                <a:ea typeface="+mn-lt"/>
                <a:cs typeface="+mn-lt"/>
              </a:rPr>
              <a:t> Captures the entire database and enough transaction log to recover it to a consistent state. It is the foundation for all other backup types.</a:t>
            </a:r>
            <a:endParaRPr lang="en-US" sz="1600">
              <a:ea typeface="Calibri"/>
              <a:cs typeface="Calibri"/>
            </a:endParaRPr>
          </a:p>
          <a:p>
            <a:r>
              <a:rPr lang="en-US" sz="1600" b="1">
                <a:solidFill>
                  <a:srgbClr val="0A0A0A"/>
                </a:solidFill>
                <a:highlight>
                  <a:srgbClr val="FFFFFF"/>
                </a:highlight>
                <a:ea typeface="+mn-lt"/>
                <a:cs typeface="+mn-lt"/>
              </a:rPr>
              <a:t>Differential Backup:</a:t>
            </a:r>
            <a:r>
              <a:rPr lang="en-US" sz="1600">
                <a:solidFill>
                  <a:srgbClr val="0A0A0A"/>
                </a:solidFill>
                <a:highlight>
                  <a:srgbClr val="FFFFFF"/>
                </a:highlight>
                <a:ea typeface="+mn-lt"/>
                <a:cs typeface="+mn-lt"/>
              </a:rPr>
              <a:t> Captures only the data that has changed since the last full backup. These are cumulative, meaning you only need the most recent differential and its base full backup.</a:t>
            </a:r>
            <a:endParaRPr lang="en-US" sz="1600">
              <a:ea typeface="Calibri"/>
              <a:cs typeface="Calibri"/>
            </a:endParaRPr>
          </a:p>
          <a:p>
            <a:r>
              <a:rPr lang="en-US" sz="1600" b="1">
                <a:solidFill>
                  <a:srgbClr val="0A0A0A"/>
                </a:solidFill>
                <a:highlight>
                  <a:srgbClr val="FFFFFF"/>
                </a:highlight>
                <a:ea typeface="+mn-lt"/>
                <a:cs typeface="+mn-lt"/>
              </a:rPr>
              <a:t>Transaction Log Backup:</a:t>
            </a:r>
            <a:r>
              <a:rPr lang="en-US" sz="1600">
                <a:solidFill>
                  <a:srgbClr val="0A0A0A"/>
                </a:solidFill>
                <a:highlight>
                  <a:srgbClr val="FFFFFF"/>
                </a:highlight>
                <a:ea typeface="+mn-lt"/>
                <a:cs typeface="+mn-lt"/>
              </a:rPr>
              <a:t> Records all transaction log entries since the last log backup. This allows for </a:t>
            </a:r>
            <a:r>
              <a:rPr lang="en-US" sz="1600" b="1">
                <a:solidFill>
                  <a:srgbClr val="0A0A0A"/>
                </a:solidFill>
                <a:highlight>
                  <a:srgbClr val="FFFFFF"/>
                </a:highlight>
                <a:ea typeface="+mn-lt"/>
                <a:cs typeface="+mn-lt"/>
              </a:rPr>
              <a:t>point-in-time recovery</a:t>
            </a:r>
            <a:r>
              <a:rPr lang="en-US" sz="1600">
                <a:solidFill>
                  <a:srgbClr val="0A0A0A"/>
                </a:solidFill>
                <a:highlight>
                  <a:srgbClr val="FFFFFF"/>
                </a:highlight>
                <a:ea typeface="+mn-lt"/>
                <a:cs typeface="+mn-lt"/>
              </a:rPr>
              <a:t> to a specific minute or second, but it is only available in </a:t>
            </a:r>
            <a:r>
              <a:rPr lang="en-US" sz="1600" b="1">
                <a:solidFill>
                  <a:srgbClr val="0A0A0A"/>
                </a:solidFill>
                <a:highlight>
                  <a:srgbClr val="FFFFFF"/>
                </a:highlight>
                <a:ea typeface="+mn-lt"/>
                <a:cs typeface="+mn-lt"/>
              </a:rPr>
              <a:t>Full</a:t>
            </a:r>
            <a:r>
              <a:rPr lang="en-US" sz="1600">
                <a:solidFill>
                  <a:srgbClr val="0A0A0A"/>
                </a:solidFill>
                <a:highlight>
                  <a:srgbClr val="FFFFFF"/>
                </a:highlight>
                <a:ea typeface="+mn-lt"/>
                <a:cs typeface="+mn-lt"/>
              </a:rPr>
              <a:t> or </a:t>
            </a:r>
            <a:r>
              <a:rPr lang="en-US" sz="1600" b="1">
                <a:solidFill>
                  <a:srgbClr val="0A0A0A"/>
                </a:solidFill>
                <a:highlight>
                  <a:srgbClr val="FFFFFF"/>
                </a:highlight>
                <a:ea typeface="+mn-lt"/>
                <a:cs typeface="+mn-lt"/>
              </a:rPr>
              <a:t>Bulk-Logged</a:t>
            </a:r>
            <a:r>
              <a:rPr lang="en-US" sz="1600">
                <a:solidFill>
                  <a:srgbClr val="0A0A0A"/>
                </a:solidFill>
                <a:highlight>
                  <a:srgbClr val="FFFFFF"/>
                </a:highlight>
                <a:ea typeface="+mn-lt"/>
                <a:cs typeface="+mn-lt"/>
              </a:rPr>
              <a:t> recovery models</a:t>
            </a:r>
            <a:endParaRPr lang="en-US" sz="1600">
              <a:ea typeface="Calibri"/>
              <a:cs typeface="Calibri"/>
            </a:endParaRPr>
          </a:p>
          <a:p>
            <a:endParaRPr lang="en-US" sz="1600">
              <a:ea typeface="Calibri"/>
              <a:cs typeface="Calibri"/>
            </a:endParaRPr>
          </a:p>
        </p:txBody>
      </p:sp>
    </p:spTree>
    <p:extLst>
      <p:ext uri="{BB962C8B-B14F-4D97-AF65-F5344CB8AC3E}">
        <p14:creationId xmlns:p14="http://schemas.microsoft.com/office/powerpoint/2010/main" val="1003564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a:xfrm>
            <a:off x="838200" y="365125"/>
            <a:ext cx="10515600" cy="549275"/>
          </a:xfrm>
        </p:spPr>
        <p:txBody>
          <a:bodyPr>
            <a:normAutofit fontScale="90000"/>
          </a:bodyPr>
          <a:lstStyle/>
          <a:p>
            <a:r>
              <a:rPr lang="en-US" dirty="0">
                <a:ea typeface="Calibri Light"/>
                <a:cs typeface="Calibri Light"/>
              </a:rPr>
              <a:t>SQL Server Backup Strategies</a:t>
            </a:r>
            <a:endParaRPr lang="en-US" dirty="0"/>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a:xfrm>
            <a:off x="651295" y="1250531"/>
            <a:ext cx="10889411" cy="4351338"/>
          </a:xfrm>
        </p:spPr>
        <p:txBody>
          <a:bodyPr vert="horz" lIns="91440" tIns="45720" rIns="91440" bIns="45720" rtlCol="0" anchor="t">
            <a:noAutofit/>
          </a:bodyPr>
          <a:lstStyle/>
          <a:p>
            <a:r>
              <a:rPr lang="en-US" sz="1600" dirty="0">
                <a:solidFill>
                  <a:srgbClr val="161616"/>
                </a:solidFill>
                <a:highlight>
                  <a:srgbClr val="FFFFFF"/>
                </a:highlight>
                <a:latin typeface="Segoe UI"/>
                <a:ea typeface="Calibri"/>
                <a:cs typeface="Segoe UI"/>
              </a:rPr>
              <a:t>Backing up and restoring data must be customized to a particular environment and must work with the available resources. Therefore, a reliable use of backup and restore for recovery requires a backup and restore strategy. A well-designed backup and restore strategy balances the business requirements for maximum data availability and minimum data loss while considering the cost of maintaining and storing backups.</a:t>
            </a:r>
            <a:endParaRPr lang="en-US" sz="1600" dirty="0">
              <a:ea typeface="Calibri"/>
              <a:cs typeface="Calibri"/>
            </a:endParaRPr>
          </a:p>
          <a:p>
            <a:r>
              <a:rPr lang="en-US" sz="1600" dirty="0">
                <a:solidFill>
                  <a:srgbClr val="161616"/>
                </a:solidFill>
                <a:highlight>
                  <a:srgbClr val="FFFFFF"/>
                </a:highlight>
                <a:latin typeface="Segoe UI"/>
                <a:ea typeface="Calibri"/>
                <a:cs typeface="Segoe UI"/>
              </a:rPr>
              <a:t>A backup and restore strategy contains a backup portion and a restore portion. The backup part of the strategy defines the type and frequency of backups, the nature and speed of the hardware they require, how backups are to be tested, and where and how backup media is to be stored (including security considerations). The restore part of the strategy defines who's responsible for performing restores, how restores should be performed to meet your goals for database availability and minimizing data loss, and how restores are tested.</a:t>
            </a:r>
            <a:endParaRPr lang="en-US" sz="1600" dirty="0">
              <a:solidFill>
                <a:srgbClr val="161616"/>
              </a:solidFill>
              <a:highlight>
                <a:srgbClr val="FFFFFF"/>
              </a:highlight>
              <a:latin typeface="Segoe UI"/>
              <a:cs typeface="Segoe UI"/>
            </a:endParaRPr>
          </a:p>
          <a:p>
            <a:r>
              <a:rPr lang="en-US" sz="1600" dirty="0">
                <a:solidFill>
                  <a:srgbClr val="161616"/>
                </a:solidFill>
                <a:highlight>
                  <a:srgbClr val="FFFFFF"/>
                </a:highlight>
                <a:latin typeface="Segoe UI"/>
                <a:ea typeface="Calibri"/>
                <a:cs typeface="Segoe UI"/>
              </a:rPr>
              <a:t>Designing an effective backup and restore strategy requires careful planning, implementation, and testing. Testing is required: you don't have a backup strategy until you've successfully restored backups in all the combinations that are included in your restore strategy and have tested the restored database for physical consistency. You must consider a variety of factors. These include:</a:t>
            </a:r>
            <a:endParaRPr lang="en-US" sz="1600" dirty="0">
              <a:solidFill>
                <a:srgbClr val="161616"/>
              </a:solidFill>
              <a:highlight>
                <a:srgbClr val="FFFFFF"/>
              </a:highlight>
              <a:latin typeface="Segoe UI"/>
              <a:cs typeface="Segoe UI"/>
            </a:endParaRPr>
          </a:p>
          <a:p>
            <a:r>
              <a:rPr lang="en-US" sz="1600" dirty="0">
                <a:solidFill>
                  <a:srgbClr val="161616"/>
                </a:solidFill>
                <a:highlight>
                  <a:srgbClr val="FFFFFF"/>
                </a:highlight>
                <a:latin typeface="Segoe UI"/>
                <a:ea typeface="Calibri"/>
                <a:cs typeface="Segoe UI"/>
              </a:rPr>
              <a:t>Your organization's goals regarding your production databases, especially the requirements for availability and protecting data from loss or damage.</a:t>
            </a:r>
            <a:endParaRPr lang="en-US" sz="1600" dirty="0">
              <a:ea typeface="Calibri"/>
              <a:cs typeface="Calibri"/>
            </a:endParaRPr>
          </a:p>
          <a:p>
            <a:r>
              <a:rPr lang="en-US" sz="1600" dirty="0">
                <a:solidFill>
                  <a:srgbClr val="161616"/>
                </a:solidFill>
                <a:highlight>
                  <a:srgbClr val="FFFFFF"/>
                </a:highlight>
                <a:latin typeface="Segoe UI"/>
                <a:ea typeface="Calibri"/>
                <a:cs typeface="Segoe UI"/>
              </a:rPr>
              <a:t>The nature of each database: its size, its usage patterns, the nature of its content, the requirements for its data, and so on.</a:t>
            </a:r>
            <a:endParaRPr lang="en-US" sz="1600" dirty="0">
              <a:ea typeface="Calibri"/>
              <a:cs typeface="Calibri"/>
            </a:endParaRPr>
          </a:p>
          <a:p>
            <a:r>
              <a:rPr lang="en-US" sz="1600" dirty="0">
                <a:solidFill>
                  <a:srgbClr val="161616"/>
                </a:solidFill>
                <a:highlight>
                  <a:srgbClr val="FFFFFF"/>
                </a:highlight>
                <a:latin typeface="Segoe UI"/>
                <a:ea typeface="Calibri"/>
                <a:cs typeface="Segoe UI"/>
              </a:rPr>
              <a:t>Constraints on resources, such as hardware, personnel, space for storing backup media, the physical security of the stored media, and so on.</a:t>
            </a:r>
            <a:endParaRPr lang="en-US" sz="1600" dirty="0">
              <a:ea typeface="Calibri"/>
              <a:cs typeface="Calibri"/>
            </a:endParaRPr>
          </a:p>
          <a:p>
            <a:endParaRPr lang="en-US" sz="1600" dirty="0">
              <a:ea typeface="Calibri"/>
              <a:cs typeface="Calibri"/>
            </a:endParaRPr>
          </a:p>
          <a:p>
            <a:endParaRPr lang="en-US" sz="1700" dirty="0">
              <a:ea typeface="Calibri"/>
              <a:cs typeface="Calibri"/>
            </a:endParaRPr>
          </a:p>
        </p:txBody>
      </p:sp>
    </p:spTree>
    <p:extLst>
      <p:ext uri="{BB962C8B-B14F-4D97-AF65-F5344CB8AC3E}">
        <p14:creationId xmlns:p14="http://schemas.microsoft.com/office/powerpoint/2010/main" val="1049164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E149CDF-5DAC-4860-A285-9492CF209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4" name="Rectangle 23">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637624EE-9B08-3BE5-6ED9-A2B801A8A42D}"/>
              </a:ext>
            </a:extLst>
          </p:cNvPr>
          <p:cNvSpPr>
            <a:spLocks noGrp="1"/>
          </p:cNvSpPr>
          <p:nvPr>
            <p:ph type="title"/>
          </p:nvPr>
        </p:nvSpPr>
        <p:spPr>
          <a:xfrm>
            <a:off x="1191966" y="905011"/>
            <a:ext cx="3629555" cy="1889135"/>
          </a:xfrm>
        </p:spPr>
        <p:txBody>
          <a:bodyPr anchor="b">
            <a:normAutofit/>
          </a:bodyPr>
          <a:lstStyle/>
          <a:p>
            <a:r>
              <a:rPr lang="en-US" sz="4100">
                <a:ea typeface="Calibri Light"/>
                <a:cs typeface="Calibri Light"/>
              </a:rPr>
              <a:t>SQL Server Backup</a:t>
            </a:r>
            <a:endParaRPr lang="en-US" sz="4100"/>
          </a:p>
        </p:txBody>
      </p:sp>
      <p:sp>
        <p:nvSpPr>
          <p:cNvPr id="8" name="Content Placeholder 7">
            <a:extLst>
              <a:ext uri="{FF2B5EF4-FFF2-40B4-BE49-F238E27FC236}">
                <a16:creationId xmlns:a16="http://schemas.microsoft.com/office/drawing/2014/main" id="{DFC8BE56-E005-37D9-6692-ED3EACE0DD89}"/>
              </a:ext>
            </a:extLst>
          </p:cNvPr>
          <p:cNvSpPr>
            <a:spLocks noGrp="1"/>
          </p:cNvSpPr>
          <p:nvPr>
            <p:ph idx="1"/>
          </p:nvPr>
        </p:nvSpPr>
        <p:spPr>
          <a:xfrm>
            <a:off x="1191966" y="2965592"/>
            <a:ext cx="3629555" cy="2987397"/>
          </a:xfrm>
        </p:spPr>
        <p:txBody>
          <a:bodyPr vert="horz" lIns="91440" tIns="45720" rIns="91440" bIns="45720" rtlCol="0" anchor="t">
            <a:normAutofit/>
          </a:bodyPr>
          <a:lstStyle/>
          <a:p>
            <a:r>
              <a:rPr lang="en-US" sz="1200" b="1">
                <a:solidFill>
                  <a:srgbClr val="0A0A0A"/>
                </a:solidFill>
                <a:highlight>
                  <a:srgbClr val="FFFFFF"/>
                </a:highlight>
                <a:ea typeface="+mn-lt"/>
                <a:cs typeface="+mn-lt"/>
              </a:rPr>
              <a:t>Recovery Models:</a:t>
            </a:r>
            <a:r>
              <a:rPr lang="en-US" sz="1200">
                <a:solidFill>
                  <a:srgbClr val="0A0A0A"/>
                </a:solidFill>
                <a:highlight>
                  <a:srgbClr val="FFFFFF"/>
                </a:highlight>
                <a:ea typeface="+mn-lt"/>
                <a:cs typeface="+mn-lt"/>
              </a:rPr>
              <a:t> Choose </a:t>
            </a:r>
            <a:r>
              <a:rPr lang="en-US" sz="1200" b="1">
                <a:solidFill>
                  <a:srgbClr val="0A0A0A"/>
                </a:solidFill>
                <a:highlight>
                  <a:srgbClr val="FFFFFF"/>
                </a:highlight>
                <a:ea typeface="+mn-lt"/>
                <a:cs typeface="+mn-lt"/>
              </a:rPr>
              <a:t>Simple</a:t>
            </a:r>
            <a:r>
              <a:rPr lang="en-US" sz="1200">
                <a:solidFill>
                  <a:srgbClr val="0A0A0A"/>
                </a:solidFill>
                <a:highlight>
                  <a:srgbClr val="FFFFFF"/>
                </a:highlight>
                <a:ea typeface="+mn-lt"/>
                <a:cs typeface="+mn-lt"/>
              </a:rPr>
              <a:t> to avoid large log files (no point-in-time recovery) or </a:t>
            </a:r>
            <a:r>
              <a:rPr lang="en-US" sz="1200" b="1">
                <a:solidFill>
                  <a:srgbClr val="0A0A0A"/>
                </a:solidFill>
                <a:highlight>
                  <a:srgbClr val="FFFFFF"/>
                </a:highlight>
                <a:ea typeface="+mn-lt"/>
                <a:cs typeface="+mn-lt"/>
              </a:rPr>
              <a:t>Full</a:t>
            </a:r>
            <a:r>
              <a:rPr lang="en-US" sz="1200">
                <a:solidFill>
                  <a:srgbClr val="0A0A0A"/>
                </a:solidFill>
                <a:highlight>
                  <a:srgbClr val="FFFFFF"/>
                </a:highlight>
                <a:ea typeface="+mn-lt"/>
                <a:cs typeface="+mn-lt"/>
              </a:rPr>
              <a:t> for maximum protection (requires regular log backups).</a:t>
            </a:r>
            <a:endParaRPr lang="en-US"/>
          </a:p>
          <a:p>
            <a:r>
              <a:rPr lang="en-US" sz="1200" b="1">
                <a:solidFill>
                  <a:srgbClr val="0A0A0A"/>
                </a:solidFill>
                <a:highlight>
                  <a:srgbClr val="FFFFFF"/>
                </a:highlight>
                <a:ea typeface="+mn-lt"/>
                <a:cs typeface="+mn-lt"/>
              </a:rPr>
              <a:t>Version Compatibility:</a:t>
            </a:r>
            <a:r>
              <a:rPr lang="en-US" sz="1200">
                <a:solidFill>
                  <a:srgbClr val="0A0A0A"/>
                </a:solidFill>
                <a:highlight>
                  <a:srgbClr val="FFFFFF"/>
                </a:highlight>
                <a:ea typeface="+mn-lt"/>
                <a:cs typeface="+mn-lt"/>
              </a:rPr>
              <a:t> You can restore a backup from an older version (e.g., SQL Server 2008) to a newer version (e.g., 2022), but you </a:t>
            </a:r>
            <a:r>
              <a:rPr lang="en-US" sz="1200" b="1">
                <a:solidFill>
                  <a:srgbClr val="0A0A0A"/>
                </a:solidFill>
                <a:highlight>
                  <a:srgbClr val="FFFFFF"/>
                </a:highlight>
                <a:ea typeface="+mn-lt"/>
                <a:cs typeface="+mn-lt"/>
              </a:rPr>
              <a:t>cannot</a:t>
            </a:r>
            <a:r>
              <a:rPr lang="en-US" sz="1200">
                <a:solidFill>
                  <a:srgbClr val="0A0A0A"/>
                </a:solidFill>
                <a:highlight>
                  <a:srgbClr val="FFFFFF"/>
                </a:highlight>
                <a:ea typeface="+mn-lt"/>
                <a:cs typeface="+mn-lt"/>
              </a:rPr>
              <a:t> restore a backup from a newer version to an older one.</a:t>
            </a:r>
            <a:endParaRPr lang="en-US"/>
          </a:p>
          <a:p>
            <a:r>
              <a:rPr lang="en-US" sz="1200" b="1">
                <a:solidFill>
                  <a:srgbClr val="0A0A0A"/>
                </a:solidFill>
                <a:highlight>
                  <a:srgbClr val="FFFFFF"/>
                </a:highlight>
                <a:ea typeface="+mn-lt"/>
                <a:cs typeface="+mn-lt"/>
              </a:rPr>
              <a:t>Storage Location:</a:t>
            </a:r>
            <a:r>
              <a:rPr lang="en-US" sz="1200">
                <a:solidFill>
                  <a:srgbClr val="0A0A0A"/>
                </a:solidFill>
                <a:highlight>
                  <a:srgbClr val="FFFFFF"/>
                </a:highlight>
                <a:ea typeface="+mn-lt"/>
                <a:cs typeface="+mn-lt"/>
              </a:rPr>
              <a:t> Always store backup files on a </a:t>
            </a:r>
            <a:r>
              <a:rPr lang="en-US" sz="1200" b="1">
                <a:solidFill>
                  <a:srgbClr val="0A0A0A"/>
                </a:solidFill>
                <a:highlight>
                  <a:srgbClr val="FFFFFF"/>
                </a:highlight>
                <a:ea typeface="+mn-lt"/>
                <a:cs typeface="+mn-lt"/>
              </a:rPr>
              <a:t>separate physical drive</a:t>
            </a:r>
            <a:r>
              <a:rPr lang="en-US" sz="1200">
                <a:solidFill>
                  <a:srgbClr val="0A0A0A"/>
                </a:solidFill>
                <a:highlight>
                  <a:srgbClr val="FFFFFF"/>
                </a:highlight>
                <a:ea typeface="+mn-lt"/>
                <a:cs typeface="+mn-lt"/>
              </a:rPr>
              <a:t> from the database files to ensure recovery if the primary disk fails.</a:t>
            </a:r>
            <a:endParaRPr lang="en-US"/>
          </a:p>
          <a:p>
            <a:r>
              <a:rPr lang="en-US" sz="1200" b="1">
                <a:solidFill>
                  <a:srgbClr val="0A0A0A"/>
                </a:solidFill>
                <a:highlight>
                  <a:srgbClr val="FFFFFF"/>
                </a:highlight>
                <a:ea typeface="+mn-lt"/>
                <a:cs typeface="+mn-lt"/>
              </a:rPr>
              <a:t>System Databases:</a:t>
            </a:r>
            <a:r>
              <a:rPr lang="en-US" sz="1200">
                <a:solidFill>
                  <a:srgbClr val="0A0A0A"/>
                </a:solidFill>
                <a:highlight>
                  <a:srgbClr val="FFFFFF"/>
                </a:highlight>
                <a:ea typeface="+mn-lt"/>
                <a:cs typeface="+mn-lt"/>
              </a:rPr>
              <a:t> The </a:t>
            </a:r>
            <a:r>
              <a:rPr lang="en-US" sz="1100">
                <a:solidFill>
                  <a:srgbClr val="0A0A0A"/>
                </a:solidFill>
                <a:highlight>
                  <a:srgbClr val="F3F5F6"/>
                </a:highlight>
                <a:latin typeface="Consolas"/>
                <a:ea typeface="+mn-lt"/>
                <a:cs typeface="+mn-lt"/>
              </a:rPr>
              <a:t>master</a:t>
            </a:r>
            <a:r>
              <a:rPr lang="en-US" sz="1200">
                <a:solidFill>
                  <a:srgbClr val="0A0A0A"/>
                </a:solidFill>
                <a:highlight>
                  <a:srgbClr val="FFFFFF"/>
                </a:highlight>
                <a:ea typeface="+mn-lt"/>
                <a:cs typeface="+mn-lt"/>
              </a:rPr>
              <a:t>, </a:t>
            </a:r>
            <a:r>
              <a:rPr lang="en-US" sz="1100">
                <a:solidFill>
                  <a:srgbClr val="0A0A0A"/>
                </a:solidFill>
                <a:highlight>
                  <a:srgbClr val="F3F5F6"/>
                </a:highlight>
                <a:latin typeface="Consolas"/>
                <a:ea typeface="+mn-lt"/>
                <a:cs typeface="+mn-lt"/>
              </a:rPr>
              <a:t>model</a:t>
            </a:r>
            <a:r>
              <a:rPr lang="en-US" sz="1200">
                <a:solidFill>
                  <a:srgbClr val="0A0A0A"/>
                </a:solidFill>
                <a:highlight>
                  <a:srgbClr val="FFFFFF"/>
                </a:highlight>
                <a:ea typeface="+mn-lt"/>
                <a:cs typeface="+mn-lt"/>
              </a:rPr>
              <a:t>, and </a:t>
            </a:r>
            <a:r>
              <a:rPr lang="en-US" sz="1100" err="1">
                <a:solidFill>
                  <a:srgbClr val="0A0A0A"/>
                </a:solidFill>
                <a:highlight>
                  <a:srgbClr val="F3F5F6"/>
                </a:highlight>
                <a:latin typeface="Consolas"/>
                <a:ea typeface="+mn-lt"/>
                <a:cs typeface="+mn-lt"/>
              </a:rPr>
              <a:t>msdb</a:t>
            </a:r>
            <a:r>
              <a:rPr lang="en-US" sz="1200">
                <a:solidFill>
                  <a:srgbClr val="0A0A0A"/>
                </a:solidFill>
                <a:highlight>
                  <a:srgbClr val="FFFFFF"/>
                </a:highlight>
                <a:ea typeface="+mn-lt"/>
                <a:cs typeface="+mn-lt"/>
              </a:rPr>
              <a:t> databases require special care and generally cannot be restored to different major versions.</a:t>
            </a:r>
            <a:endParaRPr lang="en-US" sz="1200">
              <a:solidFill>
                <a:srgbClr val="0A0A0A"/>
              </a:solidFill>
              <a:ea typeface="+mn-lt"/>
              <a:cs typeface="+mn-lt"/>
            </a:endParaRPr>
          </a:p>
          <a:p>
            <a:endParaRPr lang="en-US" sz="1800">
              <a:highlight>
                <a:srgbClr val="FFFFFF"/>
              </a:highlight>
              <a:ea typeface="+mn-lt"/>
              <a:cs typeface="+mn-lt"/>
            </a:endParaRPr>
          </a:p>
          <a:p>
            <a:endParaRPr lang="en-US" sz="1800">
              <a:highlight>
                <a:srgbClr val="FFFFFF"/>
              </a:highlight>
              <a:ea typeface="Calibri"/>
              <a:cs typeface="Calibri"/>
            </a:endParaRPr>
          </a:p>
          <a:p>
            <a:endParaRPr lang="en-US" sz="1800">
              <a:highlight>
                <a:srgbClr val="FFFFFF"/>
              </a:highlight>
              <a:ea typeface="Calibri"/>
              <a:cs typeface="Calibri"/>
            </a:endParaRPr>
          </a:p>
        </p:txBody>
      </p:sp>
      <p:pic>
        <p:nvPicPr>
          <p:cNvPr id="3" name="Picture 2" descr="restore in SQL Server disaster recovery ...">
            <a:extLst>
              <a:ext uri="{FF2B5EF4-FFF2-40B4-BE49-F238E27FC236}">
                <a16:creationId xmlns:a16="http://schemas.microsoft.com/office/drawing/2014/main" id="{A096A497-0D92-64F4-88C5-2CAD2E687AB2}"/>
              </a:ext>
            </a:extLst>
          </p:cNvPr>
          <p:cNvPicPr>
            <a:picLocks noChangeAspect="1"/>
          </p:cNvPicPr>
          <p:nvPr/>
        </p:nvPicPr>
        <p:blipFill>
          <a:blip r:embed="rId3"/>
          <a:stretch>
            <a:fillRect/>
          </a:stretch>
        </p:blipFill>
        <p:spPr>
          <a:xfrm>
            <a:off x="5874859" y="2144922"/>
            <a:ext cx="4942396" cy="2812570"/>
          </a:xfrm>
          <a:prstGeom prst="rect">
            <a:avLst/>
          </a:prstGeom>
        </p:spPr>
      </p:pic>
    </p:spTree>
    <p:extLst>
      <p:ext uri="{BB962C8B-B14F-4D97-AF65-F5344CB8AC3E}">
        <p14:creationId xmlns:p14="http://schemas.microsoft.com/office/powerpoint/2010/main" val="4226178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SQL Server Backup Strategies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846279" cy="4251960"/>
          </a:xfrm>
        </p:spPr>
        <p:txBody>
          <a:bodyPr vert="horz" lIns="91440" tIns="45720" rIns="91440" bIns="45720" rtlCol="0" anchor="t">
            <a:noAutofit/>
          </a:bodyPr>
          <a:lstStyle/>
          <a:p>
            <a:r>
              <a:rPr lang="en-US" sz="1600">
                <a:solidFill>
                  <a:srgbClr val="161616"/>
                </a:solidFill>
                <a:highlight>
                  <a:srgbClr val="FFFFFF"/>
                </a:highlight>
                <a:latin typeface="Segoe UI"/>
                <a:ea typeface="Calibri"/>
                <a:cs typeface="Segoe UI"/>
              </a:rPr>
              <a:t>The accounts that perform backup or restore operations shouldn't be granted more privileges than necessary. Review </a:t>
            </a:r>
            <a:r>
              <a:rPr lang="en-US" sz="1600">
                <a:solidFill>
                  <a:srgbClr val="0065B3"/>
                </a:solidFill>
                <a:highlight>
                  <a:srgbClr val="FFFFFF"/>
                </a:highlight>
                <a:latin typeface="Segoe UI"/>
                <a:ea typeface="Calibri"/>
                <a:cs typeface="Segoe UI"/>
                <a:hlinkClick r:id="rId2"/>
              </a:rPr>
              <a:t>backup</a:t>
            </a:r>
            <a:r>
              <a:rPr lang="en-US" sz="1600">
                <a:solidFill>
                  <a:srgbClr val="161616"/>
                </a:solidFill>
                <a:highlight>
                  <a:srgbClr val="FFFFFF"/>
                </a:highlight>
                <a:latin typeface="Segoe UI"/>
                <a:ea typeface="Calibri"/>
                <a:cs typeface="Segoe UI"/>
              </a:rPr>
              <a:t> and </a:t>
            </a:r>
            <a:r>
              <a:rPr lang="en-US" sz="1600">
                <a:solidFill>
                  <a:srgbClr val="0065B3"/>
                </a:solidFill>
                <a:highlight>
                  <a:srgbClr val="FFFFFF"/>
                </a:highlight>
                <a:latin typeface="Segoe UI"/>
                <a:ea typeface="Calibri"/>
                <a:cs typeface="Segoe UI"/>
                <a:hlinkClick r:id="rId3"/>
              </a:rPr>
              <a:t>restore</a:t>
            </a:r>
            <a:r>
              <a:rPr lang="en-US" sz="1600">
                <a:solidFill>
                  <a:srgbClr val="161616"/>
                </a:solidFill>
                <a:highlight>
                  <a:srgbClr val="FFFFFF"/>
                </a:highlight>
                <a:latin typeface="Segoe UI"/>
                <a:ea typeface="Calibri"/>
                <a:cs typeface="Segoe UI"/>
              </a:rPr>
              <a:t> for specific permission details. It's recommended that backups are </a:t>
            </a:r>
            <a:r>
              <a:rPr lang="en-US" sz="1600">
                <a:solidFill>
                  <a:srgbClr val="0065B3"/>
                </a:solidFill>
                <a:highlight>
                  <a:srgbClr val="FFFFFF"/>
                </a:highlight>
                <a:latin typeface="Segoe UI"/>
                <a:ea typeface="Calibri"/>
                <a:cs typeface="Segoe UI"/>
                <a:hlinkClick r:id="rId4"/>
              </a:rPr>
              <a:t>encrypted</a:t>
            </a:r>
            <a:r>
              <a:rPr lang="en-US" sz="1600">
                <a:solidFill>
                  <a:srgbClr val="161616"/>
                </a:solidFill>
                <a:highlight>
                  <a:srgbClr val="FFFFFF"/>
                </a:highlight>
                <a:latin typeface="Segoe UI"/>
                <a:ea typeface="Calibri"/>
                <a:cs typeface="Segoe UI"/>
              </a:rPr>
              <a:t> and, if possible, </a:t>
            </a:r>
            <a:r>
              <a:rPr lang="en-US" sz="1600">
                <a:solidFill>
                  <a:srgbClr val="0065B3"/>
                </a:solidFill>
                <a:highlight>
                  <a:srgbClr val="FFFFFF"/>
                </a:highlight>
                <a:latin typeface="Segoe UI"/>
                <a:ea typeface="Calibri"/>
                <a:cs typeface="Segoe UI"/>
                <a:hlinkClick r:id="rId5"/>
              </a:rPr>
              <a:t>compressed</a:t>
            </a:r>
            <a:r>
              <a:rPr lang="en-US" sz="1600">
                <a:solidFill>
                  <a:srgbClr val="161616"/>
                </a:solidFill>
                <a:highlight>
                  <a:srgbClr val="FFFFFF"/>
                </a:highlight>
                <a:latin typeface="Segoe UI"/>
                <a:ea typeface="Calibri"/>
                <a:cs typeface="Segoe UI"/>
              </a:rPr>
              <a:t>.</a:t>
            </a:r>
            <a:endParaRPr lang="en-US" sz="1600">
              <a:solidFill>
                <a:srgbClr val="161616"/>
              </a:solidFill>
              <a:highlight>
                <a:srgbClr val="FFFFFF"/>
              </a:highlight>
              <a:latin typeface="Segoe UI"/>
              <a:cs typeface="Segoe UI"/>
            </a:endParaRPr>
          </a:p>
          <a:p>
            <a:r>
              <a:rPr lang="en-US" sz="1600">
                <a:solidFill>
                  <a:srgbClr val="161616"/>
                </a:solidFill>
                <a:highlight>
                  <a:srgbClr val="FFFFFF"/>
                </a:highlight>
                <a:latin typeface="Segoe UI"/>
                <a:ea typeface="Calibri"/>
                <a:cs typeface="Segoe UI"/>
              </a:rPr>
              <a:t>To ensure security, backup files should have extensions that follow proper conventions:</a:t>
            </a:r>
            <a:endParaRPr lang="en-US" sz="1600">
              <a:ea typeface="Calibri"/>
              <a:cs typeface="Calibri"/>
            </a:endParaRPr>
          </a:p>
          <a:p>
            <a:r>
              <a:rPr lang="en-US" sz="1600">
                <a:solidFill>
                  <a:srgbClr val="161616"/>
                </a:solidFill>
                <a:highlight>
                  <a:srgbClr val="FFFFFF"/>
                </a:highlight>
                <a:latin typeface="Segoe UI"/>
                <a:ea typeface="Calibri"/>
                <a:cs typeface="Segoe UI"/>
              </a:rPr>
              <a:t>Database backup files should have the </a:t>
            </a:r>
            <a:r>
              <a:rPr lang="en-US" sz="1600">
                <a:solidFill>
                  <a:srgbClr val="161616"/>
                </a:solidFill>
                <a:highlight>
                  <a:srgbClr val="E6E6E6"/>
                </a:highlight>
                <a:latin typeface="Consolas"/>
                <a:ea typeface="Calibri"/>
                <a:cs typeface="Calibri"/>
              </a:rPr>
              <a:t>.BAK</a:t>
            </a:r>
            <a:r>
              <a:rPr lang="en-US" sz="1600">
                <a:solidFill>
                  <a:srgbClr val="161616"/>
                </a:solidFill>
                <a:highlight>
                  <a:srgbClr val="FFFFFF"/>
                </a:highlight>
                <a:latin typeface="Segoe UI"/>
                <a:ea typeface="Calibri"/>
                <a:cs typeface="Segoe UI"/>
              </a:rPr>
              <a:t> extension</a:t>
            </a:r>
            <a:endParaRPr lang="en-US" sz="1600">
              <a:ea typeface="Calibri"/>
              <a:cs typeface="Calibri"/>
            </a:endParaRPr>
          </a:p>
          <a:p>
            <a:r>
              <a:rPr lang="en-US" sz="1600">
                <a:solidFill>
                  <a:srgbClr val="161616"/>
                </a:solidFill>
                <a:highlight>
                  <a:srgbClr val="FFFFFF"/>
                </a:highlight>
                <a:latin typeface="Segoe UI"/>
                <a:ea typeface="Calibri"/>
                <a:cs typeface="Segoe UI"/>
              </a:rPr>
              <a:t>Log backup files should have the </a:t>
            </a:r>
            <a:r>
              <a:rPr lang="en-US" sz="1600">
                <a:solidFill>
                  <a:srgbClr val="161616"/>
                </a:solidFill>
                <a:highlight>
                  <a:srgbClr val="E6E6E6"/>
                </a:highlight>
                <a:latin typeface="Consolas"/>
                <a:ea typeface="Calibri"/>
                <a:cs typeface="Calibri"/>
              </a:rPr>
              <a:t>.TRN</a:t>
            </a:r>
            <a:r>
              <a:rPr lang="en-US" sz="1600">
                <a:solidFill>
                  <a:srgbClr val="161616"/>
                </a:solidFill>
                <a:highlight>
                  <a:srgbClr val="FFFFFF"/>
                </a:highlight>
                <a:latin typeface="Segoe UI"/>
                <a:ea typeface="Calibri"/>
                <a:cs typeface="Segoe UI"/>
              </a:rPr>
              <a:t> extension.</a:t>
            </a:r>
          </a:p>
          <a:p>
            <a:r>
              <a:rPr lang="en-US" sz="1600">
                <a:solidFill>
                  <a:srgbClr val="161616"/>
                </a:solidFill>
                <a:highlight>
                  <a:srgbClr val="FFFFFF"/>
                </a:highlight>
                <a:latin typeface="Segoe UI"/>
                <a:ea typeface="Calibri"/>
                <a:cs typeface="Segoe UI"/>
              </a:rPr>
              <a:t>Backup and restore operations occur within the context of a </a:t>
            </a:r>
            <a:r>
              <a:rPr lang="en-US" sz="1600">
                <a:solidFill>
                  <a:srgbClr val="0065B3"/>
                </a:solidFill>
                <a:highlight>
                  <a:srgbClr val="FFFFFF"/>
                </a:highlight>
                <a:latin typeface="Segoe UI"/>
                <a:ea typeface="Calibri"/>
                <a:cs typeface="Segoe UI"/>
                <a:hlinkClick r:id="rId6"/>
              </a:rPr>
              <a:t>recovery model</a:t>
            </a:r>
            <a:r>
              <a:rPr lang="en-US" sz="1600">
                <a:solidFill>
                  <a:srgbClr val="161616"/>
                </a:solidFill>
                <a:highlight>
                  <a:srgbClr val="FFFFFF"/>
                </a:highlight>
                <a:latin typeface="Segoe UI"/>
                <a:ea typeface="Calibri"/>
                <a:cs typeface="Segoe UI"/>
              </a:rPr>
              <a:t>. A recovery model is a database property that controls how the transaction log is managed. Thus, a database's recovery model determines what types of backups and restore scenarios are supported for the database, and what size the transaction log backups would be. Typically, a database uses either the simple recovery model or the full recovery model. You can augment the full recovery model by switching to the bulk-logged recovery model before bulk operations. For an introduction to these recovery models and how they affect transaction log management, </a:t>
            </a:r>
            <a:endParaRPr lang="en-US" sz="1600">
              <a:solidFill>
                <a:srgbClr val="000000"/>
              </a:solidFill>
              <a:latin typeface="Calibri" panose="020F0502020204030204"/>
              <a:ea typeface="Calibri"/>
              <a:cs typeface="Calibri"/>
            </a:endParaRPr>
          </a:p>
          <a:p>
            <a:r>
              <a:rPr lang="en-US" sz="1600">
                <a:solidFill>
                  <a:srgbClr val="161616"/>
                </a:solidFill>
                <a:highlight>
                  <a:srgbClr val="FFFFFF"/>
                </a:highlight>
                <a:latin typeface="Segoe UI"/>
                <a:ea typeface="Calibri"/>
                <a:cs typeface="Segoe UI"/>
              </a:rPr>
              <a:t>The best choice of recovery model for the database depends on your business requirements. To avoid transaction log management and simplify backup and restore, use the simple recovery model. To minimize work-loss exposure at the cost of administrative overhead, use the full recovery model. To minimize impact on log size during bulk-logged operations while at the same time allowing for recoverability of those operations, use bulk-logged recovery model</a:t>
            </a:r>
            <a:endParaRPr lang="en-US" sz="1600">
              <a:ea typeface="Calibri"/>
              <a:cs typeface="Calibri"/>
            </a:endParaRPr>
          </a:p>
          <a:p>
            <a:endParaRPr lang="en-US" sz="1600">
              <a:solidFill>
                <a:srgbClr val="161616"/>
              </a:solidFill>
              <a:highlight>
                <a:srgbClr val="FFFFFF"/>
              </a:highlight>
              <a:latin typeface="Segoe UI"/>
              <a:ea typeface="Calibri"/>
              <a:cs typeface="Segoe UI"/>
            </a:endParaRPr>
          </a:p>
          <a:p>
            <a:endParaRPr lang="en-US" sz="1500">
              <a:ea typeface="Calibri"/>
              <a:cs typeface="Calibri"/>
            </a:endParaRPr>
          </a:p>
        </p:txBody>
      </p:sp>
    </p:spTree>
    <p:extLst>
      <p:ext uri="{BB962C8B-B14F-4D97-AF65-F5344CB8AC3E}">
        <p14:creationId xmlns:p14="http://schemas.microsoft.com/office/powerpoint/2010/main" val="1074499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a:ea typeface="Calibri Light"/>
                <a:cs typeface="Calibri Light"/>
              </a:rPr>
              <a:t>SQL Server Restore Overview</a:t>
            </a: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chor="t">
            <a:normAutofit/>
          </a:bodyPr>
          <a:lstStyle/>
          <a:p>
            <a:r>
              <a:rPr lang="en-US" sz="1600">
                <a:solidFill>
                  <a:srgbClr val="161616"/>
                </a:solidFill>
                <a:highlight>
                  <a:srgbClr val="FFFFFF"/>
                </a:highlight>
                <a:latin typeface="Segoe UI"/>
                <a:ea typeface="Calibri"/>
                <a:cs typeface="Segoe UI"/>
              </a:rPr>
              <a:t>Treat restoring backups as a high-risk operation.</a:t>
            </a:r>
            <a:endParaRPr lang="en-US" sz="1600">
              <a:ea typeface="Calibri"/>
              <a:cs typeface="Calibri"/>
            </a:endParaRPr>
          </a:p>
          <a:p>
            <a:r>
              <a:rPr lang="en-US" sz="1600">
                <a:solidFill>
                  <a:srgbClr val="161616"/>
                </a:solidFill>
                <a:highlight>
                  <a:srgbClr val="FFFFFF"/>
                </a:highlight>
                <a:latin typeface="Segoe UI"/>
                <a:ea typeface="Calibri"/>
                <a:cs typeface="Segoe UI"/>
              </a:rPr>
              <a:t>Reduce the threat service area by using isolated instances.</a:t>
            </a:r>
            <a:endParaRPr lang="en-US" sz="1600">
              <a:ea typeface="Calibri"/>
              <a:cs typeface="Calibri"/>
            </a:endParaRPr>
          </a:p>
          <a:p>
            <a:r>
              <a:rPr lang="en-US" sz="1600">
                <a:solidFill>
                  <a:srgbClr val="161616"/>
                </a:solidFill>
                <a:highlight>
                  <a:srgbClr val="FFFFFF"/>
                </a:highlight>
                <a:latin typeface="Segoe UI"/>
                <a:ea typeface="Calibri"/>
                <a:cs typeface="Segoe UI"/>
              </a:rPr>
              <a:t>Only allow trusted backups: never restore backups from unknown or external sources.</a:t>
            </a:r>
            <a:endParaRPr lang="en-US" sz="1600">
              <a:ea typeface="Calibri"/>
              <a:cs typeface="Calibri"/>
            </a:endParaRPr>
          </a:p>
          <a:p>
            <a:r>
              <a:rPr lang="en-US" sz="1600">
                <a:solidFill>
                  <a:srgbClr val="161616"/>
                </a:solidFill>
                <a:highlight>
                  <a:srgbClr val="FFFFFF"/>
                </a:highlight>
                <a:latin typeface="Segoe UI"/>
                <a:ea typeface="Calibri"/>
                <a:cs typeface="Segoe UI"/>
              </a:rPr>
              <a:t>Only allow backups that have remained within a trusted boundary: ensure backups originate from within the trusted boundary.</a:t>
            </a:r>
            <a:endParaRPr lang="en-US" sz="1600">
              <a:ea typeface="Calibri"/>
              <a:cs typeface="Calibri"/>
            </a:endParaRPr>
          </a:p>
          <a:p>
            <a:r>
              <a:rPr lang="en-US" sz="1600">
                <a:solidFill>
                  <a:srgbClr val="161616"/>
                </a:solidFill>
                <a:highlight>
                  <a:srgbClr val="FFFFFF"/>
                </a:highlight>
                <a:latin typeface="Segoe UI"/>
                <a:ea typeface="Calibri"/>
                <a:cs typeface="Segoe UI"/>
              </a:rPr>
              <a:t>Do not bypass security controls for convenience.</a:t>
            </a:r>
            <a:endParaRPr lang="en-US" sz="1600">
              <a:ea typeface="Calibri"/>
              <a:cs typeface="Calibri"/>
            </a:endParaRPr>
          </a:p>
          <a:p>
            <a:r>
              <a:rPr lang="en-US" sz="1600">
                <a:solidFill>
                  <a:srgbClr val="161616"/>
                </a:solidFill>
                <a:highlight>
                  <a:srgbClr val="FFFFFF"/>
                </a:highlight>
                <a:latin typeface="Segoe UI"/>
                <a:ea typeface="Calibri"/>
                <a:cs typeface="Segoe UI"/>
              </a:rPr>
              <a:t>Enable </a:t>
            </a:r>
            <a:r>
              <a:rPr lang="en-US" sz="1600">
                <a:solidFill>
                  <a:srgbClr val="0065B3"/>
                </a:solidFill>
                <a:highlight>
                  <a:srgbClr val="FFFFFF"/>
                </a:highlight>
                <a:latin typeface="Segoe UI"/>
                <a:ea typeface="Calibri"/>
                <a:cs typeface="Segoe UI"/>
                <a:hlinkClick r:id="rId2"/>
              </a:rPr>
              <a:t>server-level auditing</a:t>
            </a:r>
            <a:r>
              <a:rPr lang="en-US" sz="1600">
                <a:solidFill>
                  <a:srgbClr val="161616"/>
                </a:solidFill>
                <a:highlight>
                  <a:srgbClr val="FFFFFF"/>
                </a:highlight>
                <a:latin typeface="Segoe UI"/>
                <a:ea typeface="Calibri"/>
                <a:cs typeface="Segoe UI"/>
              </a:rPr>
              <a:t> to capture backup and restore events and mitigate audit evasion.</a:t>
            </a:r>
            <a:endParaRPr lang="en-US" sz="1600">
              <a:ea typeface="Calibri"/>
              <a:cs typeface="Calibri"/>
            </a:endParaRPr>
          </a:p>
          <a:p>
            <a:endParaRPr lang="en-US" sz="1500">
              <a:ea typeface="Calibri"/>
              <a:cs typeface="Calibri"/>
            </a:endParaRPr>
          </a:p>
        </p:txBody>
      </p:sp>
    </p:spTree>
    <p:extLst>
      <p:ext uri="{BB962C8B-B14F-4D97-AF65-F5344CB8AC3E}">
        <p14:creationId xmlns:p14="http://schemas.microsoft.com/office/powerpoint/2010/main" val="2339224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ea typeface="Calibri Light"/>
                <a:cs typeface="Calibri Light"/>
              </a:rPr>
              <a:t>SQL Server Recovery</a:t>
            </a:r>
            <a:endParaRPr lang="en-US" sz="4000">
              <a:solidFill>
                <a:srgbClr val="FFFFFF"/>
              </a:solidFill>
            </a:endParaRPr>
          </a:p>
        </p:txBody>
      </p:sp>
      <p:sp>
        <p:nvSpPr>
          <p:cNvPr id="3" name="Content Placeholder 2">
            <a:extLst>
              <a:ext uri="{FF2B5EF4-FFF2-40B4-BE49-F238E27FC236}">
                <a16:creationId xmlns:a16="http://schemas.microsoft.com/office/drawing/2014/main" id="{66E539D5-9860-65A9-84B0-AE3C9DE83A0F}"/>
              </a:ext>
            </a:extLst>
          </p:cNvPr>
          <p:cNvSpPr>
            <a:spLocks noGrp="1"/>
          </p:cNvSpPr>
          <p:nvPr>
            <p:ph idx="1"/>
          </p:nvPr>
        </p:nvSpPr>
        <p:spPr>
          <a:xfrm>
            <a:off x="4810259" y="591971"/>
            <a:ext cx="6799762" cy="5948612"/>
          </a:xfrm>
        </p:spPr>
        <p:txBody>
          <a:bodyPr vert="horz" lIns="91440" tIns="45720" rIns="91440" bIns="45720" rtlCol="0" anchor="ctr">
            <a:normAutofit/>
          </a:bodyPr>
          <a:lstStyle/>
          <a:p>
            <a:r>
              <a:rPr lang="en-US" sz="1200">
                <a:solidFill>
                  <a:srgbClr val="0A0A0A"/>
                </a:solidFill>
                <a:highlight>
                  <a:srgbClr val="FFFFFF"/>
                </a:highlight>
                <a:ea typeface="+mn-lt"/>
                <a:cs typeface="+mn-lt"/>
              </a:rPr>
              <a:t>In SQL Server, a recovery model is </a:t>
            </a:r>
            <a:r>
              <a:rPr lang="en-US" sz="1200">
                <a:solidFill>
                  <a:srgbClr val="001D35"/>
                </a:solidFill>
                <a:highlight>
                  <a:srgbClr val="FFFFFF"/>
                </a:highlight>
                <a:ea typeface="+mn-lt"/>
                <a:cs typeface="+mn-lt"/>
              </a:rPr>
              <a:t>a database property that controls how transactions are logged, whether the transaction log requires backing up, and what types of restore operations are available. </a:t>
            </a:r>
            <a:endParaRPr lang="en-US"/>
          </a:p>
          <a:p>
            <a:r>
              <a:rPr lang="en-US" sz="1500" b="1">
                <a:solidFill>
                  <a:srgbClr val="001D35"/>
                </a:solidFill>
                <a:highlight>
                  <a:srgbClr val="FFFFFF"/>
                </a:highlight>
                <a:ea typeface="+mn-lt"/>
                <a:cs typeface="+mn-lt"/>
              </a:rPr>
              <a:t>The Three Recovery Models</a:t>
            </a:r>
            <a:endParaRPr lang="en-US"/>
          </a:p>
          <a:p>
            <a:r>
              <a:rPr lang="en-US" sz="1200" b="1">
                <a:solidFill>
                  <a:srgbClr val="0A0A0A"/>
                </a:solidFill>
                <a:highlight>
                  <a:srgbClr val="FFFFFF"/>
                </a:highlight>
                <a:ea typeface="+mn-lt"/>
                <a:cs typeface="+mn-lt"/>
              </a:rPr>
              <a:t>Full Recovery Model</a:t>
            </a:r>
            <a:r>
              <a:rPr lang="en-US" sz="1200">
                <a:solidFill>
                  <a:srgbClr val="0A0A0A"/>
                </a:solidFill>
                <a:highlight>
                  <a:srgbClr val="FFFFFF"/>
                </a:highlight>
                <a:ea typeface="+mn-lt"/>
                <a:cs typeface="+mn-lt"/>
              </a:rPr>
              <a:t>: Logs every transaction in detail and retains them until a transaction log backup is performed.</a:t>
            </a:r>
            <a:endParaRPr lang="en-US"/>
          </a:p>
          <a:p>
            <a:pPr lvl="1"/>
            <a:r>
              <a:rPr lang="en-US" sz="1200" b="1">
                <a:solidFill>
                  <a:srgbClr val="0A0A0A"/>
                </a:solidFill>
                <a:highlight>
                  <a:srgbClr val="FFFFFF"/>
                </a:highlight>
                <a:ea typeface="+mn-lt"/>
                <a:cs typeface="+mn-lt"/>
              </a:rPr>
              <a:t>Best for</a:t>
            </a:r>
            <a:r>
              <a:rPr lang="en-US" sz="1200">
                <a:solidFill>
                  <a:srgbClr val="0A0A0A"/>
                </a:solidFill>
                <a:highlight>
                  <a:srgbClr val="FFFFFF"/>
                </a:highlight>
                <a:ea typeface="+mn-lt"/>
                <a:cs typeface="+mn-lt"/>
              </a:rPr>
              <a:t>: Production environments where data is critical.</a:t>
            </a:r>
            <a:endParaRPr lang="en-US"/>
          </a:p>
          <a:p>
            <a:pPr lvl="1"/>
            <a:r>
              <a:rPr lang="en-US" sz="1200" b="1">
                <a:solidFill>
                  <a:srgbClr val="0A0A0A"/>
                </a:solidFill>
                <a:highlight>
                  <a:srgbClr val="FFFFFF"/>
                </a:highlight>
                <a:ea typeface="+mn-lt"/>
                <a:cs typeface="+mn-lt"/>
              </a:rPr>
              <a:t>Benefit</a:t>
            </a:r>
            <a:r>
              <a:rPr lang="en-US" sz="1200">
                <a:solidFill>
                  <a:srgbClr val="0A0A0A"/>
                </a:solidFill>
                <a:highlight>
                  <a:srgbClr val="FFFFFF"/>
                </a:highlight>
                <a:ea typeface="+mn-lt"/>
                <a:cs typeface="+mn-lt"/>
              </a:rPr>
              <a:t>: Supports </a:t>
            </a:r>
            <a:r>
              <a:rPr lang="en-US" sz="1200" b="1">
                <a:solidFill>
                  <a:srgbClr val="0A0A0A"/>
                </a:solidFill>
                <a:highlight>
                  <a:srgbClr val="FFFFFF"/>
                </a:highlight>
                <a:ea typeface="+mn-lt"/>
                <a:cs typeface="+mn-lt"/>
              </a:rPr>
              <a:t>point-in-time recovery</a:t>
            </a:r>
            <a:r>
              <a:rPr lang="en-US" sz="1200">
                <a:solidFill>
                  <a:srgbClr val="0A0A0A"/>
                </a:solidFill>
                <a:highlight>
                  <a:srgbClr val="FFFFFF"/>
                </a:highlight>
                <a:ea typeface="+mn-lt"/>
                <a:cs typeface="+mn-lt"/>
              </a:rPr>
              <a:t>, allowing you to restore the database to a specific minute or event before a failure.</a:t>
            </a:r>
            <a:endParaRPr lang="en-US"/>
          </a:p>
          <a:p>
            <a:pPr lvl="1"/>
            <a:r>
              <a:rPr lang="en-US" sz="1200" b="1">
                <a:solidFill>
                  <a:srgbClr val="0A0A0A"/>
                </a:solidFill>
                <a:highlight>
                  <a:srgbClr val="FFFFFF"/>
                </a:highlight>
                <a:ea typeface="+mn-lt"/>
                <a:cs typeface="+mn-lt"/>
              </a:rPr>
              <a:t>Requirement</a:t>
            </a:r>
            <a:r>
              <a:rPr lang="en-US" sz="1200">
                <a:solidFill>
                  <a:srgbClr val="0A0A0A"/>
                </a:solidFill>
                <a:highlight>
                  <a:srgbClr val="FFFFFF"/>
                </a:highlight>
                <a:ea typeface="+mn-lt"/>
                <a:cs typeface="+mn-lt"/>
              </a:rPr>
              <a:t>: You must perform regular transaction log backups to prevent the log file from growing indefinitely and filling up disk space.</a:t>
            </a:r>
            <a:endParaRPr lang="en-US"/>
          </a:p>
          <a:p>
            <a:r>
              <a:rPr lang="en-US" sz="1200" b="1">
                <a:solidFill>
                  <a:srgbClr val="0A0A0A"/>
                </a:solidFill>
                <a:highlight>
                  <a:srgbClr val="FFFFFF"/>
                </a:highlight>
                <a:ea typeface="+mn-lt"/>
                <a:cs typeface="+mn-lt"/>
              </a:rPr>
              <a:t>Simple Recovery Model</a:t>
            </a:r>
            <a:r>
              <a:rPr lang="en-US" sz="1200">
                <a:solidFill>
                  <a:srgbClr val="0A0A0A"/>
                </a:solidFill>
                <a:highlight>
                  <a:srgbClr val="FFFFFF"/>
                </a:highlight>
                <a:ea typeface="+mn-lt"/>
                <a:cs typeface="+mn-lt"/>
              </a:rPr>
              <a:t>: Automatically reclaims log space by truncating the transaction log at every checkpoint.</a:t>
            </a:r>
            <a:endParaRPr lang="en-US"/>
          </a:p>
          <a:p>
            <a:pPr lvl="1"/>
            <a:r>
              <a:rPr lang="en-US" sz="1200" b="1">
                <a:solidFill>
                  <a:srgbClr val="0A0A0A"/>
                </a:solidFill>
                <a:highlight>
                  <a:srgbClr val="FFFFFF"/>
                </a:highlight>
                <a:ea typeface="+mn-lt"/>
                <a:cs typeface="+mn-lt"/>
              </a:rPr>
              <a:t>Best for</a:t>
            </a:r>
            <a:r>
              <a:rPr lang="en-US" sz="1200">
                <a:solidFill>
                  <a:srgbClr val="0A0A0A"/>
                </a:solidFill>
                <a:highlight>
                  <a:srgbClr val="FFFFFF"/>
                </a:highlight>
                <a:ea typeface="+mn-lt"/>
                <a:cs typeface="+mn-lt"/>
              </a:rPr>
              <a:t>: Development, test databases, or small production databases where losing recent changes is acceptable.</a:t>
            </a:r>
            <a:endParaRPr lang="en-US"/>
          </a:p>
          <a:p>
            <a:pPr lvl="1"/>
            <a:r>
              <a:rPr lang="en-US" sz="1200" b="1">
                <a:solidFill>
                  <a:srgbClr val="0A0A0A"/>
                </a:solidFill>
                <a:highlight>
                  <a:srgbClr val="FFFFFF"/>
                </a:highlight>
                <a:ea typeface="+mn-lt"/>
                <a:cs typeface="+mn-lt"/>
              </a:rPr>
              <a:t>Constraint</a:t>
            </a:r>
            <a:r>
              <a:rPr lang="en-US" sz="1200">
                <a:solidFill>
                  <a:srgbClr val="0A0A0A"/>
                </a:solidFill>
                <a:highlight>
                  <a:srgbClr val="FFFFFF"/>
                </a:highlight>
                <a:ea typeface="+mn-lt"/>
                <a:cs typeface="+mn-lt"/>
              </a:rPr>
              <a:t>: It does </a:t>
            </a:r>
            <a:r>
              <a:rPr lang="en-US" sz="1200" b="1">
                <a:solidFill>
                  <a:srgbClr val="0A0A0A"/>
                </a:solidFill>
                <a:highlight>
                  <a:srgbClr val="FFFFFF"/>
                </a:highlight>
                <a:ea typeface="+mn-lt"/>
                <a:cs typeface="+mn-lt"/>
              </a:rPr>
              <a:t>not</a:t>
            </a:r>
            <a:r>
              <a:rPr lang="en-US" sz="1200">
                <a:solidFill>
                  <a:srgbClr val="0A0A0A"/>
                </a:solidFill>
                <a:highlight>
                  <a:srgbClr val="FFFFFF"/>
                </a:highlight>
                <a:ea typeface="+mn-lt"/>
                <a:cs typeface="+mn-lt"/>
              </a:rPr>
              <a:t> support transaction log backups or point-in-time recovery. You can only restore to the state of the last full or differential backup.</a:t>
            </a:r>
            <a:endParaRPr lang="en-US"/>
          </a:p>
          <a:p>
            <a:pPr lvl="1"/>
            <a:r>
              <a:rPr lang="en-US" sz="1200" b="1">
                <a:solidFill>
                  <a:srgbClr val="0A0A0A"/>
                </a:solidFill>
                <a:highlight>
                  <a:srgbClr val="FFFFFF"/>
                </a:highlight>
                <a:ea typeface="+mn-lt"/>
                <a:cs typeface="+mn-lt"/>
              </a:rPr>
              <a:t>Benefit</a:t>
            </a:r>
            <a:r>
              <a:rPr lang="en-US" sz="1200">
                <a:solidFill>
                  <a:srgbClr val="0A0A0A"/>
                </a:solidFill>
                <a:highlight>
                  <a:srgbClr val="FFFFFF"/>
                </a:highlight>
                <a:ea typeface="+mn-lt"/>
                <a:cs typeface="+mn-lt"/>
              </a:rPr>
              <a:t>: Requires minimal administration as SQL Server manages the log size automatically.</a:t>
            </a:r>
            <a:endParaRPr lang="en-US"/>
          </a:p>
          <a:p>
            <a:r>
              <a:rPr lang="en-US" sz="1200" b="1">
                <a:solidFill>
                  <a:srgbClr val="0A0A0A"/>
                </a:solidFill>
                <a:highlight>
                  <a:srgbClr val="FFFFFF"/>
                </a:highlight>
                <a:ea typeface="+mn-lt"/>
                <a:cs typeface="+mn-lt"/>
              </a:rPr>
              <a:t>Bulk-Logged Recovery Model</a:t>
            </a:r>
            <a:r>
              <a:rPr lang="en-US" sz="1200">
                <a:solidFill>
                  <a:srgbClr val="0A0A0A"/>
                </a:solidFill>
                <a:highlight>
                  <a:srgbClr val="FFFFFF"/>
                </a:highlight>
                <a:ea typeface="+mn-lt"/>
                <a:cs typeface="+mn-lt"/>
              </a:rPr>
              <a:t>: A hybrid model that minimally logs most bulk operations (e.g., </a:t>
            </a:r>
            <a:r>
              <a:rPr lang="en-US" sz="1100">
                <a:solidFill>
                  <a:srgbClr val="0A0A0A"/>
                </a:solidFill>
                <a:highlight>
                  <a:srgbClr val="F3F5F6"/>
                </a:highlight>
                <a:latin typeface="Consolas"/>
                <a:ea typeface="Calibri"/>
                <a:cs typeface="Calibri"/>
              </a:rPr>
              <a:t>BULK INSERT</a:t>
            </a:r>
            <a:r>
              <a:rPr lang="en-US" sz="1200">
                <a:solidFill>
                  <a:srgbClr val="0A0A0A"/>
                </a:solidFill>
                <a:highlight>
                  <a:srgbClr val="FFFFFF"/>
                </a:highlight>
                <a:ea typeface="+mn-lt"/>
                <a:cs typeface="+mn-lt"/>
              </a:rPr>
              <a:t>, </a:t>
            </a:r>
            <a:r>
              <a:rPr lang="en-US" sz="1100">
                <a:solidFill>
                  <a:srgbClr val="0A0A0A"/>
                </a:solidFill>
                <a:highlight>
                  <a:srgbClr val="F3F5F6"/>
                </a:highlight>
                <a:latin typeface="Consolas"/>
                <a:ea typeface="Calibri"/>
                <a:cs typeface="Calibri"/>
              </a:rPr>
              <a:t>SELECT INTO</a:t>
            </a:r>
            <a:r>
              <a:rPr lang="en-US" sz="1200">
                <a:solidFill>
                  <a:srgbClr val="0A0A0A"/>
                </a:solidFill>
                <a:highlight>
                  <a:srgbClr val="FFFFFF"/>
                </a:highlight>
                <a:ea typeface="+mn-lt"/>
                <a:cs typeface="+mn-lt"/>
              </a:rPr>
              <a:t>, index creation) to improve performance.</a:t>
            </a:r>
            <a:endParaRPr lang="en-US"/>
          </a:p>
          <a:p>
            <a:pPr lvl="1"/>
            <a:r>
              <a:rPr lang="en-US" sz="1200" b="1">
                <a:solidFill>
                  <a:srgbClr val="0A0A0A"/>
                </a:solidFill>
                <a:highlight>
                  <a:srgbClr val="FFFFFF"/>
                </a:highlight>
                <a:ea typeface="+mn-lt"/>
                <a:cs typeface="+mn-lt"/>
              </a:rPr>
              <a:t>Best for</a:t>
            </a:r>
            <a:r>
              <a:rPr lang="en-US" sz="1200">
                <a:solidFill>
                  <a:srgbClr val="0A0A0A"/>
                </a:solidFill>
                <a:highlight>
                  <a:srgbClr val="FFFFFF"/>
                </a:highlight>
                <a:ea typeface="+mn-lt"/>
                <a:cs typeface="+mn-lt"/>
              </a:rPr>
              <a:t>: Speeding up large-scale data imports or index maintenance in databases otherwise using the Full model.</a:t>
            </a:r>
            <a:endParaRPr lang="en-US"/>
          </a:p>
          <a:p>
            <a:pPr lvl="1"/>
            <a:r>
              <a:rPr lang="en-US" sz="1200" b="1">
                <a:solidFill>
                  <a:srgbClr val="0A0A0A"/>
                </a:solidFill>
                <a:highlight>
                  <a:srgbClr val="FFFFFF"/>
                </a:highlight>
                <a:ea typeface="+mn-lt"/>
                <a:cs typeface="+mn-lt"/>
              </a:rPr>
              <a:t>Constraint</a:t>
            </a:r>
            <a:r>
              <a:rPr lang="en-US" sz="1200">
                <a:solidFill>
                  <a:srgbClr val="0A0A0A"/>
                </a:solidFill>
                <a:highlight>
                  <a:srgbClr val="FFFFFF"/>
                </a:highlight>
                <a:ea typeface="+mn-lt"/>
                <a:cs typeface="+mn-lt"/>
              </a:rPr>
              <a:t>: If a log backup contains bulk-logged operations, </a:t>
            </a:r>
            <a:r>
              <a:rPr lang="en-US" sz="1200" b="1">
                <a:solidFill>
                  <a:srgbClr val="0A0A0A"/>
                </a:solidFill>
                <a:highlight>
                  <a:srgbClr val="FFFFFF"/>
                </a:highlight>
                <a:ea typeface="+mn-lt"/>
                <a:cs typeface="+mn-lt"/>
              </a:rPr>
              <a:t>point-in-time recovery is not possible</a:t>
            </a:r>
            <a:r>
              <a:rPr lang="en-US" sz="1200">
                <a:solidFill>
                  <a:srgbClr val="0A0A0A"/>
                </a:solidFill>
                <a:highlight>
                  <a:srgbClr val="FFFFFF"/>
                </a:highlight>
                <a:ea typeface="+mn-lt"/>
                <a:cs typeface="+mn-lt"/>
              </a:rPr>
              <a:t> for that specific interval; you can only restore to the end of the log backup.</a:t>
            </a:r>
            <a:endParaRPr lang="en-US"/>
          </a:p>
          <a:p>
            <a:pPr lvl="1"/>
            <a:r>
              <a:rPr lang="en-US" sz="1200" b="1">
                <a:solidFill>
                  <a:srgbClr val="0A0A0A"/>
                </a:solidFill>
                <a:highlight>
                  <a:srgbClr val="FFFFFF"/>
                </a:highlight>
                <a:ea typeface="+mn-lt"/>
                <a:cs typeface="+mn-lt"/>
              </a:rPr>
              <a:t>Workflow</a:t>
            </a:r>
            <a:r>
              <a:rPr lang="en-US" sz="1200">
                <a:solidFill>
                  <a:srgbClr val="0A0A0A"/>
                </a:solidFill>
                <a:highlight>
                  <a:srgbClr val="FFFFFF"/>
                </a:highlight>
                <a:ea typeface="+mn-lt"/>
                <a:cs typeface="+mn-lt"/>
              </a:rPr>
              <a:t>: Admins often switch from Full to Bulk-Logged temporarily for maintenance and then switch back.</a:t>
            </a:r>
            <a:endParaRPr lang="en-US"/>
          </a:p>
          <a:p>
            <a:endParaRPr lang="en-US" sz="2000">
              <a:ea typeface="Calibri"/>
              <a:cs typeface="Calibri"/>
            </a:endParaRPr>
          </a:p>
        </p:txBody>
      </p:sp>
    </p:spTree>
    <p:extLst>
      <p:ext uri="{BB962C8B-B14F-4D97-AF65-F5344CB8AC3E}">
        <p14:creationId xmlns:p14="http://schemas.microsoft.com/office/powerpoint/2010/main" val="3291946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E149CDF-5DAC-4860-A285-9492CF209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31" name="Rectangle 30">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172A770A-6058-3B59-7EA8-5A75B57CB413}"/>
              </a:ext>
            </a:extLst>
          </p:cNvPr>
          <p:cNvSpPr>
            <a:spLocks noGrp="1"/>
          </p:cNvSpPr>
          <p:nvPr>
            <p:ph type="title"/>
          </p:nvPr>
        </p:nvSpPr>
        <p:spPr>
          <a:xfrm>
            <a:off x="1191966" y="905011"/>
            <a:ext cx="3629555" cy="1889135"/>
          </a:xfrm>
        </p:spPr>
        <p:txBody>
          <a:bodyPr anchor="b">
            <a:normAutofit/>
          </a:bodyPr>
          <a:lstStyle/>
          <a:p>
            <a:r>
              <a:rPr lang="en-US">
                <a:ea typeface="Calibri Light"/>
                <a:cs typeface="Calibri Light"/>
              </a:rPr>
              <a:t>Azure SQL Server Security</a:t>
            </a:r>
          </a:p>
        </p:txBody>
      </p:sp>
      <p:sp>
        <p:nvSpPr>
          <p:cNvPr id="3" name="Content Placeholder 2">
            <a:extLst>
              <a:ext uri="{FF2B5EF4-FFF2-40B4-BE49-F238E27FC236}">
                <a16:creationId xmlns:a16="http://schemas.microsoft.com/office/drawing/2014/main" id="{EA43B87D-2EED-21A1-F4D1-3A5FD87A2EA9}"/>
              </a:ext>
            </a:extLst>
          </p:cNvPr>
          <p:cNvSpPr>
            <a:spLocks noGrp="1"/>
          </p:cNvSpPr>
          <p:nvPr>
            <p:ph idx="1"/>
          </p:nvPr>
        </p:nvSpPr>
        <p:spPr>
          <a:xfrm>
            <a:off x="1191966" y="2965592"/>
            <a:ext cx="3629555" cy="2987397"/>
          </a:xfrm>
        </p:spPr>
        <p:txBody>
          <a:bodyPr vert="horz" lIns="91440" tIns="45720" rIns="91440" bIns="45720" rtlCol="0">
            <a:normAutofit/>
          </a:bodyPr>
          <a:lstStyle/>
          <a:p>
            <a:endParaRPr lang="en-US" sz="1800">
              <a:ea typeface="Calibri"/>
              <a:cs typeface="Calibri"/>
            </a:endParaRPr>
          </a:p>
          <a:p>
            <a:endParaRPr lang="en-US" sz="1800">
              <a:highlight>
                <a:srgbClr val="1F1F1F"/>
              </a:highlight>
              <a:latin typeface="Segoe UI"/>
              <a:ea typeface="Calibri"/>
              <a:cs typeface="Segoe UI"/>
            </a:endParaRPr>
          </a:p>
          <a:p>
            <a:endParaRPr lang="en-US" sz="1800">
              <a:highlight>
                <a:srgbClr val="1F1F1F"/>
              </a:highlight>
              <a:latin typeface="Segoe UI"/>
              <a:ea typeface="Calibri"/>
              <a:cs typeface="Segoe UI"/>
            </a:endParaRPr>
          </a:p>
        </p:txBody>
      </p:sp>
      <p:pic>
        <p:nvPicPr>
          <p:cNvPr id="4" name="Picture 3" descr="Azure SQL Database firewall">
            <a:extLst>
              <a:ext uri="{FF2B5EF4-FFF2-40B4-BE49-F238E27FC236}">
                <a16:creationId xmlns:a16="http://schemas.microsoft.com/office/drawing/2014/main" id="{01F91A42-694D-54A9-73A3-832F56EBBD81}"/>
              </a:ext>
            </a:extLst>
          </p:cNvPr>
          <p:cNvPicPr>
            <a:picLocks noChangeAspect="1"/>
          </p:cNvPicPr>
          <p:nvPr/>
        </p:nvPicPr>
        <p:blipFill>
          <a:blip r:embed="rId3"/>
          <a:srcRect t="24276" r="-1" b="15678"/>
          <a:stretch>
            <a:fillRect/>
          </a:stretch>
        </p:blipFill>
        <p:spPr>
          <a:xfrm>
            <a:off x="5359151" y="895610"/>
            <a:ext cx="6107166" cy="5058020"/>
          </a:xfrm>
          <a:prstGeom prst="rect">
            <a:avLst/>
          </a:prstGeom>
        </p:spPr>
      </p:pic>
      <p:sp>
        <p:nvSpPr>
          <p:cNvPr id="6" name="TextBox 5">
            <a:extLst>
              <a:ext uri="{FF2B5EF4-FFF2-40B4-BE49-F238E27FC236}">
                <a16:creationId xmlns:a16="http://schemas.microsoft.com/office/drawing/2014/main" id="{B3192453-C563-EF8F-476D-6362DF33F89B}"/>
              </a:ext>
            </a:extLst>
          </p:cNvPr>
          <p:cNvSpPr txBox="1"/>
          <p:nvPr/>
        </p:nvSpPr>
        <p:spPr>
          <a:xfrm>
            <a:off x="1187858" y="3322320"/>
            <a:ext cx="3490822"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err="1">
                <a:solidFill>
                  <a:srgbClr val="161616"/>
                </a:solidFill>
                <a:highlight>
                  <a:srgbClr val="FFFFFF"/>
                </a:highlight>
                <a:latin typeface="Segoe UI"/>
                <a:cs typeface="Segoe UI"/>
              </a:rPr>
              <a:t>DosGuard</a:t>
            </a:r>
            <a:r>
              <a:rPr lang="en-US" sz="1200">
                <a:solidFill>
                  <a:srgbClr val="161616"/>
                </a:solidFill>
                <a:highlight>
                  <a:srgbClr val="FFFFFF"/>
                </a:highlight>
                <a:latin typeface="Segoe UI"/>
                <a:cs typeface="Segoe UI"/>
              </a:rPr>
              <a:t>, a SQL Database gateway service, reduces denial of service (DoS) attacks. </a:t>
            </a:r>
            <a:r>
              <a:rPr lang="en-US" sz="1200" err="1">
                <a:solidFill>
                  <a:srgbClr val="161616"/>
                </a:solidFill>
                <a:highlight>
                  <a:srgbClr val="FFFFFF"/>
                </a:highlight>
                <a:latin typeface="Segoe UI"/>
                <a:cs typeface="Segoe UI"/>
              </a:rPr>
              <a:t>DoSGuard</a:t>
            </a:r>
            <a:r>
              <a:rPr lang="en-US" sz="1200">
                <a:solidFill>
                  <a:srgbClr val="161616"/>
                </a:solidFill>
                <a:highlight>
                  <a:srgbClr val="FFFFFF"/>
                </a:highlight>
                <a:latin typeface="Segoe UI"/>
                <a:cs typeface="Segoe UI"/>
              </a:rPr>
              <a:t> actively tracks failed logins from IP addresses. If there are multiple failed logins from an IP address within a period of time, the IP address is blocked from accessing any resources in the service for a predefined time period.</a:t>
            </a:r>
            <a:endParaRPr lang="en-US"/>
          </a:p>
        </p:txBody>
      </p:sp>
    </p:spTree>
    <p:extLst>
      <p:ext uri="{BB962C8B-B14F-4D97-AF65-F5344CB8AC3E}">
        <p14:creationId xmlns:p14="http://schemas.microsoft.com/office/powerpoint/2010/main" val="2247041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45DDC9-A853-2723-BF67-3199A025AB6B}"/>
              </a:ext>
            </a:extLst>
          </p:cNvPr>
          <p:cNvSpPr>
            <a:spLocks noGrp="1"/>
          </p:cNvSpPr>
          <p:nvPr>
            <p:ph type="title"/>
          </p:nvPr>
        </p:nvSpPr>
        <p:spPr>
          <a:xfrm>
            <a:off x="841248" y="256032"/>
            <a:ext cx="10506456" cy="1014984"/>
          </a:xfrm>
        </p:spPr>
        <p:txBody>
          <a:bodyPr anchor="b">
            <a:normAutofit/>
          </a:bodyPr>
          <a:lstStyle/>
          <a:p>
            <a:r>
              <a:rPr lang="en-US">
                <a:ea typeface="Calibri Light"/>
                <a:cs typeface="Calibri Light"/>
              </a:rPr>
              <a:t>Azure SQL Server Authentication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7395AE93-B01E-B096-EB04-02810710D179}"/>
              </a:ext>
            </a:extLst>
          </p:cNvPr>
          <p:cNvGraphicFramePr>
            <a:graphicFrameLocks noGrp="1"/>
          </p:cNvGraphicFramePr>
          <p:nvPr>
            <p:ph idx="1"/>
            <p:extLst>
              <p:ext uri="{D42A27DB-BD31-4B8C-83A1-F6EECF244321}">
                <p14:modId xmlns:p14="http://schemas.microsoft.com/office/powerpoint/2010/main" val="124766847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5672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007A34-1464-91B0-CF8C-4C097BA77A6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DDA8A2-F789-38DC-D514-0D038AFD66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E0D210-EAAD-8A09-92F6-842B2985224B}"/>
              </a:ext>
            </a:extLst>
          </p:cNvPr>
          <p:cNvSpPr>
            <a:spLocks noGrp="1"/>
          </p:cNvSpPr>
          <p:nvPr>
            <p:ph type="title"/>
          </p:nvPr>
        </p:nvSpPr>
        <p:spPr>
          <a:xfrm>
            <a:off x="841248" y="256032"/>
            <a:ext cx="10506456" cy="1014984"/>
          </a:xfrm>
        </p:spPr>
        <p:txBody>
          <a:bodyPr anchor="b">
            <a:normAutofit/>
          </a:bodyPr>
          <a:lstStyle/>
          <a:p>
            <a:r>
              <a:rPr lang="en-US">
                <a:ea typeface="Calibri Light"/>
                <a:cs typeface="Calibri Light"/>
              </a:rPr>
              <a:t>Azure SQL Server Authentication</a:t>
            </a:r>
          </a:p>
        </p:txBody>
      </p:sp>
      <p:sp>
        <p:nvSpPr>
          <p:cNvPr id="11" name="Rectangle 10">
            <a:extLst>
              <a:ext uri="{FF2B5EF4-FFF2-40B4-BE49-F238E27FC236}">
                <a16:creationId xmlns:a16="http://schemas.microsoft.com/office/drawing/2014/main" id="{5E1831F7-3558-EF73-BDFE-45A8ED11F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656860B4-19A4-9687-BDBA-100637435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3" name="Content Placeholder 142">
            <a:extLst>
              <a:ext uri="{FF2B5EF4-FFF2-40B4-BE49-F238E27FC236}">
                <a16:creationId xmlns:a16="http://schemas.microsoft.com/office/drawing/2014/main" id="{575EE332-9330-C76F-C9E2-F08EBBE77976}"/>
              </a:ext>
            </a:extLst>
          </p:cNvPr>
          <p:cNvSpPr>
            <a:spLocks noGrp="1"/>
          </p:cNvSpPr>
          <p:nvPr>
            <p:ph idx="1"/>
          </p:nvPr>
        </p:nvSpPr>
        <p:spPr/>
        <p:txBody>
          <a:bodyPr vert="horz" lIns="91440" tIns="45720" rIns="91440" bIns="45720" rtlCol="0" anchor="t">
            <a:normAutofit lnSpcReduction="10000"/>
          </a:bodyPr>
          <a:lstStyle/>
          <a:p>
            <a:r>
              <a:rPr lang="en-US" sz="1500" b="1">
                <a:solidFill>
                  <a:srgbClr val="001D35"/>
                </a:solidFill>
                <a:highlight>
                  <a:srgbClr val="FFFFFF"/>
                </a:highlight>
                <a:ea typeface="+mn-lt"/>
                <a:cs typeface="+mn-lt"/>
              </a:rPr>
              <a:t>Microsoft Entra Authentication (Recommended)</a:t>
            </a:r>
            <a:endParaRPr lang="en-US">
              <a:ea typeface="Calibri" panose="020F0502020204030204"/>
              <a:cs typeface="Calibri" panose="020F0502020204030204"/>
            </a:endParaRPr>
          </a:p>
          <a:p>
            <a:r>
              <a:rPr lang="en-US" sz="1600" dirty="0">
                <a:solidFill>
                  <a:srgbClr val="0A0A0A"/>
                </a:solidFill>
                <a:highlight>
                  <a:srgbClr val="FFFFFF"/>
                </a:highlight>
                <a:ea typeface="+mn-lt"/>
                <a:cs typeface="+mn-lt"/>
              </a:rPr>
              <a:t>This is a centralized identity management system that eliminates the need for storing passwords in connection strings. It supports several specific modes: </a:t>
            </a:r>
            <a:endParaRPr lang="en-US" sz="1600">
              <a:ea typeface="Calibri"/>
              <a:cs typeface="Calibri"/>
            </a:endParaRPr>
          </a:p>
          <a:p>
            <a:pPr marL="0" indent="0">
              <a:buNone/>
            </a:pPr>
            <a:endParaRPr lang="en-US" sz="1600" dirty="0">
              <a:solidFill>
                <a:srgbClr val="545D7E"/>
              </a:solidFill>
              <a:highlight>
                <a:srgbClr val="E5EDFF"/>
              </a:highlight>
              <a:ea typeface="Calibri"/>
              <a:cs typeface="Calibri"/>
            </a:endParaRPr>
          </a:p>
          <a:p>
            <a:r>
              <a:rPr lang="en-US" sz="1600" b="1">
                <a:solidFill>
                  <a:srgbClr val="0A0A0A"/>
                </a:solidFill>
                <a:highlight>
                  <a:srgbClr val="FFFFFF"/>
                </a:highlight>
                <a:ea typeface="+mn-lt"/>
                <a:cs typeface="+mn-lt"/>
              </a:rPr>
              <a:t>Microsoft Entra MFA (Interactive):</a:t>
            </a:r>
            <a:r>
              <a:rPr lang="en-US" sz="1600">
                <a:solidFill>
                  <a:srgbClr val="0A0A0A"/>
                </a:solidFill>
                <a:highlight>
                  <a:srgbClr val="FFFFFF"/>
                </a:highlight>
                <a:ea typeface="+mn-lt"/>
                <a:cs typeface="+mn-lt"/>
              </a:rPr>
              <a:t> Requires </a:t>
            </a:r>
            <a:r>
              <a:rPr lang="en-US" sz="1600" u="sng" dirty="0">
                <a:solidFill>
                  <a:srgbClr val="1A0DAB"/>
                </a:solidFill>
                <a:highlight>
                  <a:srgbClr val="FFFFFF"/>
                </a:highlight>
                <a:ea typeface="+mn-lt"/>
                <a:cs typeface="+mn-lt"/>
                <a:hlinkClick r:id="rId2"/>
              </a:rPr>
              <a:t>Multi-Factor Authentication</a:t>
            </a:r>
            <a:r>
              <a:rPr lang="en-US" sz="1600">
                <a:solidFill>
                  <a:srgbClr val="0A0A0A"/>
                </a:solidFill>
                <a:highlight>
                  <a:srgbClr val="FFFFFF"/>
                </a:highlight>
                <a:ea typeface="+mn-lt"/>
                <a:cs typeface="+mn-lt"/>
              </a:rPr>
              <a:t> such as a phone call, text, or the Microsoft Authenticator app.</a:t>
            </a:r>
            <a:endParaRPr lang="en-US" sz="1600">
              <a:ea typeface="Calibri"/>
              <a:cs typeface="Calibri"/>
            </a:endParaRPr>
          </a:p>
          <a:p>
            <a:r>
              <a:rPr lang="en-US" sz="1600" b="1" dirty="0">
                <a:solidFill>
                  <a:srgbClr val="0A0A0A"/>
                </a:solidFill>
                <a:highlight>
                  <a:srgbClr val="FFFFFF"/>
                </a:highlight>
                <a:ea typeface="+mn-lt"/>
                <a:cs typeface="+mn-lt"/>
              </a:rPr>
              <a:t>Managed Identity:</a:t>
            </a:r>
            <a:r>
              <a:rPr lang="en-US" sz="1600" dirty="0">
                <a:solidFill>
                  <a:srgbClr val="0A0A0A"/>
                </a:solidFill>
                <a:highlight>
                  <a:srgbClr val="FFFFFF"/>
                </a:highlight>
                <a:ea typeface="+mn-lt"/>
                <a:cs typeface="+mn-lt"/>
              </a:rPr>
              <a:t> Enables Azure resources (like VMs or App Services) to connect </a:t>
            </a:r>
            <a:r>
              <a:rPr lang="en-US" sz="1600" dirty="0" err="1">
                <a:solidFill>
                  <a:srgbClr val="0A0A0A"/>
                </a:solidFill>
                <a:highlight>
                  <a:srgbClr val="FFFFFF"/>
                </a:highlight>
                <a:ea typeface="+mn-lt"/>
                <a:cs typeface="+mn-lt"/>
              </a:rPr>
              <a:t>passwordlessly</a:t>
            </a:r>
            <a:r>
              <a:rPr lang="en-US" sz="1600" dirty="0">
                <a:solidFill>
                  <a:srgbClr val="0A0A0A"/>
                </a:solidFill>
                <a:highlight>
                  <a:srgbClr val="FFFFFF"/>
                </a:highlight>
                <a:ea typeface="+mn-lt"/>
                <a:cs typeface="+mn-lt"/>
              </a:rPr>
              <a:t>. This is the </a:t>
            </a:r>
            <a:r>
              <a:rPr lang="en-US" sz="1600" b="1" dirty="0">
                <a:solidFill>
                  <a:srgbClr val="0A0A0A"/>
                </a:solidFill>
                <a:highlight>
                  <a:srgbClr val="FFFFFF"/>
                </a:highlight>
                <a:ea typeface="+mn-lt"/>
                <a:cs typeface="+mn-lt"/>
              </a:rPr>
              <a:t>most secure</a:t>
            </a:r>
            <a:r>
              <a:rPr lang="en-US" sz="1600" dirty="0">
                <a:solidFill>
                  <a:srgbClr val="0A0A0A"/>
                </a:solidFill>
                <a:highlight>
                  <a:srgbClr val="FFFFFF"/>
                </a:highlight>
                <a:ea typeface="+mn-lt"/>
                <a:cs typeface="+mn-lt"/>
              </a:rPr>
              <a:t> method for service-to-service communication.</a:t>
            </a:r>
            <a:endParaRPr lang="en-US" sz="1600">
              <a:ea typeface="Calibri"/>
              <a:cs typeface="Calibri"/>
            </a:endParaRPr>
          </a:p>
          <a:p>
            <a:r>
              <a:rPr lang="en-US" sz="1600" b="1">
                <a:solidFill>
                  <a:srgbClr val="0A0A0A"/>
                </a:solidFill>
                <a:highlight>
                  <a:srgbClr val="FFFFFF"/>
                </a:highlight>
                <a:ea typeface="+mn-lt"/>
                <a:cs typeface="+mn-lt"/>
              </a:rPr>
              <a:t>Microsoft Entra Integrated:</a:t>
            </a:r>
            <a:r>
              <a:rPr lang="en-US" sz="1600">
                <a:solidFill>
                  <a:srgbClr val="0A0A0A"/>
                </a:solidFill>
                <a:highlight>
                  <a:srgbClr val="FFFFFF"/>
                </a:highlight>
                <a:ea typeface="+mn-lt"/>
                <a:cs typeface="+mn-lt"/>
              </a:rPr>
              <a:t> Uses Windows credentials from a domain-joined machine that is federated with Entra ID, enabling Seamless Single Sign-On (SSO).</a:t>
            </a:r>
            <a:endParaRPr lang="en-US" sz="1600">
              <a:ea typeface="Calibri"/>
              <a:cs typeface="Calibri"/>
            </a:endParaRPr>
          </a:p>
          <a:p>
            <a:r>
              <a:rPr lang="en-US" sz="1600" b="1">
                <a:solidFill>
                  <a:srgbClr val="0A0A0A"/>
                </a:solidFill>
                <a:highlight>
                  <a:srgbClr val="FFFFFF"/>
                </a:highlight>
                <a:ea typeface="+mn-lt"/>
                <a:cs typeface="+mn-lt"/>
              </a:rPr>
              <a:t>Microsoft Entra Password (Deprecated):</a:t>
            </a:r>
            <a:r>
              <a:rPr lang="en-US" sz="1600">
                <a:solidFill>
                  <a:srgbClr val="0A0A0A"/>
                </a:solidFill>
                <a:highlight>
                  <a:srgbClr val="FFFFFF"/>
                </a:highlight>
                <a:ea typeface="+mn-lt"/>
                <a:cs typeface="+mn-lt"/>
              </a:rPr>
              <a:t> Uses Entra ID usernames and passwords. It is being deprecated in favor of more secure interactive or managed identity methods.</a:t>
            </a:r>
            <a:endParaRPr lang="en-US" sz="1600">
              <a:ea typeface="Calibri"/>
              <a:cs typeface="Calibri"/>
            </a:endParaRPr>
          </a:p>
          <a:p>
            <a:r>
              <a:rPr lang="en-US" sz="1600" b="1">
                <a:solidFill>
                  <a:srgbClr val="0A0A0A"/>
                </a:solidFill>
                <a:highlight>
                  <a:srgbClr val="FFFFFF"/>
                </a:highlight>
                <a:ea typeface="+mn-lt"/>
                <a:cs typeface="+mn-lt"/>
              </a:rPr>
              <a:t>Service Principal:</a:t>
            </a:r>
            <a:r>
              <a:rPr lang="en-US" sz="1600">
                <a:solidFill>
                  <a:srgbClr val="0A0A0A"/>
                </a:solidFill>
                <a:highlight>
                  <a:srgbClr val="FFFFFF"/>
                </a:highlight>
                <a:ea typeface="+mn-lt"/>
                <a:cs typeface="+mn-lt"/>
              </a:rPr>
              <a:t> Uses a registered application's Client ID and Secret (or certificate) for automated tools and background jobs.</a:t>
            </a:r>
            <a:endParaRPr lang="en-US" sz="1600">
              <a:ea typeface="Calibri"/>
              <a:cs typeface="Calibri"/>
            </a:endParaRPr>
          </a:p>
          <a:p>
            <a:r>
              <a:rPr lang="en-US" sz="1600" b="1">
                <a:solidFill>
                  <a:srgbClr val="0A0A0A"/>
                </a:solidFill>
                <a:highlight>
                  <a:srgbClr val="FFFFFF"/>
                </a:highlight>
                <a:ea typeface="+mn-lt"/>
                <a:cs typeface="+mn-lt"/>
              </a:rPr>
              <a:t>Default Authentication:</a:t>
            </a:r>
            <a:r>
              <a:rPr lang="en-US" sz="1600">
                <a:solidFill>
                  <a:srgbClr val="0A0A0A"/>
                </a:solidFill>
                <a:highlight>
                  <a:srgbClr val="FFFFFF"/>
                </a:highlight>
                <a:ea typeface="+mn-lt"/>
                <a:cs typeface="+mn-lt"/>
              </a:rPr>
              <a:t> A versatile mode that automatically tries multiple methods (Managed Identity, Environment variables, CLI credentials) depending on the environment</a:t>
            </a:r>
            <a:endParaRPr lang="en-US" sz="1600"/>
          </a:p>
          <a:p>
            <a:pPr marL="0" indent="0">
              <a:buNone/>
            </a:pPr>
            <a:endParaRPr lang="en-US" dirty="0">
              <a:ea typeface="Calibri"/>
              <a:cs typeface="Calibri"/>
            </a:endParaRPr>
          </a:p>
        </p:txBody>
      </p:sp>
    </p:spTree>
    <p:extLst>
      <p:ext uri="{BB962C8B-B14F-4D97-AF65-F5344CB8AC3E}">
        <p14:creationId xmlns:p14="http://schemas.microsoft.com/office/powerpoint/2010/main" val="3946591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F73E194-C371-0E61-FEF7-8F378C72BD7F}"/>
              </a:ext>
            </a:extLst>
          </p:cNvPr>
          <p:cNvPicPr>
            <a:picLocks noChangeAspect="1"/>
          </p:cNvPicPr>
          <p:nvPr/>
        </p:nvPicPr>
        <p:blipFill>
          <a:blip r:embed="rId2">
            <a:duotone>
              <a:schemeClr val="bg2">
                <a:shade val="45000"/>
                <a:satMod val="135000"/>
              </a:schemeClr>
              <a:prstClr val="white"/>
            </a:duotone>
          </a:blip>
          <a:srcRect t="9092" r="9085" b="-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56FD98-4EA7-27D4-F019-36F620674A33}"/>
              </a:ext>
            </a:extLst>
          </p:cNvPr>
          <p:cNvSpPr>
            <a:spLocks noGrp="1"/>
          </p:cNvSpPr>
          <p:nvPr>
            <p:ph type="title"/>
          </p:nvPr>
        </p:nvSpPr>
        <p:spPr>
          <a:xfrm>
            <a:off x="838200" y="365125"/>
            <a:ext cx="10515600" cy="1325563"/>
          </a:xfrm>
        </p:spPr>
        <p:txBody>
          <a:bodyPr>
            <a:normAutofit/>
          </a:bodyPr>
          <a:lstStyle/>
          <a:p>
            <a:r>
              <a:rPr lang="en-US" dirty="0">
                <a:ea typeface="Calibri Light"/>
                <a:cs typeface="Calibri Light"/>
              </a:rPr>
              <a:t>Overview of Azure SQL Security Best </a:t>
            </a:r>
            <a:r>
              <a:rPr lang="en-US">
                <a:ea typeface="Calibri Light"/>
                <a:cs typeface="Calibri Light"/>
              </a:rPr>
              <a:t>Practices</a:t>
            </a:r>
            <a:endParaRPr lang="en-US"/>
          </a:p>
        </p:txBody>
      </p:sp>
      <p:sp>
        <p:nvSpPr>
          <p:cNvPr id="39" name="Content Placeholder 38">
            <a:extLst>
              <a:ext uri="{FF2B5EF4-FFF2-40B4-BE49-F238E27FC236}">
                <a16:creationId xmlns:a16="http://schemas.microsoft.com/office/drawing/2014/main" id="{A424F2B3-A238-ADA4-518F-135FFE3A877B}"/>
              </a:ext>
            </a:extLst>
          </p:cNvPr>
          <p:cNvSpPr>
            <a:spLocks noGrp="1"/>
          </p:cNvSpPr>
          <p:nvPr>
            <p:ph idx="1"/>
          </p:nvPr>
        </p:nvSpPr>
        <p:spPr/>
        <p:txBody>
          <a:bodyPr vert="horz" lIns="91440" tIns="45720" rIns="91440" bIns="45720" rtlCol="0" anchor="t">
            <a:normAutofit/>
          </a:bodyPr>
          <a:lstStyle/>
          <a:p>
            <a:r>
              <a:rPr lang="en-US" sz="2000" b="1">
                <a:solidFill>
                  <a:srgbClr val="0A0A0A"/>
                </a:solidFill>
                <a:highlight>
                  <a:srgbClr val="FFFFFF"/>
                </a:highlight>
                <a:ea typeface="+mn-lt"/>
                <a:cs typeface="+mn-lt"/>
              </a:rPr>
              <a:t>Microsoft Entra-Only Authentication:</a:t>
            </a:r>
            <a:r>
              <a:rPr lang="en-US" sz="2000">
                <a:solidFill>
                  <a:srgbClr val="0A0A0A"/>
                </a:solidFill>
                <a:highlight>
                  <a:srgbClr val="FFFFFF"/>
                </a:highlight>
                <a:ea typeface="+mn-lt"/>
                <a:cs typeface="+mn-lt"/>
              </a:rPr>
              <a:t> You can disable SQL Authentication entirely to ensure only Entra ID identities can access the server.</a:t>
            </a:r>
            <a:endParaRPr lang="en-US" sz="2000">
              <a:ea typeface="Calibri" panose="020F0502020204030204"/>
              <a:cs typeface="Calibri" panose="020F0502020204030204"/>
            </a:endParaRPr>
          </a:p>
          <a:p>
            <a:r>
              <a:rPr lang="en-US" sz="2000" b="1">
                <a:solidFill>
                  <a:srgbClr val="0A0A0A"/>
                </a:solidFill>
                <a:highlight>
                  <a:srgbClr val="FFFFFF"/>
                </a:highlight>
                <a:ea typeface="+mn-lt"/>
                <a:cs typeface="+mn-lt"/>
              </a:rPr>
              <a:t>Least Privilege:</a:t>
            </a:r>
            <a:r>
              <a:rPr lang="en-US" sz="2000">
                <a:solidFill>
                  <a:srgbClr val="0A0A0A"/>
                </a:solidFill>
                <a:highlight>
                  <a:srgbClr val="FFFFFF"/>
                </a:highlight>
                <a:ea typeface="+mn-lt"/>
                <a:cs typeface="+mn-lt"/>
              </a:rPr>
              <a:t> Use Azure RBAC for management operations and database-level roles for data access.</a:t>
            </a:r>
            <a:endParaRPr lang="en-US" sz="2000">
              <a:ea typeface="Calibri"/>
              <a:cs typeface="Calibri"/>
            </a:endParaRPr>
          </a:p>
          <a:p>
            <a:r>
              <a:rPr lang="en-US" sz="2000" b="1">
                <a:solidFill>
                  <a:srgbClr val="0A0A0A"/>
                </a:solidFill>
                <a:highlight>
                  <a:srgbClr val="FFFFFF"/>
                </a:highlight>
                <a:ea typeface="+mn-lt"/>
                <a:cs typeface="+mn-lt"/>
              </a:rPr>
              <a:t>Group Management:</a:t>
            </a:r>
            <a:r>
              <a:rPr lang="en-US" sz="2000">
                <a:solidFill>
                  <a:srgbClr val="0A0A0A"/>
                </a:solidFill>
                <a:highlight>
                  <a:srgbClr val="FFFFFF"/>
                </a:highlight>
                <a:ea typeface="+mn-lt"/>
                <a:cs typeface="+mn-lt"/>
              </a:rPr>
              <a:t> Assign permissions to </a:t>
            </a:r>
            <a:r>
              <a:rPr lang="en-US" sz="2000" b="1">
                <a:solidFill>
                  <a:srgbClr val="0A0A0A"/>
                </a:solidFill>
                <a:highlight>
                  <a:srgbClr val="FFFFFF"/>
                </a:highlight>
                <a:ea typeface="+mn-lt"/>
                <a:cs typeface="+mn-lt"/>
              </a:rPr>
              <a:t>Microsoft Entra Groups</a:t>
            </a:r>
            <a:r>
              <a:rPr lang="en-US" sz="2000">
                <a:solidFill>
                  <a:srgbClr val="0A0A0A"/>
                </a:solidFill>
                <a:highlight>
                  <a:srgbClr val="FFFFFF"/>
                </a:highlight>
                <a:ea typeface="+mn-lt"/>
                <a:cs typeface="+mn-lt"/>
              </a:rPr>
              <a:t> rather than individual users to simplify administration.</a:t>
            </a:r>
            <a:endParaRPr lang="en-US" sz="2000"/>
          </a:p>
          <a:p>
            <a:endParaRPr lang="en-US" dirty="0">
              <a:ea typeface="Calibri"/>
              <a:cs typeface="Calibri"/>
            </a:endParaRPr>
          </a:p>
        </p:txBody>
      </p:sp>
    </p:spTree>
    <p:extLst>
      <p:ext uri="{BB962C8B-B14F-4D97-AF65-F5344CB8AC3E}">
        <p14:creationId xmlns:p14="http://schemas.microsoft.com/office/powerpoint/2010/main" val="2296701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a:ea typeface="Calibri"/>
                <a:cs typeface="Calibri"/>
              </a:rPr>
              <a:t>SQL Server Security </a:t>
            </a:r>
            <a:endParaRPr lang="en-US"/>
          </a:p>
          <a:p>
            <a:pPr marL="0" indent="0">
              <a:buNone/>
            </a:pPr>
            <a:endParaRPr lang="en-US" dirty="0">
              <a:ea typeface="Calibri"/>
              <a:cs typeface="Calibri"/>
            </a:endParaRPr>
          </a:p>
          <a:p>
            <a:r>
              <a:rPr lang="en-US" dirty="0">
                <a:ea typeface="Calibri"/>
                <a:cs typeface="Calibri"/>
              </a:rPr>
              <a:t>SQL Server </a:t>
            </a:r>
            <a:r>
              <a:rPr lang="en-US">
                <a:ea typeface="Calibri"/>
                <a:cs typeface="Calibri"/>
              </a:rPr>
              <a:t>Authentication &amp; Authorization </a:t>
            </a:r>
            <a:endParaRPr lang="en-US" dirty="0">
              <a:ea typeface="Calibri"/>
              <a:cs typeface="Calibri"/>
            </a:endParaRPr>
          </a:p>
          <a:p>
            <a:pPr marL="0" indent="0">
              <a:buNone/>
            </a:pPr>
            <a:endParaRPr lang="en-US" dirty="0">
              <a:ea typeface="Calibri"/>
              <a:cs typeface="Calibri"/>
            </a:endParaRPr>
          </a:p>
          <a:p>
            <a:r>
              <a:rPr lang="en-US">
                <a:ea typeface="Calibri"/>
                <a:cs typeface="Calibri"/>
              </a:rPr>
              <a:t>SQL Server Backup &amp; Restore </a:t>
            </a:r>
          </a:p>
          <a:p>
            <a:pPr marL="0" indent="0">
              <a:buNone/>
            </a:pPr>
            <a:endParaRPr lang="en-US" dirty="0">
              <a:ea typeface="Calibri"/>
              <a:cs typeface="Calibri"/>
            </a:endParaRPr>
          </a:p>
          <a:p>
            <a:r>
              <a:rPr lang="en-US">
                <a:ea typeface="Calibri"/>
                <a:cs typeface="Calibri"/>
              </a:rPr>
              <a:t> Azure SQL Security &amp; Authentication</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435</TotalTime>
  <Words>3548</Words>
  <Application>Microsoft Office PowerPoint</Application>
  <PresentationFormat>Widescreen</PresentationFormat>
  <Paragraphs>189</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Consolas</vt:lpstr>
      <vt:lpstr>Segoe UI</vt:lpstr>
      <vt:lpstr>Wingdings</vt:lpstr>
      <vt:lpstr>Office 2013 - 2022 Theme</vt:lpstr>
      <vt:lpstr>SQL Server Administration &amp; Azure Data Engineering</vt:lpstr>
      <vt:lpstr>Agenda</vt:lpstr>
      <vt:lpstr>SQL Server Platform Security </vt:lpstr>
      <vt:lpstr>SQL Database Platform Security</vt:lpstr>
      <vt:lpstr>SQL Server Security – IAM &amp; Access Management</vt:lpstr>
      <vt:lpstr>SQL Server Data Protection</vt:lpstr>
      <vt:lpstr>SQL Server Security Best Practice</vt:lpstr>
      <vt:lpstr>SQL Server Security Best Practice</vt:lpstr>
      <vt:lpstr>SQL Server Identity &amp; Access</vt:lpstr>
      <vt:lpstr>Difference Between Clustered Columnstore &amp; NonClustered Columnstore Index</vt:lpstr>
      <vt:lpstr>SQL Server Authentication &amp; Authorization</vt:lpstr>
      <vt:lpstr>SQL Server Logins</vt:lpstr>
      <vt:lpstr>Certificate based SQL Server Logins</vt:lpstr>
      <vt:lpstr>SQL Server Database Backup</vt:lpstr>
      <vt:lpstr>SQL Server Backup Strategies</vt:lpstr>
      <vt:lpstr>SQL Server Backup</vt:lpstr>
      <vt:lpstr>SQL Server Backup Strategies</vt:lpstr>
      <vt:lpstr>SQL Server Restore Overview</vt:lpstr>
      <vt:lpstr>SQL Server Recovery</vt:lpstr>
      <vt:lpstr>Azure SQL Server Security</vt:lpstr>
      <vt:lpstr>Azure SQL Server Authentication</vt:lpstr>
      <vt:lpstr>Azure SQL Server Authentication</vt:lpstr>
      <vt:lpstr>Overview of Azure SQL Security Best Practices</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108</cp:revision>
  <dcterms:created xsi:type="dcterms:W3CDTF">2026-04-11T17:33:10Z</dcterms:created>
  <dcterms:modified xsi:type="dcterms:W3CDTF">2026-04-16T23:13:39Z</dcterms:modified>
</cp:coreProperties>
</file>