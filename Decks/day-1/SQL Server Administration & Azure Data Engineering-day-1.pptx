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CB9DF4-AF16-F848-E5C8-FCC2AFB4A77C}" v="225" dt="2026-04-12T09:50:41.797"/>
    <p1510:client id="{09B40EAC-CC0A-5485-BCEE-37BDB29D673B}" v="625" dt="2026-04-12T15:19:31.891"/>
    <p1510:client id="{11D647AD-CFD1-6FBF-DBE3-A2523D9E3428}" v="31" dt="2026-04-12T09:59:21.469"/>
    <p1510:client id="{8E27CCB5-6C49-4662-9DFA-5F0873AFAD9D}" v="6" dt="2026-04-12T07:12:48.385"/>
    <p1510:client id="{E5DF0B76-E98F-2D85-D1E5-931E795B41E8}" v="719" dt="2026-04-12T15:32:04.6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hyperlink" Target="https://learn.microsoft.com/en-us/sql/database-engine/configure-windows/configure-client-protocols?view=sql-server-ver17" TargetMode="External"/><Relationship Id="rId4" Type="http://schemas.openxmlformats.org/officeDocument/2006/relationships/image" Target="../media/image12.svg"/></Relationships>
</file>

<file path=ppt/diagrams/_rels/data3.xml.rels><?xml version="1.0" encoding="UTF-8" standalone="yes"?>
<Relationships xmlns="http://schemas.openxmlformats.org/package/2006/relationships"><Relationship Id="rId3" Type="http://schemas.openxmlformats.org/officeDocument/2006/relationships/hyperlink" Target="https://learn.microsoft.com/en-us/sql/sql-server/sql-server-technical-documentation" TargetMode="External"/><Relationship Id="rId7" Type="http://schemas.openxmlformats.org/officeDocument/2006/relationships/hyperlink" Target="https://learn.microsoft.com/en-us/azure/azure-sql/database/service-tiers-dtu?view=azuresql" TargetMode="External"/><Relationship Id="rId2" Type="http://schemas.openxmlformats.org/officeDocument/2006/relationships/hyperlink" Target="https://learn.microsoft.com/en-us/azure/azure-sql/database/high-availability-sla-local-zone-redundancy?view=azuresql" TargetMode="External"/><Relationship Id="rId1" Type="http://schemas.openxmlformats.org/officeDocument/2006/relationships/hyperlink" Target="https://www.microsoft.com/licensing/docs/view/Service-Level-Agreements-SLA-for-Online-Services?lang=1" TargetMode="External"/><Relationship Id="rId6" Type="http://schemas.openxmlformats.org/officeDocument/2006/relationships/hyperlink" Target="https://learn.microsoft.com/en-us/azure/azure-sql/database/service-tiers-vcore?view=azuresql" TargetMode="External"/><Relationship Id="rId5" Type="http://schemas.openxmlformats.org/officeDocument/2006/relationships/hyperlink" Target="https://learn.microsoft.com/en-us/sql/relational-databases/performance/intelligent-query-processing" TargetMode="External"/><Relationship Id="rId4" Type="http://schemas.openxmlformats.org/officeDocument/2006/relationships/hyperlink" Target="https://learn.microsoft.com/en-us/azure/azure-sql/database/in-memory-oltp-overview?view=azuresql" TargetMode="External"/></Relationships>
</file>

<file path=ppt/diagrams/_rels/drawing2.xml.rels><?xml version="1.0" encoding="UTF-8" standalone="yes"?>
<Relationships xmlns="http://schemas.openxmlformats.org/package/2006/relationships"><Relationship Id="rId3" Type="http://schemas.openxmlformats.org/officeDocument/2006/relationships/hyperlink" Target="https://learn.microsoft.com/en-us/sql/database-engine/configure-windows/configure-client-protocols?view=sql-server-ver17" TargetMode="External"/><Relationship Id="rId2" Type="http://schemas.openxmlformats.org/officeDocument/2006/relationships/image" Target="../media/image11.svg"/><Relationship Id="rId1" Type="http://schemas.openxmlformats.org/officeDocument/2006/relationships/image" Target="../media/image10.svg"/><Relationship Id="rId4" Type="http://schemas.openxmlformats.org/officeDocument/2006/relationships/image" Target="../media/image12.svg"/></Relationships>
</file>

<file path=ppt/diagrams/_rels/drawing3.xml.rels><?xml version="1.0" encoding="UTF-8" standalone="yes"?>
<Relationships xmlns="http://schemas.openxmlformats.org/package/2006/relationships"><Relationship Id="rId3" Type="http://schemas.openxmlformats.org/officeDocument/2006/relationships/hyperlink" Target="https://learn.microsoft.com/en-us/sql/sql-server/sql-server-technical-documentation" TargetMode="External"/><Relationship Id="rId7" Type="http://schemas.openxmlformats.org/officeDocument/2006/relationships/hyperlink" Target="https://learn.microsoft.com/en-us/azure/azure-sql/database/service-tiers-dtu?view=azuresql" TargetMode="External"/><Relationship Id="rId2" Type="http://schemas.openxmlformats.org/officeDocument/2006/relationships/hyperlink" Target="https://learn.microsoft.com/en-us/azure/azure-sql/database/high-availability-sla-local-zone-redundancy?view=azuresql" TargetMode="External"/><Relationship Id="rId1" Type="http://schemas.openxmlformats.org/officeDocument/2006/relationships/hyperlink" Target="https://www.microsoft.com/licensing/docs/view/Service-Level-Agreements-SLA-for-Online-Services?lang=1" TargetMode="External"/><Relationship Id="rId6" Type="http://schemas.openxmlformats.org/officeDocument/2006/relationships/hyperlink" Target="https://learn.microsoft.com/en-us/azure/azure-sql/database/service-tiers-vcore?view=azuresql" TargetMode="External"/><Relationship Id="rId5" Type="http://schemas.openxmlformats.org/officeDocument/2006/relationships/hyperlink" Target="https://learn.microsoft.com/en-us/sql/relational-databases/performance/intelligent-query-processing" TargetMode="External"/><Relationship Id="rId4" Type="http://schemas.openxmlformats.org/officeDocument/2006/relationships/hyperlink" Target="https://learn.microsoft.com/en-us/azure/azure-sql/database/in-memory-oltp-overview?view=azuresql" TargetMode="Externa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4D5A9C7-6744-45E1-A14F-5EC095D93CC4}" type="doc">
      <dgm:prSet loTypeId="urn:microsoft.com/office/officeart/2016/7/layout/RepeatingBendingProcessNew" loCatId="process" qsTypeId="urn:microsoft.com/office/officeart/2005/8/quickstyle/simple1" qsCatId="simple" csTypeId="urn:microsoft.com/office/officeart/2005/8/colors/colorful1" csCatId="colorful"/>
      <dgm:spPr/>
      <dgm:t>
        <a:bodyPr/>
        <a:lstStyle/>
        <a:p>
          <a:endParaRPr lang="en-US"/>
        </a:p>
      </dgm:t>
    </dgm:pt>
    <dgm:pt modelId="{B44639B8-0F18-4A2B-88D7-B4CE5AC9DD70}">
      <dgm:prSet/>
      <dgm:spPr/>
      <dgm:t>
        <a:bodyPr/>
        <a:lstStyle/>
        <a:p>
          <a:r>
            <a:rPr lang="en-US" b="1"/>
            <a:t>Simplify complex data models</a:t>
          </a:r>
          <a:endParaRPr lang="en-US"/>
        </a:p>
      </dgm:t>
    </dgm:pt>
    <dgm:pt modelId="{3DE82C0B-B16A-4AA4-AE7A-589CBE78649C}" type="parTrans" cxnId="{5BBAC34B-1A13-4334-887C-8D2E05E45A25}">
      <dgm:prSet/>
      <dgm:spPr/>
      <dgm:t>
        <a:bodyPr/>
        <a:lstStyle/>
        <a:p>
          <a:endParaRPr lang="en-US"/>
        </a:p>
      </dgm:t>
    </dgm:pt>
    <dgm:pt modelId="{613570C2-F46F-4064-9D67-B751F3ECAA0C}" type="sibTrans" cxnId="{5BBAC34B-1A13-4334-887C-8D2E05E45A25}">
      <dgm:prSet/>
      <dgm:spPr/>
      <dgm:t>
        <a:bodyPr/>
        <a:lstStyle/>
        <a:p>
          <a:endParaRPr lang="en-US"/>
        </a:p>
      </dgm:t>
    </dgm:pt>
    <dgm:pt modelId="{CB404DC4-DF6D-432C-AF48-2089219F1C79}">
      <dgm:prSet/>
      <dgm:spPr/>
      <dgm:t>
        <a:bodyPr/>
        <a:lstStyle/>
        <a:p>
          <a:r>
            <a:rPr lang="en-US"/>
            <a:t>Consider denormalizing your data model with JSON fields in place of multiple child tables.</a:t>
          </a:r>
        </a:p>
      </dgm:t>
    </dgm:pt>
    <dgm:pt modelId="{361D8AAE-8EE5-4392-A364-3E84010CD156}" type="parTrans" cxnId="{0CDE921E-8422-40FA-8022-2F78FD0AB366}">
      <dgm:prSet/>
      <dgm:spPr/>
      <dgm:t>
        <a:bodyPr/>
        <a:lstStyle/>
        <a:p>
          <a:endParaRPr lang="en-US"/>
        </a:p>
      </dgm:t>
    </dgm:pt>
    <dgm:pt modelId="{0CCA36F7-B09E-4738-8AA6-20FB85DCDB69}" type="sibTrans" cxnId="{0CDE921E-8422-40FA-8022-2F78FD0AB366}">
      <dgm:prSet/>
      <dgm:spPr/>
      <dgm:t>
        <a:bodyPr/>
        <a:lstStyle/>
        <a:p>
          <a:endParaRPr lang="en-US"/>
        </a:p>
      </dgm:t>
    </dgm:pt>
    <dgm:pt modelId="{69FFEA78-19E4-4E0D-9A73-CA44B9D5BF0D}">
      <dgm:prSet/>
      <dgm:spPr/>
      <dgm:t>
        <a:bodyPr/>
        <a:lstStyle/>
        <a:p>
          <a:r>
            <a:rPr lang="en-US" b="1"/>
            <a:t>Store retail and e-commerce data</a:t>
          </a:r>
          <a:endParaRPr lang="en-US"/>
        </a:p>
      </dgm:t>
    </dgm:pt>
    <dgm:pt modelId="{3685F31F-322B-4057-BADE-567D30690846}" type="parTrans" cxnId="{92A817AF-F9A4-4847-8644-81FBE9DE190E}">
      <dgm:prSet/>
      <dgm:spPr/>
      <dgm:t>
        <a:bodyPr/>
        <a:lstStyle/>
        <a:p>
          <a:endParaRPr lang="en-US"/>
        </a:p>
      </dgm:t>
    </dgm:pt>
    <dgm:pt modelId="{CA66E38C-A5D3-43CA-A15C-596CF1B31169}" type="sibTrans" cxnId="{92A817AF-F9A4-4847-8644-81FBE9DE190E}">
      <dgm:prSet/>
      <dgm:spPr/>
      <dgm:t>
        <a:bodyPr/>
        <a:lstStyle/>
        <a:p>
          <a:endParaRPr lang="en-US"/>
        </a:p>
      </dgm:t>
    </dgm:pt>
    <dgm:pt modelId="{998681DB-EE5B-49C0-95BE-D0BB0BBC50B1}">
      <dgm:prSet/>
      <dgm:spPr/>
      <dgm:t>
        <a:bodyPr/>
        <a:lstStyle/>
        <a:p>
          <a:r>
            <a:rPr lang="en-US"/>
            <a:t>Store info about products with a wide range of variable attributes in a denormalized model for flexibility.</a:t>
          </a:r>
        </a:p>
      </dgm:t>
    </dgm:pt>
    <dgm:pt modelId="{33666ABA-4058-43F7-AB23-9EEA6600D70C}" type="parTrans" cxnId="{21DC4DBA-783C-4FB5-9BE6-3320E830238B}">
      <dgm:prSet/>
      <dgm:spPr/>
      <dgm:t>
        <a:bodyPr/>
        <a:lstStyle/>
        <a:p>
          <a:endParaRPr lang="en-US"/>
        </a:p>
      </dgm:t>
    </dgm:pt>
    <dgm:pt modelId="{F1778610-F309-4DD8-A860-5353625BB9F0}" type="sibTrans" cxnId="{21DC4DBA-783C-4FB5-9BE6-3320E830238B}">
      <dgm:prSet/>
      <dgm:spPr/>
      <dgm:t>
        <a:bodyPr/>
        <a:lstStyle/>
        <a:p>
          <a:endParaRPr lang="en-US"/>
        </a:p>
      </dgm:t>
    </dgm:pt>
    <dgm:pt modelId="{E0EEC3E2-FDA5-452D-B026-817F4E5973C4}">
      <dgm:prSet/>
      <dgm:spPr/>
      <dgm:t>
        <a:bodyPr/>
        <a:lstStyle/>
        <a:p>
          <a:r>
            <a:rPr lang="en-US" b="1"/>
            <a:t>Process log and telemetry data</a:t>
          </a:r>
          <a:endParaRPr lang="en-US"/>
        </a:p>
      </dgm:t>
    </dgm:pt>
    <dgm:pt modelId="{CC463D01-7895-4A0C-A3CD-4CABC3984C36}" type="parTrans" cxnId="{B51D4F55-78DF-454F-8E12-34EDB99514B0}">
      <dgm:prSet/>
      <dgm:spPr/>
      <dgm:t>
        <a:bodyPr/>
        <a:lstStyle/>
        <a:p>
          <a:endParaRPr lang="en-US"/>
        </a:p>
      </dgm:t>
    </dgm:pt>
    <dgm:pt modelId="{A903F356-5E44-48A2-A5A9-E24B69CF9E3B}" type="sibTrans" cxnId="{B51D4F55-78DF-454F-8E12-34EDB99514B0}">
      <dgm:prSet/>
      <dgm:spPr/>
      <dgm:t>
        <a:bodyPr/>
        <a:lstStyle/>
        <a:p>
          <a:endParaRPr lang="en-US"/>
        </a:p>
      </dgm:t>
    </dgm:pt>
    <dgm:pt modelId="{7EA913BD-2E7E-4008-BD5C-A0EBA6C16794}">
      <dgm:prSet/>
      <dgm:spPr/>
      <dgm:t>
        <a:bodyPr/>
        <a:lstStyle/>
        <a:p>
          <a:r>
            <a:rPr lang="en-US"/>
            <a:t>Load, query, and analyze log data stored as JSON files with all the power of the Transact-SQL language.</a:t>
          </a:r>
        </a:p>
      </dgm:t>
    </dgm:pt>
    <dgm:pt modelId="{7A39334E-AD90-4864-9A83-A3C0029126F4}" type="parTrans" cxnId="{4B61AC2C-9C30-49C0-BD23-12711390EF19}">
      <dgm:prSet/>
      <dgm:spPr/>
      <dgm:t>
        <a:bodyPr/>
        <a:lstStyle/>
        <a:p>
          <a:endParaRPr lang="en-US"/>
        </a:p>
      </dgm:t>
    </dgm:pt>
    <dgm:pt modelId="{B7F745EA-A12F-4AFD-A85F-B83B6E77F09A}" type="sibTrans" cxnId="{4B61AC2C-9C30-49C0-BD23-12711390EF19}">
      <dgm:prSet/>
      <dgm:spPr/>
      <dgm:t>
        <a:bodyPr/>
        <a:lstStyle/>
        <a:p>
          <a:endParaRPr lang="en-US"/>
        </a:p>
      </dgm:t>
    </dgm:pt>
    <dgm:pt modelId="{D4553C21-DF29-4369-A4FA-3BB49F8FAC34}">
      <dgm:prSet/>
      <dgm:spPr/>
      <dgm:t>
        <a:bodyPr/>
        <a:lstStyle/>
        <a:p>
          <a:r>
            <a:rPr lang="en-US" b="1"/>
            <a:t>Store semi-structured IoT data</a:t>
          </a:r>
          <a:endParaRPr lang="en-US"/>
        </a:p>
      </dgm:t>
    </dgm:pt>
    <dgm:pt modelId="{6CFEB46B-03FB-4EAA-B546-AB430B6A605F}" type="parTrans" cxnId="{482CCEB3-668A-4385-8A75-541006B50931}">
      <dgm:prSet/>
      <dgm:spPr/>
      <dgm:t>
        <a:bodyPr/>
        <a:lstStyle/>
        <a:p>
          <a:endParaRPr lang="en-US"/>
        </a:p>
      </dgm:t>
    </dgm:pt>
    <dgm:pt modelId="{47109BAD-F92C-47A1-94C8-C33D1A6CF57E}" type="sibTrans" cxnId="{482CCEB3-668A-4385-8A75-541006B50931}">
      <dgm:prSet/>
      <dgm:spPr/>
      <dgm:t>
        <a:bodyPr/>
        <a:lstStyle/>
        <a:p>
          <a:endParaRPr lang="en-US"/>
        </a:p>
      </dgm:t>
    </dgm:pt>
    <dgm:pt modelId="{72732A3A-5555-4661-BAD0-C53EEAF41A88}">
      <dgm:prSet/>
      <dgm:spPr/>
      <dgm:t>
        <a:bodyPr/>
        <a:lstStyle/>
        <a:p>
          <a:r>
            <a:rPr lang="en-US"/>
            <a:t>When you need real-time analysis of IoT data, load the incoming data directly into the database instead of staging it in a storage location.</a:t>
          </a:r>
        </a:p>
      </dgm:t>
    </dgm:pt>
    <dgm:pt modelId="{5ED03290-54C3-431C-A956-A4E6E40D45A5}" type="parTrans" cxnId="{0404126A-F9D9-4414-8E70-84C24BA12D87}">
      <dgm:prSet/>
      <dgm:spPr/>
      <dgm:t>
        <a:bodyPr/>
        <a:lstStyle/>
        <a:p>
          <a:endParaRPr lang="en-US"/>
        </a:p>
      </dgm:t>
    </dgm:pt>
    <dgm:pt modelId="{5BA46058-7211-42CB-818C-C491D4027BA3}" type="sibTrans" cxnId="{0404126A-F9D9-4414-8E70-84C24BA12D87}">
      <dgm:prSet/>
      <dgm:spPr/>
      <dgm:t>
        <a:bodyPr/>
        <a:lstStyle/>
        <a:p>
          <a:endParaRPr lang="en-US"/>
        </a:p>
      </dgm:t>
    </dgm:pt>
    <dgm:pt modelId="{D518EFD4-37C8-439A-8906-E1D1B6819634}">
      <dgm:prSet/>
      <dgm:spPr/>
      <dgm:t>
        <a:bodyPr/>
        <a:lstStyle/>
        <a:p>
          <a:r>
            <a:rPr lang="en-US" b="1"/>
            <a:t>Simplify REST API development</a:t>
          </a:r>
          <a:endParaRPr lang="en-US"/>
        </a:p>
      </dgm:t>
    </dgm:pt>
    <dgm:pt modelId="{3CFE59AD-F4C4-447B-A5FF-010A9B8F216F}" type="parTrans" cxnId="{2F66E9AD-72D5-4B68-B459-C18A95CDEB3D}">
      <dgm:prSet/>
      <dgm:spPr/>
      <dgm:t>
        <a:bodyPr/>
        <a:lstStyle/>
        <a:p>
          <a:endParaRPr lang="en-US"/>
        </a:p>
      </dgm:t>
    </dgm:pt>
    <dgm:pt modelId="{B1EFD8CB-FC0F-437C-A8FB-197AB6ABBE82}" type="sibTrans" cxnId="{2F66E9AD-72D5-4B68-B459-C18A95CDEB3D}">
      <dgm:prSet/>
      <dgm:spPr/>
      <dgm:t>
        <a:bodyPr/>
        <a:lstStyle/>
        <a:p>
          <a:endParaRPr lang="en-US"/>
        </a:p>
      </dgm:t>
    </dgm:pt>
    <dgm:pt modelId="{F2642E49-E05F-44EB-834C-AEF6694E7992}">
      <dgm:prSet/>
      <dgm:spPr/>
      <dgm:t>
        <a:bodyPr/>
        <a:lstStyle/>
        <a:p>
          <a:r>
            <a:rPr lang="en-US"/>
            <a:t>Transform relational data from your database easily into the JSON format used by the REST APIs that support your web site.</a:t>
          </a:r>
        </a:p>
      </dgm:t>
    </dgm:pt>
    <dgm:pt modelId="{9944DB9F-B84D-49BA-A38E-65DD010C4BE8}" type="parTrans" cxnId="{9709B786-F13B-451B-8777-CB2A90BA2451}">
      <dgm:prSet/>
      <dgm:spPr/>
      <dgm:t>
        <a:bodyPr/>
        <a:lstStyle/>
        <a:p>
          <a:endParaRPr lang="en-US"/>
        </a:p>
      </dgm:t>
    </dgm:pt>
    <dgm:pt modelId="{EE21BE71-D271-480E-BD65-AFE99AB5C705}" type="sibTrans" cxnId="{9709B786-F13B-451B-8777-CB2A90BA2451}">
      <dgm:prSet/>
      <dgm:spPr/>
      <dgm:t>
        <a:bodyPr/>
        <a:lstStyle/>
        <a:p>
          <a:endParaRPr lang="en-US"/>
        </a:p>
      </dgm:t>
    </dgm:pt>
    <dgm:pt modelId="{8EF6F6DA-F528-4E6D-851E-7F8E668FAB3B}" type="pres">
      <dgm:prSet presAssocID="{B4D5A9C7-6744-45E1-A14F-5EC095D93CC4}" presName="Name0" presStyleCnt="0">
        <dgm:presLayoutVars>
          <dgm:dir/>
          <dgm:resizeHandles val="exact"/>
        </dgm:presLayoutVars>
      </dgm:prSet>
      <dgm:spPr/>
    </dgm:pt>
    <dgm:pt modelId="{A273C147-4741-49BE-A4F9-794ED3C23FB2}" type="pres">
      <dgm:prSet presAssocID="{B44639B8-0F18-4A2B-88D7-B4CE5AC9DD70}" presName="node" presStyleLbl="node1" presStyleIdx="0" presStyleCnt="10">
        <dgm:presLayoutVars>
          <dgm:bulletEnabled val="1"/>
        </dgm:presLayoutVars>
      </dgm:prSet>
      <dgm:spPr/>
    </dgm:pt>
    <dgm:pt modelId="{A5D93D73-BD8B-4DB9-A49F-0E3B3A3ABD8B}" type="pres">
      <dgm:prSet presAssocID="{613570C2-F46F-4064-9D67-B751F3ECAA0C}" presName="sibTrans" presStyleLbl="sibTrans1D1" presStyleIdx="0" presStyleCnt="9"/>
      <dgm:spPr/>
    </dgm:pt>
    <dgm:pt modelId="{81C96771-F4A8-48CE-80D3-74556402B8A9}" type="pres">
      <dgm:prSet presAssocID="{613570C2-F46F-4064-9D67-B751F3ECAA0C}" presName="connectorText" presStyleLbl="sibTrans1D1" presStyleIdx="0" presStyleCnt="9"/>
      <dgm:spPr/>
    </dgm:pt>
    <dgm:pt modelId="{7D65938A-9A6D-4032-A00F-2EB08DA9E6D1}" type="pres">
      <dgm:prSet presAssocID="{CB404DC4-DF6D-432C-AF48-2089219F1C79}" presName="node" presStyleLbl="node1" presStyleIdx="1" presStyleCnt="10">
        <dgm:presLayoutVars>
          <dgm:bulletEnabled val="1"/>
        </dgm:presLayoutVars>
      </dgm:prSet>
      <dgm:spPr/>
    </dgm:pt>
    <dgm:pt modelId="{1D2E5086-36EA-41DE-AAB9-A4FC9735133A}" type="pres">
      <dgm:prSet presAssocID="{0CCA36F7-B09E-4738-8AA6-20FB85DCDB69}" presName="sibTrans" presStyleLbl="sibTrans1D1" presStyleIdx="1" presStyleCnt="9"/>
      <dgm:spPr/>
    </dgm:pt>
    <dgm:pt modelId="{ADB2E002-F491-4251-842D-539755929C9D}" type="pres">
      <dgm:prSet presAssocID="{0CCA36F7-B09E-4738-8AA6-20FB85DCDB69}" presName="connectorText" presStyleLbl="sibTrans1D1" presStyleIdx="1" presStyleCnt="9"/>
      <dgm:spPr/>
    </dgm:pt>
    <dgm:pt modelId="{0D47C78A-4C9C-4FA7-BA25-83DAFC6568DF}" type="pres">
      <dgm:prSet presAssocID="{69FFEA78-19E4-4E0D-9A73-CA44B9D5BF0D}" presName="node" presStyleLbl="node1" presStyleIdx="2" presStyleCnt="10">
        <dgm:presLayoutVars>
          <dgm:bulletEnabled val="1"/>
        </dgm:presLayoutVars>
      </dgm:prSet>
      <dgm:spPr/>
    </dgm:pt>
    <dgm:pt modelId="{7104E9D0-3AB2-4AAF-B891-51C357D23300}" type="pres">
      <dgm:prSet presAssocID="{CA66E38C-A5D3-43CA-A15C-596CF1B31169}" presName="sibTrans" presStyleLbl="sibTrans1D1" presStyleIdx="2" presStyleCnt="9"/>
      <dgm:spPr/>
    </dgm:pt>
    <dgm:pt modelId="{9362B318-7E2C-42F8-BBF4-3488BDC443EB}" type="pres">
      <dgm:prSet presAssocID="{CA66E38C-A5D3-43CA-A15C-596CF1B31169}" presName="connectorText" presStyleLbl="sibTrans1D1" presStyleIdx="2" presStyleCnt="9"/>
      <dgm:spPr/>
    </dgm:pt>
    <dgm:pt modelId="{59A443C1-4D0D-46B4-89CE-1DDE0F7F192B}" type="pres">
      <dgm:prSet presAssocID="{998681DB-EE5B-49C0-95BE-D0BB0BBC50B1}" presName="node" presStyleLbl="node1" presStyleIdx="3" presStyleCnt="10">
        <dgm:presLayoutVars>
          <dgm:bulletEnabled val="1"/>
        </dgm:presLayoutVars>
      </dgm:prSet>
      <dgm:spPr/>
    </dgm:pt>
    <dgm:pt modelId="{D0DE58B5-6433-4977-895D-062C355FCCB0}" type="pres">
      <dgm:prSet presAssocID="{F1778610-F309-4DD8-A860-5353625BB9F0}" presName="sibTrans" presStyleLbl="sibTrans1D1" presStyleIdx="3" presStyleCnt="9"/>
      <dgm:spPr/>
    </dgm:pt>
    <dgm:pt modelId="{A0C23153-5EE0-418C-9DD8-005CC075B25D}" type="pres">
      <dgm:prSet presAssocID="{F1778610-F309-4DD8-A860-5353625BB9F0}" presName="connectorText" presStyleLbl="sibTrans1D1" presStyleIdx="3" presStyleCnt="9"/>
      <dgm:spPr/>
    </dgm:pt>
    <dgm:pt modelId="{9E7FA1FB-9EE5-463A-A9D1-58F706D8237C}" type="pres">
      <dgm:prSet presAssocID="{E0EEC3E2-FDA5-452D-B026-817F4E5973C4}" presName="node" presStyleLbl="node1" presStyleIdx="4" presStyleCnt="10">
        <dgm:presLayoutVars>
          <dgm:bulletEnabled val="1"/>
        </dgm:presLayoutVars>
      </dgm:prSet>
      <dgm:spPr/>
    </dgm:pt>
    <dgm:pt modelId="{0374AA36-003A-4F89-875A-85EEDE32BECA}" type="pres">
      <dgm:prSet presAssocID="{A903F356-5E44-48A2-A5A9-E24B69CF9E3B}" presName="sibTrans" presStyleLbl="sibTrans1D1" presStyleIdx="4" presStyleCnt="9"/>
      <dgm:spPr/>
    </dgm:pt>
    <dgm:pt modelId="{60BA3DAA-2127-44E6-8DDC-DE44AFA2845B}" type="pres">
      <dgm:prSet presAssocID="{A903F356-5E44-48A2-A5A9-E24B69CF9E3B}" presName="connectorText" presStyleLbl="sibTrans1D1" presStyleIdx="4" presStyleCnt="9"/>
      <dgm:spPr/>
    </dgm:pt>
    <dgm:pt modelId="{7BFF4B86-B480-4E30-9FD1-9D02D75283A2}" type="pres">
      <dgm:prSet presAssocID="{7EA913BD-2E7E-4008-BD5C-A0EBA6C16794}" presName="node" presStyleLbl="node1" presStyleIdx="5" presStyleCnt="10">
        <dgm:presLayoutVars>
          <dgm:bulletEnabled val="1"/>
        </dgm:presLayoutVars>
      </dgm:prSet>
      <dgm:spPr/>
    </dgm:pt>
    <dgm:pt modelId="{750DDE56-8FAF-456E-9EDF-457859BC0363}" type="pres">
      <dgm:prSet presAssocID="{B7F745EA-A12F-4AFD-A85F-B83B6E77F09A}" presName="sibTrans" presStyleLbl="sibTrans1D1" presStyleIdx="5" presStyleCnt="9"/>
      <dgm:spPr/>
    </dgm:pt>
    <dgm:pt modelId="{F50F94E7-F12B-4BCE-918F-19F6FBD1058B}" type="pres">
      <dgm:prSet presAssocID="{B7F745EA-A12F-4AFD-A85F-B83B6E77F09A}" presName="connectorText" presStyleLbl="sibTrans1D1" presStyleIdx="5" presStyleCnt="9"/>
      <dgm:spPr/>
    </dgm:pt>
    <dgm:pt modelId="{DF0F9188-6352-43FC-AFC3-5309EA08CE8F}" type="pres">
      <dgm:prSet presAssocID="{D4553C21-DF29-4369-A4FA-3BB49F8FAC34}" presName="node" presStyleLbl="node1" presStyleIdx="6" presStyleCnt="10">
        <dgm:presLayoutVars>
          <dgm:bulletEnabled val="1"/>
        </dgm:presLayoutVars>
      </dgm:prSet>
      <dgm:spPr/>
    </dgm:pt>
    <dgm:pt modelId="{63C00322-A311-4345-8BC2-CA7690726083}" type="pres">
      <dgm:prSet presAssocID="{47109BAD-F92C-47A1-94C8-C33D1A6CF57E}" presName="sibTrans" presStyleLbl="sibTrans1D1" presStyleIdx="6" presStyleCnt="9"/>
      <dgm:spPr/>
    </dgm:pt>
    <dgm:pt modelId="{A77D8FE5-A41E-4A20-8CF4-48A8D0772E79}" type="pres">
      <dgm:prSet presAssocID="{47109BAD-F92C-47A1-94C8-C33D1A6CF57E}" presName="connectorText" presStyleLbl="sibTrans1D1" presStyleIdx="6" presStyleCnt="9"/>
      <dgm:spPr/>
    </dgm:pt>
    <dgm:pt modelId="{7F4B30B0-6CEB-403C-B68D-B44BE33F5921}" type="pres">
      <dgm:prSet presAssocID="{72732A3A-5555-4661-BAD0-C53EEAF41A88}" presName="node" presStyleLbl="node1" presStyleIdx="7" presStyleCnt="10">
        <dgm:presLayoutVars>
          <dgm:bulletEnabled val="1"/>
        </dgm:presLayoutVars>
      </dgm:prSet>
      <dgm:spPr/>
    </dgm:pt>
    <dgm:pt modelId="{7B68ABD8-B99F-42FD-8522-F0EDEC775B7A}" type="pres">
      <dgm:prSet presAssocID="{5BA46058-7211-42CB-818C-C491D4027BA3}" presName="sibTrans" presStyleLbl="sibTrans1D1" presStyleIdx="7" presStyleCnt="9"/>
      <dgm:spPr/>
    </dgm:pt>
    <dgm:pt modelId="{349FA8BC-8F2C-4E78-93DB-B3185511EAAE}" type="pres">
      <dgm:prSet presAssocID="{5BA46058-7211-42CB-818C-C491D4027BA3}" presName="connectorText" presStyleLbl="sibTrans1D1" presStyleIdx="7" presStyleCnt="9"/>
      <dgm:spPr/>
    </dgm:pt>
    <dgm:pt modelId="{C49F36A6-4170-438F-BB84-684233459ED1}" type="pres">
      <dgm:prSet presAssocID="{D518EFD4-37C8-439A-8906-E1D1B6819634}" presName="node" presStyleLbl="node1" presStyleIdx="8" presStyleCnt="10">
        <dgm:presLayoutVars>
          <dgm:bulletEnabled val="1"/>
        </dgm:presLayoutVars>
      </dgm:prSet>
      <dgm:spPr/>
    </dgm:pt>
    <dgm:pt modelId="{036394EB-743C-48F2-994D-533E782859E3}" type="pres">
      <dgm:prSet presAssocID="{B1EFD8CB-FC0F-437C-A8FB-197AB6ABBE82}" presName="sibTrans" presStyleLbl="sibTrans1D1" presStyleIdx="8" presStyleCnt="9"/>
      <dgm:spPr/>
    </dgm:pt>
    <dgm:pt modelId="{13BCC9CD-E2D0-4FC3-8B93-777C331EB724}" type="pres">
      <dgm:prSet presAssocID="{B1EFD8CB-FC0F-437C-A8FB-197AB6ABBE82}" presName="connectorText" presStyleLbl="sibTrans1D1" presStyleIdx="8" presStyleCnt="9"/>
      <dgm:spPr/>
    </dgm:pt>
    <dgm:pt modelId="{3021BC3E-C005-4DA0-B804-7B21691779BA}" type="pres">
      <dgm:prSet presAssocID="{F2642E49-E05F-44EB-834C-AEF6694E7992}" presName="node" presStyleLbl="node1" presStyleIdx="9" presStyleCnt="10">
        <dgm:presLayoutVars>
          <dgm:bulletEnabled val="1"/>
        </dgm:presLayoutVars>
      </dgm:prSet>
      <dgm:spPr/>
    </dgm:pt>
  </dgm:ptLst>
  <dgm:cxnLst>
    <dgm:cxn modelId="{4BFA520E-384B-4EBF-B327-83B8F67700FA}" type="presOf" srcId="{47109BAD-F92C-47A1-94C8-C33D1A6CF57E}" destId="{63C00322-A311-4345-8BC2-CA7690726083}" srcOrd="0" destOrd="0" presId="urn:microsoft.com/office/officeart/2016/7/layout/RepeatingBendingProcessNew"/>
    <dgm:cxn modelId="{F2D51E18-2B9C-4B04-B431-4BD494B357C2}" type="presOf" srcId="{5BA46058-7211-42CB-818C-C491D4027BA3}" destId="{349FA8BC-8F2C-4E78-93DB-B3185511EAAE}" srcOrd="1" destOrd="0" presId="urn:microsoft.com/office/officeart/2016/7/layout/RepeatingBendingProcessNew"/>
    <dgm:cxn modelId="{0CDE921E-8422-40FA-8022-2F78FD0AB366}" srcId="{B4D5A9C7-6744-45E1-A14F-5EC095D93CC4}" destId="{CB404DC4-DF6D-432C-AF48-2089219F1C79}" srcOrd="1" destOrd="0" parTransId="{361D8AAE-8EE5-4392-A364-3E84010CD156}" sibTransId="{0CCA36F7-B09E-4738-8AA6-20FB85DCDB69}"/>
    <dgm:cxn modelId="{3C75E422-6EA0-4D6C-945C-5DBF1795BBB0}" type="presOf" srcId="{B7F745EA-A12F-4AFD-A85F-B83B6E77F09A}" destId="{750DDE56-8FAF-456E-9EDF-457859BC0363}" srcOrd="0" destOrd="0" presId="urn:microsoft.com/office/officeart/2016/7/layout/RepeatingBendingProcessNew"/>
    <dgm:cxn modelId="{4B61AC2C-9C30-49C0-BD23-12711390EF19}" srcId="{B4D5A9C7-6744-45E1-A14F-5EC095D93CC4}" destId="{7EA913BD-2E7E-4008-BD5C-A0EBA6C16794}" srcOrd="5" destOrd="0" parTransId="{7A39334E-AD90-4864-9A83-A3C0029126F4}" sibTransId="{B7F745EA-A12F-4AFD-A85F-B83B6E77F09A}"/>
    <dgm:cxn modelId="{D5B8C92D-CE6F-4171-B289-2E9234703F0C}" type="presOf" srcId="{998681DB-EE5B-49C0-95BE-D0BB0BBC50B1}" destId="{59A443C1-4D0D-46B4-89CE-1DDE0F7F192B}" srcOrd="0" destOrd="0" presId="urn:microsoft.com/office/officeart/2016/7/layout/RepeatingBendingProcessNew"/>
    <dgm:cxn modelId="{34827C30-A51E-46EA-9251-A03C01C50D6E}" type="presOf" srcId="{D518EFD4-37C8-439A-8906-E1D1B6819634}" destId="{C49F36A6-4170-438F-BB84-684233459ED1}" srcOrd="0" destOrd="0" presId="urn:microsoft.com/office/officeart/2016/7/layout/RepeatingBendingProcessNew"/>
    <dgm:cxn modelId="{8BDE6446-6060-4FF7-9FA9-CE030AB2887D}" type="presOf" srcId="{A903F356-5E44-48A2-A5A9-E24B69CF9E3B}" destId="{0374AA36-003A-4F89-875A-85EEDE32BECA}" srcOrd="0" destOrd="0" presId="urn:microsoft.com/office/officeart/2016/7/layout/RepeatingBendingProcessNew"/>
    <dgm:cxn modelId="{0E43CF68-0091-4D59-A5A3-FA6EA85011E1}" type="presOf" srcId="{B1EFD8CB-FC0F-437C-A8FB-197AB6ABBE82}" destId="{036394EB-743C-48F2-994D-533E782859E3}" srcOrd="0" destOrd="0" presId="urn:microsoft.com/office/officeart/2016/7/layout/RepeatingBendingProcessNew"/>
    <dgm:cxn modelId="{0404126A-F9D9-4414-8E70-84C24BA12D87}" srcId="{B4D5A9C7-6744-45E1-A14F-5EC095D93CC4}" destId="{72732A3A-5555-4661-BAD0-C53EEAF41A88}" srcOrd="7" destOrd="0" parTransId="{5ED03290-54C3-431C-A956-A4E6E40D45A5}" sibTransId="{5BA46058-7211-42CB-818C-C491D4027BA3}"/>
    <dgm:cxn modelId="{5BBAC34B-1A13-4334-887C-8D2E05E45A25}" srcId="{B4D5A9C7-6744-45E1-A14F-5EC095D93CC4}" destId="{B44639B8-0F18-4A2B-88D7-B4CE5AC9DD70}" srcOrd="0" destOrd="0" parTransId="{3DE82C0B-B16A-4AA4-AE7A-589CBE78649C}" sibTransId="{613570C2-F46F-4064-9D67-B751F3ECAA0C}"/>
    <dgm:cxn modelId="{9E6C7C4E-4442-4C4E-9E4B-E6DF5E78E767}" type="presOf" srcId="{F1778610-F309-4DD8-A860-5353625BB9F0}" destId="{A0C23153-5EE0-418C-9DD8-005CC075B25D}" srcOrd="1" destOrd="0" presId="urn:microsoft.com/office/officeart/2016/7/layout/RepeatingBendingProcessNew"/>
    <dgm:cxn modelId="{6EEBD76F-B045-4F5D-8D88-1582403AA863}" type="presOf" srcId="{613570C2-F46F-4064-9D67-B751F3ECAA0C}" destId="{A5D93D73-BD8B-4DB9-A49F-0E3B3A3ABD8B}" srcOrd="0" destOrd="0" presId="urn:microsoft.com/office/officeart/2016/7/layout/RepeatingBendingProcessNew"/>
    <dgm:cxn modelId="{C35DC871-24C9-4D6E-AC78-D6A93E9A48FF}" type="presOf" srcId="{F2642E49-E05F-44EB-834C-AEF6694E7992}" destId="{3021BC3E-C005-4DA0-B804-7B21691779BA}" srcOrd="0" destOrd="0" presId="urn:microsoft.com/office/officeart/2016/7/layout/RepeatingBendingProcessNew"/>
    <dgm:cxn modelId="{11D12E54-98CD-4956-82A7-4CFDC530816A}" type="presOf" srcId="{D4553C21-DF29-4369-A4FA-3BB49F8FAC34}" destId="{DF0F9188-6352-43FC-AFC3-5309EA08CE8F}" srcOrd="0" destOrd="0" presId="urn:microsoft.com/office/officeart/2016/7/layout/RepeatingBendingProcessNew"/>
    <dgm:cxn modelId="{B51D4F55-78DF-454F-8E12-34EDB99514B0}" srcId="{B4D5A9C7-6744-45E1-A14F-5EC095D93CC4}" destId="{E0EEC3E2-FDA5-452D-B026-817F4E5973C4}" srcOrd="4" destOrd="0" parTransId="{CC463D01-7895-4A0C-A3CD-4CABC3984C36}" sibTransId="{A903F356-5E44-48A2-A5A9-E24B69CF9E3B}"/>
    <dgm:cxn modelId="{7C9D9959-F4EF-4BDD-B9D6-83298C99966B}" type="presOf" srcId="{72732A3A-5555-4661-BAD0-C53EEAF41A88}" destId="{7F4B30B0-6CEB-403C-B68D-B44BE33F5921}" srcOrd="0" destOrd="0" presId="urn:microsoft.com/office/officeart/2016/7/layout/RepeatingBendingProcessNew"/>
    <dgm:cxn modelId="{E14D537B-538F-4B2D-96C1-2E88EE4BA71A}" type="presOf" srcId="{B4D5A9C7-6744-45E1-A14F-5EC095D93CC4}" destId="{8EF6F6DA-F528-4E6D-851E-7F8E668FAB3B}" srcOrd="0" destOrd="0" presId="urn:microsoft.com/office/officeart/2016/7/layout/RepeatingBendingProcessNew"/>
    <dgm:cxn modelId="{9DB8A980-F827-43C0-BEA0-ABA714674FC9}" type="presOf" srcId="{A903F356-5E44-48A2-A5A9-E24B69CF9E3B}" destId="{60BA3DAA-2127-44E6-8DDC-DE44AFA2845B}" srcOrd="1" destOrd="0" presId="urn:microsoft.com/office/officeart/2016/7/layout/RepeatingBendingProcessNew"/>
    <dgm:cxn modelId="{9709B786-F13B-451B-8777-CB2A90BA2451}" srcId="{B4D5A9C7-6744-45E1-A14F-5EC095D93CC4}" destId="{F2642E49-E05F-44EB-834C-AEF6694E7992}" srcOrd="9" destOrd="0" parTransId="{9944DB9F-B84D-49BA-A38E-65DD010C4BE8}" sibTransId="{EE21BE71-D271-480E-BD65-AFE99AB5C705}"/>
    <dgm:cxn modelId="{FE4CBF8E-7299-46A1-844E-5D34A929BC07}" type="presOf" srcId="{F1778610-F309-4DD8-A860-5353625BB9F0}" destId="{D0DE58B5-6433-4977-895D-062C355FCCB0}" srcOrd="0" destOrd="0" presId="urn:microsoft.com/office/officeart/2016/7/layout/RepeatingBendingProcessNew"/>
    <dgm:cxn modelId="{B5FD0B93-EBDE-4A9B-9F8D-1C5D5694B7CA}" type="presOf" srcId="{7EA913BD-2E7E-4008-BD5C-A0EBA6C16794}" destId="{7BFF4B86-B480-4E30-9FD1-9D02D75283A2}" srcOrd="0" destOrd="0" presId="urn:microsoft.com/office/officeart/2016/7/layout/RepeatingBendingProcessNew"/>
    <dgm:cxn modelId="{0F8AA899-62D6-4263-9A82-A98D2EF21E5C}" type="presOf" srcId="{CB404DC4-DF6D-432C-AF48-2089219F1C79}" destId="{7D65938A-9A6D-4032-A00F-2EB08DA9E6D1}" srcOrd="0" destOrd="0" presId="urn:microsoft.com/office/officeart/2016/7/layout/RepeatingBendingProcessNew"/>
    <dgm:cxn modelId="{1994C7A3-C6A9-44C7-96AC-202E7D708070}" type="presOf" srcId="{0CCA36F7-B09E-4738-8AA6-20FB85DCDB69}" destId="{1D2E5086-36EA-41DE-AAB9-A4FC9735133A}" srcOrd="0" destOrd="0" presId="urn:microsoft.com/office/officeart/2016/7/layout/RepeatingBendingProcessNew"/>
    <dgm:cxn modelId="{B991AAAB-2E8C-4C99-ADD3-2184AA1B6FC5}" type="presOf" srcId="{69FFEA78-19E4-4E0D-9A73-CA44B9D5BF0D}" destId="{0D47C78A-4C9C-4FA7-BA25-83DAFC6568DF}" srcOrd="0" destOrd="0" presId="urn:microsoft.com/office/officeart/2016/7/layout/RepeatingBendingProcessNew"/>
    <dgm:cxn modelId="{2F66E9AD-72D5-4B68-B459-C18A95CDEB3D}" srcId="{B4D5A9C7-6744-45E1-A14F-5EC095D93CC4}" destId="{D518EFD4-37C8-439A-8906-E1D1B6819634}" srcOrd="8" destOrd="0" parTransId="{3CFE59AD-F4C4-447B-A5FF-010A9B8F216F}" sibTransId="{B1EFD8CB-FC0F-437C-A8FB-197AB6ABBE82}"/>
    <dgm:cxn modelId="{92A817AF-F9A4-4847-8644-81FBE9DE190E}" srcId="{B4D5A9C7-6744-45E1-A14F-5EC095D93CC4}" destId="{69FFEA78-19E4-4E0D-9A73-CA44B9D5BF0D}" srcOrd="2" destOrd="0" parTransId="{3685F31F-322B-4057-BADE-567D30690846}" sibTransId="{CA66E38C-A5D3-43CA-A15C-596CF1B31169}"/>
    <dgm:cxn modelId="{482CCEB3-668A-4385-8A75-541006B50931}" srcId="{B4D5A9C7-6744-45E1-A14F-5EC095D93CC4}" destId="{D4553C21-DF29-4369-A4FA-3BB49F8FAC34}" srcOrd="6" destOrd="0" parTransId="{6CFEB46B-03FB-4EAA-B546-AB430B6A605F}" sibTransId="{47109BAD-F92C-47A1-94C8-C33D1A6CF57E}"/>
    <dgm:cxn modelId="{5B1BBCB4-5A03-49EC-8E44-043684B53161}" type="presOf" srcId="{E0EEC3E2-FDA5-452D-B026-817F4E5973C4}" destId="{9E7FA1FB-9EE5-463A-A9D1-58F706D8237C}" srcOrd="0" destOrd="0" presId="urn:microsoft.com/office/officeart/2016/7/layout/RepeatingBendingProcessNew"/>
    <dgm:cxn modelId="{21DC4DBA-783C-4FB5-9BE6-3320E830238B}" srcId="{B4D5A9C7-6744-45E1-A14F-5EC095D93CC4}" destId="{998681DB-EE5B-49C0-95BE-D0BB0BBC50B1}" srcOrd="3" destOrd="0" parTransId="{33666ABA-4058-43F7-AB23-9EEA6600D70C}" sibTransId="{F1778610-F309-4DD8-A860-5353625BB9F0}"/>
    <dgm:cxn modelId="{F5D162C0-EFC5-4160-813F-0F3DE9683FF2}" type="presOf" srcId="{47109BAD-F92C-47A1-94C8-C33D1A6CF57E}" destId="{A77D8FE5-A41E-4A20-8CF4-48A8D0772E79}" srcOrd="1" destOrd="0" presId="urn:microsoft.com/office/officeart/2016/7/layout/RepeatingBendingProcessNew"/>
    <dgm:cxn modelId="{1D4D0AE0-551A-48FC-9190-2FD32CC88AEF}" type="presOf" srcId="{613570C2-F46F-4064-9D67-B751F3ECAA0C}" destId="{81C96771-F4A8-48CE-80D3-74556402B8A9}" srcOrd="1" destOrd="0" presId="urn:microsoft.com/office/officeart/2016/7/layout/RepeatingBendingProcessNew"/>
    <dgm:cxn modelId="{3A949FE0-6CA4-4C8B-BA4B-CDD619250494}" type="presOf" srcId="{B7F745EA-A12F-4AFD-A85F-B83B6E77F09A}" destId="{F50F94E7-F12B-4BCE-918F-19F6FBD1058B}" srcOrd="1" destOrd="0" presId="urn:microsoft.com/office/officeart/2016/7/layout/RepeatingBendingProcessNew"/>
    <dgm:cxn modelId="{D41A20E2-8CAC-4F0E-9F35-822680C75250}" type="presOf" srcId="{0CCA36F7-B09E-4738-8AA6-20FB85DCDB69}" destId="{ADB2E002-F491-4251-842D-539755929C9D}" srcOrd="1" destOrd="0" presId="urn:microsoft.com/office/officeart/2016/7/layout/RepeatingBendingProcessNew"/>
    <dgm:cxn modelId="{086D48E9-3716-45AC-BE7C-6AD77AD3CE30}" type="presOf" srcId="{B1EFD8CB-FC0F-437C-A8FB-197AB6ABBE82}" destId="{13BCC9CD-E2D0-4FC3-8B93-777C331EB724}" srcOrd="1" destOrd="0" presId="urn:microsoft.com/office/officeart/2016/7/layout/RepeatingBendingProcessNew"/>
    <dgm:cxn modelId="{EDF0B1EC-DE58-4D0F-82E4-D5924E931BEE}" type="presOf" srcId="{CA66E38C-A5D3-43CA-A15C-596CF1B31169}" destId="{7104E9D0-3AB2-4AAF-B891-51C357D23300}" srcOrd="0" destOrd="0" presId="urn:microsoft.com/office/officeart/2016/7/layout/RepeatingBendingProcessNew"/>
    <dgm:cxn modelId="{8A08FAEC-2CF4-47C7-9A59-C151E963F669}" type="presOf" srcId="{B44639B8-0F18-4A2B-88D7-B4CE5AC9DD70}" destId="{A273C147-4741-49BE-A4F9-794ED3C23FB2}" srcOrd="0" destOrd="0" presId="urn:microsoft.com/office/officeart/2016/7/layout/RepeatingBendingProcessNew"/>
    <dgm:cxn modelId="{02319FED-9BA2-48CE-8612-A30846E82AC8}" type="presOf" srcId="{5BA46058-7211-42CB-818C-C491D4027BA3}" destId="{7B68ABD8-B99F-42FD-8522-F0EDEC775B7A}" srcOrd="0" destOrd="0" presId="urn:microsoft.com/office/officeart/2016/7/layout/RepeatingBendingProcessNew"/>
    <dgm:cxn modelId="{1128F4EE-FEB3-4BF3-8B07-46873DC5C043}" type="presOf" srcId="{CA66E38C-A5D3-43CA-A15C-596CF1B31169}" destId="{9362B318-7E2C-42F8-BBF4-3488BDC443EB}" srcOrd="1" destOrd="0" presId="urn:microsoft.com/office/officeart/2016/7/layout/RepeatingBendingProcessNew"/>
    <dgm:cxn modelId="{B058D5D9-C834-4D61-A0EE-9C2DF857D09C}" type="presParOf" srcId="{8EF6F6DA-F528-4E6D-851E-7F8E668FAB3B}" destId="{A273C147-4741-49BE-A4F9-794ED3C23FB2}" srcOrd="0" destOrd="0" presId="urn:microsoft.com/office/officeart/2016/7/layout/RepeatingBendingProcessNew"/>
    <dgm:cxn modelId="{7C60CB36-B083-4E4F-9E5E-BCB319AF8BEF}" type="presParOf" srcId="{8EF6F6DA-F528-4E6D-851E-7F8E668FAB3B}" destId="{A5D93D73-BD8B-4DB9-A49F-0E3B3A3ABD8B}" srcOrd="1" destOrd="0" presId="urn:microsoft.com/office/officeart/2016/7/layout/RepeatingBendingProcessNew"/>
    <dgm:cxn modelId="{51758F04-E8C0-42D9-B45D-4DE340AB9A81}" type="presParOf" srcId="{A5D93D73-BD8B-4DB9-A49F-0E3B3A3ABD8B}" destId="{81C96771-F4A8-48CE-80D3-74556402B8A9}" srcOrd="0" destOrd="0" presId="urn:microsoft.com/office/officeart/2016/7/layout/RepeatingBendingProcessNew"/>
    <dgm:cxn modelId="{5D1350E2-200E-4CF5-A068-8E007EEDEBE9}" type="presParOf" srcId="{8EF6F6DA-F528-4E6D-851E-7F8E668FAB3B}" destId="{7D65938A-9A6D-4032-A00F-2EB08DA9E6D1}" srcOrd="2" destOrd="0" presId="urn:microsoft.com/office/officeart/2016/7/layout/RepeatingBendingProcessNew"/>
    <dgm:cxn modelId="{34AEB260-7128-44B7-A2A0-5DBFAF819B94}" type="presParOf" srcId="{8EF6F6DA-F528-4E6D-851E-7F8E668FAB3B}" destId="{1D2E5086-36EA-41DE-AAB9-A4FC9735133A}" srcOrd="3" destOrd="0" presId="urn:microsoft.com/office/officeart/2016/7/layout/RepeatingBendingProcessNew"/>
    <dgm:cxn modelId="{8BF13112-E298-4A76-BC08-FE1D99C57D42}" type="presParOf" srcId="{1D2E5086-36EA-41DE-AAB9-A4FC9735133A}" destId="{ADB2E002-F491-4251-842D-539755929C9D}" srcOrd="0" destOrd="0" presId="urn:microsoft.com/office/officeart/2016/7/layout/RepeatingBendingProcessNew"/>
    <dgm:cxn modelId="{D1ED69C0-CEBC-4E58-A566-6041C8043B9C}" type="presParOf" srcId="{8EF6F6DA-F528-4E6D-851E-7F8E668FAB3B}" destId="{0D47C78A-4C9C-4FA7-BA25-83DAFC6568DF}" srcOrd="4" destOrd="0" presId="urn:microsoft.com/office/officeart/2016/7/layout/RepeatingBendingProcessNew"/>
    <dgm:cxn modelId="{E921C154-82FA-4E6F-9C7E-4D3D7777F85A}" type="presParOf" srcId="{8EF6F6DA-F528-4E6D-851E-7F8E668FAB3B}" destId="{7104E9D0-3AB2-4AAF-B891-51C357D23300}" srcOrd="5" destOrd="0" presId="urn:microsoft.com/office/officeart/2016/7/layout/RepeatingBendingProcessNew"/>
    <dgm:cxn modelId="{5C28A98B-52DB-4DFA-9085-9CE0F3F18771}" type="presParOf" srcId="{7104E9D0-3AB2-4AAF-B891-51C357D23300}" destId="{9362B318-7E2C-42F8-BBF4-3488BDC443EB}" srcOrd="0" destOrd="0" presId="urn:microsoft.com/office/officeart/2016/7/layout/RepeatingBendingProcessNew"/>
    <dgm:cxn modelId="{53DAD2FB-61CC-4B68-BD73-F4812E0F3278}" type="presParOf" srcId="{8EF6F6DA-F528-4E6D-851E-7F8E668FAB3B}" destId="{59A443C1-4D0D-46B4-89CE-1DDE0F7F192B}" srcOrd="6" destOrd="0" presId="urn:microsoft.com/office/officeart/2016/7/layout/RepeatingBendingProcessNew"/>
    <dgm:cxn modelId="{74037E8F-FFAD-4596-B7A2-B7A17FFFB205}" type="presParOf" srcId="{8EF6F6DA-F528-4E6D-851E-7F8E668FAB3B}" destId="{D0DE58B5-6433-4977-895D-062C355FCCB0}" srcOrd="7" destOrd="0" presId="urn:microsoft.com/office/officeart/2016/7/layout/RepeatingBendingProcessNew"/>
    <dgm:cxn modelId="{9476C2EC-2D9E-4AC3-BE19-6EB4E9AF9B05}" type="presParOf" srcId="{D0DE58B5-6433-4977-895D-062C355FCCB0}" destId="{A0C23153-5EE0-418C-9DD8-005CC075B25D}" srcOrd="0" destOrd="0" presId="urn:microsoft.com/office/officeart/2016/7/layout/RepeatingBendingProcessNew"/>
    <dgm:cxn modelId="{F2046847-4234-46E7-80EC-24EC37101C21}" type="presParOf" srcId="{8EF6F6DA-F528-4E6D-851E-7F8E668FAB3B}" destId="{9E7FA1FB-9EE5-463A-A9D1-58F706D8237C}" srcOrd="8" destOrd="0" presId="urn:microsoft.com/office/officeart/2016/7/layout/RepeatingBendingProcessNew"/>
    <dgm:cxn modelId="{083DA347-4F78-4406-BC21-F0C61FE5CD1C}" type="presParOf" srcId="{8EF6F6DA-F528-4E6D-851E-7F8E668FAB3B}" destId="{0374AA36-003A-4F89-875A-85EEDE32BECA}" srcOrd="9" destOrd="0" presId="urn:microsoft.com/office/officeart/2016/7/layout/RepeatingBendingProcessNew"/>
    <dgm:cxn modelId="{83BB8821-1810-4ED9-B4D4-3419495D4B78}" type="presParOf" srcId="{0374AA36-003A-4F89-875A-85EEDE32BECA}" destId="{60BA3DAA-2127-44E6-8DDC-DE44AFA2845B}" srcOrd="0" destOrd="0" presId="urn:microsoft.com/office/officeart/2016/7/layout/RepeatingBendingProcessNew"/>
    <dgm:cxn modelId="{7F54DD01-19C6-430E-809E-0B4D6754CF43}" type="presParOf" srcId="{8EF6F6DA-F528-4E6D-851E-7F8E668FAB3B}" destId="{7BFF4B86-B480-4E30-9FD1-9D02D75283A2}" srcOrd="10" destOrd="0" presId="urn:microsoft.com/office/officeart/2016/7/layout/RepeatingBendingProcessNew"/>
    <dgm:cxn modelId="{D7BB3544-5AE6-4CC7-8103-820FF0ADB794}" type="presParOf" srcId="{8EF6F6DA-F528-4E6D-851E-7F8E668FAB3B}" destId="{750DDE56-8FAF-456E-9EDF-457859BC0363}" srcOrd="11" destOrd="0" presId="urn:microsoft.com/office/officeart/2016/7/layout/RepeatingBendingProcessNew"/>
    <dgm:cxn modelId="{79CF8541-40B8-458D-943C-EE123E9B756E}" type="presParOf" srcId="{750DDE56-8FAF-456E-9EDF-457859BC0363}" destId="{F50F94E7-F12B-4BCE-918F-19F6FBD1058B}" srcOrd="0" destOrd="0" presId="urn:microsoft.com/office/officeart/2016/7/layout/RepeatingBendingProcessNew"/>
    <dgm:cxn modelId="{BC3466FB-9749-402A-A3CE-22A2F906D9E4}" type="presParOf" srcId="{8EF6F6DA-F528-4E6D-851E-7F8E668FAB3B}" destId="{DF0F9188-6352-43FC-AFC3-5309EA08CE8F}" srcOrd="12" destOrd="0" presId="urn:microsoft.com/office/officeart/2016/7/layout/RepeatingBendingProcessNew"/>
    <dgm:cxn modelId="{4417D40B-1920-44F7-ABAD-5D8B02326BAE}" type="presParOf" srcId="{8EF6F6DA-F528-4E6D-851E-7F8E668FAB3B}" destId="{63C00322-A311-4345-8BC2-CA7690726083}" srcOrd="13" destOrd="0" presId="urn:microsoft.com/office/officeart/2016/7/layout/RepeatingBendingProcessNew"/>
    <dgm:cxn modelId="{636E79E5-B387-4AA8-BE4E-1C82DA3972D5}" type="presParOf" srcId="{63C00322-A311-4345-8BC2-CA7690726083}" destId="{A77D8FE5-A41E-4A20-8CF4-48A8D0772E79}" srcOrd="0" destOrd="0" presId="urn:microsoft.com/office/officeart/2016/7/layout/RepeatingBendingProcessNew"/>
    <dgm:cxn modelId="{5649206F-376B-4F64-BB54-96554A119ECC}" type="presParOf" srcId="{8EF6F6DA-F528-4E6D-851E-7F8E668FAB3B}" destId="{7F4B30B0-6CEB-403C-B68D-B44BE33F5921}" srcOrd="14" destOrd="0" presId="urn:microsoft.com/office/officeart/2016/7/layout/RepeatingBendingProcessNew"/>
    <dgm:cxn modelId="{0D798B43-C576-444D-99DF-0E48B5E6EE5B}" type="presParOf" srcId="{8EF6F6DA-F528-4E6D-851E-7F8E668FAB3B}" destId="{7B68ABD8-B99F-42FD-8522-F0EDEC775B7A}" srcOrd="15" destOrd="0" presId="urn:microsoft.com/office/officeart/2016/7/layout/RepeatingBendingProcessNew"/>
    <dgm:cxn modelId="{1F4E2125-CB9E-4CE4-AD3F-23F8DAC9A7A8}" type="presParOf" srcId="{7B68ABD8-B99F-42FD-8522-F0EDEC775B7A}" destId="{349FA8BC-8F2C-4E78-93DB-B3185511EAAE}" srcOrd="0" destOrd="0" presId="urn:microsoft.com/office/officeart/2016/7/layout/RepeatingBendingProcessNew"/>
    <dgm:cxn modelId="{BAB95D15-EAE6-48C5-AB70-82759657F302}" type="presParOf" srcId="{8EF6F6DA-F528-4E6D-851E-7F8E668FAB3B}" destId="{C49F36A6-4170-438F-BB84-684233459ED1}" srcOrd="16" destOrd="0" presId="urn:microsoft.com/office/officeart/2016/7/layout/RepeatingBendingProcessNew"/>
    <dgm:cxn modelId="{E5CD764A-51DF-4C32-BA7C-F6099B6CA82C}" type="presParOf" srcId="{8EF6F6DA-F528-4E6D-851E-7F8E668FAB3B}" destId="{036394EB-743C-48F2-994D-533E782859E3}" srcOrd="17" destOrd="0" presId="urn:microsoft.com/office/officeart/2016/7/layout/RepeatingBendingProcessNew"/>
    <dgm:cxn modelId="{F0D5C6B6-8C62-4F1A-96CA-141BBC431868}" type="presParOf" srcId="{036394EB-743C-48F2-994D-533E782859E3}" destId="{13BCC9CD-E2D0-4FC3-8B93-777C331EB724}" srcOrd="0" destOrd="0" presId="urn:microsoft.com/office/officeart/2016/7/layout/RepeatingBendingProcessNew"/>
    <dgm:cxn modelId="{DAEB3AFF-8F62-476C-ACD9-D10DA2BF36ED}" type="presParOf" srcId="{8EF6F6DA-F528-4E6D-851E-7F8E668FAB3B}" destId="{3021BC3E-C005-4DA0-B804-7B21691779BA}" srcOrd="1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15468F1-4893-434E-817F-5228A8266564}"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D4AF41A4-5384-4662-A688-3279ED09E034}">
      <dgm:prSet/>
      <dgm:spPr/>
      <dgm:t>
        <a:bodyPr/>
        <a:lstStyle/>
        <a:p>
          <a:r>
            <a:rPr lang="en-US"/>
            <a:t>SQL Server Configuration Manager is a tool to manage the services associated with SQL Server, configure the network protocols used by SQL Server, and manage the network connectivity configuration from SQL Server client computers. In SQL Server 2022 (16.x) and later versions, you can also use SQL Server Configuration Manager to manage the Azure extension for SQL Server.</a:t>
          </a:r>
        </a:p>
      </dgm:t>
    </dgm:pt>
    <dgm:pt modelId="{490AC77D-FC6F-4701-B755-B7F10719640B}" type="parTrans" cxnId="{7C6EA2EE-C68C-4C9E-9608-34559B9909C4}">
      <dgm:prSet/>
      <dgm:spPr/>
      <dgm:t>
        <a:bodyPr/>
        <a:lstStyle/>
        <a:p>
          <a:endParaRPr lang="en-US"/>
        </a:p>
      </dgm:t>
    </dgm:pt>
    <dgm:pt modelId="{BD15E221-B30F-4F46-ABBB-ECBACCED0817}" type="sibTrans" cxnId="{7C6EA2EE-C68C-4C9E-9608-34559B9909C4}">
      <dgm:prSet/>
      <dgm:spPr/>
      <dgm:t>
        <a:bodyPr/>
        <a:lstStyle/>
        <a:p>
          <a:endParaRPr lang="en-US"/>
        </a:p>
      </dgm:t>
    </dgm:pt>
    <dgm:pt modelId="{40C62E4E-BF02-4661-8573-0C23A50CFF84}">
      <dgm:prSet/>
      <dgm:spPr/>
      <dgm:t>
        <a:bodyPr/>
        <a:lstStyle/>
        <a:p>
          <a:r>
            <a:rPr lang="en-US"/>
            <a:t>SQL Server supports Shared Memory, TCP/IP, and Named Pipes protocols. For information about choosing network protocols, see </a:t>
          </a:r>
          <a:r>
            <a:rPr lang="en-US">
              <a:hlinkClick xmlns:r="http://schemas.openxmlformats.org/officeDocument/2006/relationships" r:id="rId1"/>
            </a:rPr>
            <a:t>Configure client protocols</a:t>
          </a:r>
          <a:r>
            <a:rPr lang="en-US"/>
            <a:t>. SQL Server doesn't support VIA, Banyan VINES Sequenced Packet Protocol (SPP), Multiprotocol, AppleTalk, or NWLink IPX/SPX network protocols.</a:t>
          </a:r>
        </a:p>
      </dgm:t>
    </dgm:pt>
    <dgm:pt modelId="{116BDA32-C2AF-445F-850F-53F7322C06DA}" type="parTrans" cxnId="{07F0AF8A-9F0B-412F-8C04-585266EF19F3}">
      <dgm:prSet/>
      <dgm:spPr/>
      <dgm:t>
        <a:bodyPr/>
        <a:lstStyle/>
        <a:p>
          <a:endParaRPr lang="en-US"/>
        </a:p>
      </dgm:t>
    </dgm:pt>
    <dgm:pt modelId="{0C6031F0-653F-403F-87D9-3B202E9F0ABD}" type="sibTrans" cxnId="{07F0AF8A-9F0B-412F-8C04-585266EF19F3}">
      <dgm:prSet/>
      <dgm:spPr/>
      <dgm:t>
        <a:bodyPr/>
        <a:lstStyle/>
        <a:p>
          <a:endParaRPr lang="en-US"/>
        </a:p>
      </dgm:t>
    </dgm:pt>
    <dgm:pt modelId="{F36CEC7F-E42E-4725-BF63-D6F00AB83420}">
      <dgm:prSet/>
      <dgm:spPr/>
      <dgm:t>
        <a:bodyPr/>
        <a:lstStyle/>
        <a:p>
          <a:r>
            <a:rPr lang="en-US"/>
            <a:t>Clients previously connecting with these protocols must select a different protocol to connect to SQL Server. You can't use SQL Server Configuration Manager to configure the WinSock proxy. To configure the WinSock proxy, see your Internet Security and Authentication Server (ISA) documentation.</a:t>
          </a:r>
        </a:p>
      </dgm:t>
    </dgm:pt>
    <dgm:pt modelId="{414E823A-9037-4B4F-A9C0-33184CE6F3A8}" type="parTrans" cxnId="{DBBA99E6-E01C-4856-8BCE-DEA3ADA84A9F}">
      <dgm:prSet/>
      <dgm:spPr/>
      <dgm:t>
        <a:bodyPr/>
        <a:lstStyle/>
        <a:p>
          <a:endParaRPr lang="en-US"/>
        </a:p>
      </dgm:t>
    </dgm:pt>
    <dgm:pt modelId="{AE718678-66BD-430A-8028-03DE46F20372}" type="sibTrans" cxnId="{DBBA99E6-E01C-4856-8BCE-DEA3ADA84A9F}">
      <dgm:prSet/>
      <dgm:spPr/>
      <dgm:t>
        <a:bodyPr/>
        <a:lstStyle/>
        <a:p>
          <a:endParaRPr lang="en-US"/>
        </a:p>
      </dgm:t>
    </dgm:pt>
    <dgm:pt modelId="{52576DE4-B6E2-4C9A-A3BE-7CDA713B0245}" type="pres">
      <dgm:prSet presAssocID="{115468F1-4893-434E-817F-5228A8266564}" presName="root" presStyleCnt="0">
        <dgm:presLayoutVars>
          <dgm:dir/>
          <dgm:resizeHandles val="exact"/>
        </dgm:presLayoutVars>
      </dgm:prSet>
      <dgm:spPr/>
    </dgm:pt>
    <dgm:pt modelId="{6549714C-3A24-4561-B2EC-0D4F3FE22C5B}" type="pres">
      <dgm:prSet presAssocID="{D4AF41A4-5384-4662-A688-3279ED09E034}" presName="compNode" presStyleCnt="0"/>
      <dgm:spPr/>
    </dgm:pt>
    <dgm:pt modelId="{E64542B5-6068-4C54-AA05-519A805CE8A7}" type="pres">
      <dgm:prSet presAssocID="{D4AF41A4-5384-4662-A688-3279ED09E034}" presName="bgRect" presStyleLbl="bgShp" presStyleIdx="0" presStyleCnt="3"/>
      <dgm:spPr/>
    </dgm:pt>
    <dgm:pt modelId="{4DD3AF39-5874-42A8-85B0-ECB96A83558B}" type="pres">
      <dgm:prSet presAssocID="{D4AF41A4-5384-4662-A688-3279ED09E034}"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1C932848-C23E-4CEE-9874-2EB94B57EFAB}" type="pres">
      <dgm:prSet presAssocID="{D4AF41A4-5384-4662-A688-3279ED09E034}" presName="spaceRect" presStyleCnt="0"/>
      <dgm:spPr/>
    </dgm:pt>
    <dgm:pt modelId="{FF6FF6E0-61EE-4A75-9207-44D9F3711924}" type="pres">
      <dgm:prSet presAssocID="{D4AF41A4-5384-4662-A688-3279ED09E034}" presName="parTx" presStyleLbl="revTx" presStyleIdx="0" presStyleCnt="3">
        <dgm:presLayoutVars>
          <dgm:chMax val="0"/>
          <dgm:chPref val="0"/>
        </dgm:presLayoutVars>
      </dgm:prSet>
      <dgm:spPr/>
    </dgm:pt>
    <dgm:pt modelId="{06422C47-EF25-4DBF-A313-1E287F7C7A0F}" type="pres">
      <dgm:prSet presAssocID="{BD15E221-B30F-4F46-ABBB-ECBACCED0817}" presName="sibTrans" presStyleCnt="0"/>
      <dgm:spPr/>
    </dgm:pt>
    <dgm:pt modelId="{3B2F2A69-BFD9-4962-B40A-5263606DBE29}" type="pres">
      <dgm:prSet presAssocID="{40C62E4E-BF02-4661-8573-0C23A50CFF84}" presName="compNode" presStyleCnt="0"/>
      <dgm:spPr/>
    </dgm:pt>
    <dgm:pt modelId="{D3A3C26C-5BAA-420B-8F6F-0B98B2D94F12}" type="pres">
      <dgm:prSet presAssocID="{40C62E4E-BF02-4661-8573-0C23A50CFF84}" presName="bgRect" presStyleLbl="bgShp" presStyleIdx="1" presStyleCnt="3"/>
      <dgm:spPr/>
    </dgm:pt>
    <dgm:pt modelId="{AF84DE9A-2BB1-4FB7-98C7-CA0E72BFC9BC}" type="pres">
      <dgm:prSet presAssocID="{40C62E4E-BF02-4661-8573-0C23A50CFF84}"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erver"/>
        </a:ext>
      </dgm:extLst>
    </dgm:pt>
    <dgm:pt modelId="{5431DC2D-7986-4E04-B884-10932A0C391A}" type="pres">
      <dgm:prSet presAssocID="{40C62E4E-BF02-4661-8573-0C23A50CFF84}" presName="spaceRect" presStyleCnt="0"/>
      <dgm:spPr/>
    </dgm:pt>
    <dgm:pt modelId="{4C2960A0-10B0-4259-894E-1196B894C9E1}" type="pres">
      <dgm:prSet presAssocID="{40C62E4E-BF02-4661-8573-0C23A50CFF84}" presName="parTx" presStyleLbl="revTx" presStyleIdx="1" presStyleCnt="3">
        <dgm:presLayoutVars>
          <dgm:chMax val="0"/>
          <dgm:chPref val="0"/>
        </dgm:presLayoutVars>
      </dgm:prSet>
      <dgm:spPr/>
    </dgm:pt>
    <dgm:pt modelId="{D06A30D7-1D7A-4951-A585-D1389653A6F1}" type="pres">
      <dgm:prSet presAssocID="{0C6031F0-653F-403F-87D9-3B202E9F0ABD}" presName="sibTrans" presStyleCnt="0"/>
      <dgm:spPr/>
    </dgm:pt>
    <dgm:pt modelId="{5955549C-6A99-403E-A470-D8A131527D5C}" type="pres">
      <dgm:prSet presAssocID="{F36CEC7F-E42E-4725-BF63-D6F00AB83420}" presName="compNode" presStyleCnt="0"/>
      <dgm:spPr/>
    </dgm:pt>
    <dgm:pt modelId="{C88539C5-E638-43F6-818A-46873D7061D3}" type="pres">
      <dgm:prSet presAssocID="{F36CEC7F-E42E-4725-BF63-D6F00AB83420}" presName="bgRect" presStyleLbl="bgShp" presStyleIdx="2" presStyleCnt="3"/>
      <dgm:spPr/>
    </dgm:pt>
    <dgm:pt modelId="{23DBF96D-0811-45CD-8967-4A0174BDF7B9}" type="pres">
      <dgm:prSet presAssocID="{F36CEC7F-E42E-4725-BF63-D6F00AB83420}"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DA268606-BD70-4CDF-9973-7C5ED24764C5}" type="pres">
      <dgm:prSet presAssocID="{F36CEC7F-E42E-4725-BF63-D6F00AB83420}" presName="spaceRect" presStyleCnt="0"/>
      <dgm:spPr/>
    </dgm:pt>
    <dgm:pt modelId="{AE4C847B-5950-4C78-A30C-F08D59F48C8F}" type="pres">
      <dgm:prSet presAssocID="{F36CEC7F-E42E-4725-BF63-D6F00AB83420}" presName="parTx" presStyleLbl="revTx" presStyleIdx="2" presStyleCnt="3">
        <dgm:presLayoutVars>
          <dgm:chMax val="0"/>
          <dgm:chPref val="0"/>
        </dgm:presLayoutVars>
      </dgm:prSet>
      <dgm:spPr/>
    </dgm:pt>
  </dgm:ptLst>
  <dgm:cxnLst>
    <dgm:cxn modelId="{9956DC01-C45E-4C17-8517-DA7DC3C983AB}" type="presOf" srcId="{40C62E4E-BF02-4661-8573-0C23A50CFF84}" destId="{4C2960A0-10B0-4259-894E-1196B894C9E1}" srcOrd="0" destOrd="0" presId="urn:microsoft.com/office/officeart/2018/2/layout/IconVerticalSolidList"/>
    <dgm:cxn modelId="{07F0AF8A-9F0B-412F-8C04-585266EF19F3}" srcId="{115468F1-4893-434E-817F-5228A8266564}" destId="{40C62E4E-BF02-4661-8573-0C23A50CFF84}" srcOrd="1" destOrd="0" parTransId="{116BDA32-C2AF-445F-850F-53F7322C06DA}" sibTransId="{0C6031F0-653F-403F-87D9-3B202E9F0ABD}"/>
    <dgm:cxn modelId="{EEB72F8C-F652-4CD0-A61B-E675F88E0235}" type="presOf" srcId="{115468F1-4893-434E-817F-5228A8266564}" destId="{52576DE4-B6E2-4C9A-A3BE-7CDA713B0245}" srcOrd="0" destOrd="0" presId="urn:microsoft.com/office/officeart/2018/2/layout/IconVerticalSolidList"/>
    <dgm:cxn modelId="{A04C59AC-13C9-401A-9663-5C57CFC1E1E6}" type="presOf" srcId="{D4AF41A4-5384-4662-A688-3279ED09E034}" destId="{FF6FF6E0-61EE-4A75-9207-44D9F3711924}" srcOrd="0" destOrd="0" presId="urn:microsoft.com/office/officeart/2018/2/layout/IconVerticalSolidList"/>
    <dgm:cxn modelId="{EE646ED4-C434-40BC-B79F-606D12639BF4}" type="presOf" srcId="{F36CEC7F-E42E-4725-BF63-D6F00AB83420}" destId="{AE4C847B-5950-4C78-A30C-F08D59F48C8F}" srcOrd="0" destOrd="0" presId="urn:microsoft.com/office/officeart/2018/2/layout/IconVerticalSolidList"/>
    <dgm:cxn modelId="{DBBA99E6-E01C-4856-8BCE-DEA3ADA84A9F}" srcId="{115468F1-4893-434E-817F-5228A8266564}" destId="{F36CEC7F-E42E-4725-BF63-D6F00AB83420}" srcOrd="2" destOrd="0" parTransId="{414E823A-9037-4B4F-A9C0-33184CE6F3A8}" sibTransId="{AE718678-66BD-430A-8028-03DE46F20372}"/>
    <dgm:cxn modelId="{7C6EA2EE-C68C-4C9E-9608-34559B9909C4}" srcId="{115468F1-4893-434E-817F-5228A8266564}" destId="{D4AF41A4-5384-4662-A688-3279ED09E034}" srcOrd="0" destOrd="0" parTransId="{490AC77D-FC6F-4701-B755-B7F10719640B}" sibTransId="{BD15E221-B30F-4F46-ABBB-ECBACCED0817}"/>
    <dgm:cxn modelId="{8F427460-2516-45A6-8FD5-7A7FBA273AE2}" type="presParOf" srcId="{52576DE4-B6E2-4C9A-A3BE-7CDA713B0245}" destId="{6549714C-3A24-4561-B2EC-0D4F3FE22C5B}" srcOrd="0" destOrd="0" presId="urn:microsoft.com/office/officeart/2018/2/layout/IconVerticalSolidList"/>
    <dgm:cxn modelId="{9AE54AE0-FC56-4AB7-ABA0-3456B3EE2EF0}" type="presParOf" srcId="{6549714C-3A24-4561-B2EC-0D4F3FE22C5B}" destId="{E64542B5-6068-4C54-AA05-519A805CE8A7}" srcOrd="0" destOrd="0" presId="urn:microsoft.com/office/officeart/2018/2/layout/IconVerticalSolidList"/>
    <dgm:cxn modelId="{299201FF-A188-4C38-A42B-9BE3CF305BAA}" type="presParOf" srcId="{6549714C-3A24-4561-B2EC-0D4F3FE22C5B}" destId="{4DD3AF39-5874-42A8-85B0-ECB96A83558B}" srcOrd="1" destOrd="0" presId="urn:microsoft.com/office/officeart/2018/2/layout/IconVerticalSolidList"/>
    <dgm:cxn modelId="{25B2AF20-9FC7-428B-8B65-5D8566B3C968}" type="presParOf" srcId="{6549714C-3A24-4561-B2EC-0D4F3FE22C5B}" destId="{1C932848-C23E-4CEE-9874-2EB94B57EFAB}" srcOrd="2" destOrd="0" presId="urn:microsoft.com/office/officeart/2018/2/layout/IconVerticalSolidList"/>
    <dgm:cxn modelId="{215EDBBB-4CF5-44D5-8DEE-577CE4C73CEA}" type="presParOf" srcId="{6549714C-3A24-4561-B2EC-0D4F3FE22C5B}" destId="{FF6FF6E0-61EE-4A75-9207-44D9F3711924}" srcOrd="3" destOrd="0" presId="urn:microsoft.com/office/officeart/2018/2/layout/IconVerticalSolidList"/>
    <dgm:cxn modelId="{5D3CADAF-A17D-4F09-8FCA-117A66CABD7A}" type="presParOf" srcId="{52576DE4-B6E2-4C9A-A3BE-7CDA713B0245}" destId="{06422C47-EF25-4DBF-A313-1E287F7C7A0F}" srcOrd="1" destOrd="0" presId="urn:microsoft.com/office/officeart/2018/2/layout/IconVerticalSolidList"/>
    <dgm:cxn modelId="{2B4D9308-91C3-4A2F-9492-F69F182361BF}" type="presParOf" srcId="{52576DE4-B6E2-4C9A-A3BE-7CDA713B0245}" destId="{3B2F2A69-BFD9-4962-B40A-5263606DBE29}" srcOrd="2" destOrd="0" presId="urn:microsoft.com/office/officeart/2018/2/layout/IconVerticalSolidList"/>
    <dgm:cxn modelId="{9E57E6A1-A63D-41CB-BA40-76CB4581CE3A}" type="presParOf" srcId="{3B2F2A69-BFD9-4962-B40A-5263606DBE29}" destId="{D3A3C26C-5BAA-420B-8F6F-0B98B2D94F12}" srcOrd="0" destOrd="0" presId="urn:microsoft.com/office/officeart/2018/2/layout/IconVerticalSolidList"/>
    <dgm:cxn modelId="{8259D2FC-7744-489C-8830-5162A2F039E2}" type="presParOf" srcId="{3B2F2A69-BFD9-4962-B40A-5263606DBE29}" destId="{AF84DE9A-2BB1-4FB7-98C7-CA0E72BFC9BC}" srcOrd="1" destOrd="0" presId="urn:microsoft.com/office/officeart/2018/2/layout/IconVerticalSolidList"/>
    <dgm:cxn modelId="{48BF821A-029D-4001-AFF7-55F3D3109032}" type="presParOf" srcId="{3B2F2A69-BFD9-4962-B40A-5263606DBE29}" destId="{5431DC2D-7986-4E04-B884-10932A0C391A}" srcOrd="2" destOrd="0" presId="urn:microsoft.com/office/officeart/2018/2/layout/IconVerticalSolidList"/>
    <dgm:cxn modelId="{3B8B7377-071D-404B-AF72-6FDDFE9892FA}" type="presParOf" srcId="{3B2F2A69-BFD9-4962-B40A-5263606DBE29}" destId="{4C2960A0-10B0-4259-894E-1196B894C9E1}" srcOrd="3" destOrd="0" presId="urn:microsoft.com/office/officeart/2018/2/layout/IconVerticalSolidList"/>
    <dgm:cxn modelId="{D630E82C-D2EB-471A-A796-469331C23835}" type="presParOf" srcId="{52576DE4-B6E2-4C9A-A3BE-7CDA713B0245}" destId="{D06A30D7-1D7A-4951-A585-D1389653A6F1}" srcOrd="3" destOrd="0" presId="urn:microsoft.com/office/officeart/2018/2/layout/IconVerticalSolidList"/>
    <dgm:cxn modelId="{5C000E64-4793-4B00-9183-4FCA1332A22D}" type="presParOf" srcId="{52576DE4-B6E2-4C9A-A3BE-7CDA713B0245}" destId="{5955549C-6A99-403E-A470-D8A131527D5C}" srcOrd="4" destOrd="0" presId="urn:microsoft.com/office/officeart/2018/2/layout/IconVerticalSolidList"/>
    <dgm:cxn modelId="{B8200F84-2C61-4BC9-AB22-815DFCF86EAF}" type="presParOf" srcId="{5955549C-6A99-403E-A470-D8A131527D5C}" destId="{C88539C5-E638-43F6-818A-46873D7061D3}" srcOrd="0" destOrd="0" presId="urn:microsoft.com/office/officeart/2018/2/layout/IconVerticalSolidList"/>
    <dgm:cxn modelId="{63DE80D1-5E8E-4AB2-83C3-B58DA329890B}" type="presParOf" srcId="{5955549C-6A99-403E-A470-D8A131527D5C}" destId="{23DBF96D-0811-45CD-8967-4A0174BDF7B9}" srcOrd="1" destOrd="0" presId="urn:microsoft.com/office/officeart/2018/2/layout/IconVerticalSolidList"/>
    <dgm:cxn modelId="{22A24D7B-83C4-4C93-A8DB-9BF65E4004C5}" type="presParOf" srcId="{5955549C-6A99-403E-A470-D8A131527D5C}" destId="{DA268606-BD70-4CDF-9973-7C5ED24764C5}" srcOrd="2" destOrd="0" presId="urn:microsoft.com/office/officeart/2018/2/layout/IconVerticalSolidList"/>
    <dgm:cxn modelId="{992D466F-C57C-40E7-8E4F-AFC028D9349B}" type="presParOf" srcId="{5955549C-6A99-403E-A470-D8A131527D5C}" destId="{AE4C847B-5950-4C78-A30C-F08D59F48C8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2904EE9-FB5B-492A-AB61-24427731AE37}" type="doc">
      <dgm:prSet loTypeId="urn:microsoft.com/office/officeart/2016/7/layout/BasicLinearProcessNumbered" loCatId="process" qsTypeId="urn:microsoft.com/office/officeart/2005/8/quickstyle/simple4" qsCatId="simple" csTypeId="urn:microsoft.com/office/officeart/2005/8/colors/accent1_2" csCatId="accent1"/>
      <dgm:spPr/>
      <dgm:t>
        <a:bodyPr/>
        <a:lstStyle/>
        <a:p>
          <a:endParaRPr lang="en-US"/>
        </a:p>
      </dgm:t>
    </dgm:pt>
    <dgm:pt modelId="{9EDDB417-1A84-4DF0-9ACF-828DABB17D19}">
      <dgm:prSet/>
      <dgm:spPr/>
      <dgm:t>
        <a:bodyPr/>
        <a:lstStyle/>
        <a:p>
          <a:r>
            <a:rPr lang="en-US"/>
            <a:t>Azure SQL Database is always running on the latest stable version of the SQL Server database engine and patched OS with </a:t>
          </a:r>
          <a:r>
            <a:rPr lang="en-US">
              <a:hlinkClick xmlns:r="http://schemas.openxmlformats.org/officeDocument/2006/relationships" r:id="rId1"/>
            </a:rPr>
            <a:t>enterprise class availability SLA</a:t>
          </a:r>
          <a:r>
            <a:rPr lang="en-US"/>
            <a:t> which is higher when </a:t>
          </a:r>
          <a:r>
            <a:rPr lang="en-US">
              <a:hlinkClick xmlns:r="http://schemas.openxmlformats.org/officeDocument/2006/relationships" r:id="rId2"/>
            </a:rPr>
            <a:t>zone redundancy</a:t>
          </a:r>
          <a:r>
            <a:rPr lang="en-US"/>
            <a:t> is implemented. PaaS capabilities built into Azure SQL Database enable you to focus on the domain-specific database administration and optimization activities that are critical for your business.</a:t>
          </a:r>
        </a:p>
      </dgm:t>
    </dgm:pt>
    <dgm:pt modelId="{8DBE00BB-FEA4-4E6F-8541-52A12E65BFB2}" type="parTrans" cxnId="{DDC8A561-E1E7-4326-8AD4-AA9BCDD431B8}">
      <dgm:prSet/>
      <dgm:spPr/>
      <dgm:t>
        <a:bodyPr/>
        <a:lstStyle/>
        <a:p>
          <a:endParaRPr lang="en-US"/>
        </a:p>
      </dgm:t>
    </dgm:pt>
    <dgm:pt modelId="{36FB4F2B-1DF3-4E32-93CE-F8BDBD98DB9A}" type="sibTrans" cxnId="{DDC8A561-E1E7-4326-8AD4-AA9BCDD431B8}">
      <dgm:prSet phldrT="1" phldr="0"/>
      <dgm:spPr/>
      <dgm:t>
        <a:bodyPr/>
        <a:lstStyle/>
        <a:p>
          <a:r>
            <a:rPr lang="en-US"/>
            <a:t>1</a:t>
          </a:r>
        </a:p>
      </dgm:t>
    </dgm:pt>
    <dgm:pt modelId="{6E16B445-DA0C-4E82-85B3-42371DC8B92C}">
      <dgm:prSet/>
      <dgm:spPr/>
      <dgm:t>
        <a:bodyPr/>
        <a:lstStyle/>
        <a:p>
          <a:r>
            <a:rPr lang="en-US"/>
            <a:t>Azure SQL Database is based on the latest stable version of the </a:t>
          </a:r>
          <a:r>
            <a:rPr lang="en-US">
              <a:hlinkClick xmlns:r="http://schemas.openxmlformats.org/officeDocument/2006/relationships" r:id="rId3"/>
            </a:rPr>
            <a:t>Microsoft SQL Server database engine</a:t>
          </a:r>
          <a:r>
            <a:rPr lang="en-US"/>
            <a:t>. You can use advanced query processing features, such as </a:t>
          </a:r>
          <a:r>
            <a:rPr lang="en-US">
              <a:hlinkClick xmlns:r="http://schemas.openxmlformats.org/officeDocument/2006/relationships" r:id="rId4"/>
            </a:rPr>
            <a:t>high-performance in-memory technologies</a:t>
          </a:r>
          <a:r>
            <a:rPr lang="en-US"/>
            <a:t> and </a:t>
          </a:r>
          <a:r>
            <a:rPr lang="en-US">
              <a:hlinkClick xmlns:r="http://schemas.openxmlformats.org/officeDocument/2006/relationships" r:id="rId5"/>
            </a:rPr>
            <a:t>intelligent query processing</a:t>
          </a:r>
          <a:r>
            <a:rPr lang="en-US"/>
            <a:t>. In fact, the newest capabilities of SQL Server are released first to Azure SQL Database, and then to SQL Server itself. </a:t>
          </a:r>
        </a:p>
      </dgm:t>
    </dgm:pt>
    <dgm:pt modelId="{59AAF0DC-7399-43BC-9DA9-7A4AC9DD9AB6}" type="parTrans" cxnId="{D5E05F60-580F-4284-9481-37716F813926}">
      <dgm:prSet/>
      <dgm:spPr/>
      <dgm:t>
        <a:bodyPr/>
        <a:lstStyle/>
        <a:p>
          <a:endParaRPr lang="en-US"/>
        </a:p>
      </dgm:t>
    </dgm:pt>
    <dgm:pt modelId="{514647C6-2201-4B08-A153-941EC79AF7AC}" type="sibTrans" cxnId="{D5E05F60-580F-4284-9481-37716F813926}">
      <dgm:prSet phldrT="2" phldr="0"/>
      <dgm:spPr/>
      <dgm:t>
        <a:bodyPr/>
        <a:lstStyle/>
        <a:p>
          <a:r>
            <a:rPr lang="en-US"/>
            <a:t>2</a:t>
          </a:r>
        </a:p>
      </dgm:t>
    </dgm:pt>
    <dgm:pt modelId="{CE9E0C5C-0024-4ED1-B812-BF93080D3BC4}">
      <dgm:prSet/>
      <dgm:spPr/>
      <dgm:t>
        <a:bodyPr/>
        <a:lstStyle/>
        <a:p>
          <a:r>
            <a:rPr lang="en-US"/>
            <a:t>SQL Database enables you to easily define and scale performance within two different purchasing models: a </a:t>
          </a:r>
          <a:r>
            <a:rPr lang="en-US">
              <a:hlinkClick xmlns:r="http://schemas.openxmlformats.org/officeDocument/2006/relationships" r:id="rId6"/>
            </a:rPr>
            <a:t>vCore-based purchasing model</a:t>
          </a:r>
          <a:r>
            <a:rPr lang="en-US"/>
            <a:t> and a </a:t>
          </a:r>
          <a:r>
            <a:rPr lang="en-US">
              <a:hlinkClick xmlns:r="http://schemas.openxmlformats.org/officeDocument/2006/relationships" r:id="rId7"/>
            </a:rPr>
            <a:t>DTU-based purchasing model</a:t>
          </a:r>
          <a:r>
            <a:rPr lang="en-US"/>
            <a:t>. SQL Database is a fully managed service that has built-in high availability, backups, and other common maintenance operations. Microsoft handles all patching and updating of the SQL and operating system code. </a:t>
          </a:r>
        </a:p>
      </dgm:t>
    </dgm:pt>
    <dgm:pt modelId="{1AC0F460-2B0C-47EA-8E7F-E2EB19F85E37}" type="parTrans" cxnId="{B533B6DC-3059-4F07-8937-834358F71332}">
      <dgm:prSet/>
      <dgm:spPr/>
      <dgm:t>
        <a:bodyPr/>
        <a:lstStyle/>
        <a:p>
          <a:endParaRPr lang="en-US"/>
        </a:p>
      </dgm:t>
    </dgm:pt>
    <dgm:pt modelId="{DE775C14-3043-48F1-8330-0235A83AF713}" type="sibTrans" cxnId="{B533B6DC-3059-4F07-8937-834358F71332}">
      <dgm:prSet phldrT="3" phldr="0"/>
      <dgm:spPr/>
      <dgm:t>
        <a:bodyPr/>
        <a:lstStyle/>
        <a:p>
          <a:r>
            <a:rPr lang="en-US"/>
            <a:t>3</a:t>
          </a:r>
        </a:p>
      </dgm:t>
    </dgm:pt>
    <dgm:pt modelId="{F4715930-6673-4D69-92FB-535E2979E5A4}" type="pres">
      <dgm:prSet presAssocID="{42904EE9-FB5B-492A-AB61-24427731AE37}" presName="Name0" presStyleCnt="0">
        <dgm:presLayoutVars>
          <dgm:animLvl val="lvl"/>
          <dgm:resizeHandles val="exact"/>
        </dgm:presLayoutVars>
      </dgm:prSet>
      <dgm:spPr/>
    </dgm:pt>
    <dgm:pt modelId="{D3E22A53-475B-4DC6-950F-163F56261A7E}" type="pres">
      <dgm:prSet presAssocID="{9EDDB417-1A84-4DF0-9ACF-828DABB17D19}" presName="compositeNode" presStyleCnt="0">
        <dgm:presLayoutVars>
          <dgm:bulletEnabled val="1"/>
        </dgm:presLayoutVars>
      </dgm:prSet>
      <dgm:spPr/>
    </dgm:pt>
    <dgm:pt modelId="{59FE54B8-033E-4BB8-9494-E7992B8890B5}" type="pres">
      <dgm:prSet presAssocID="{9EDDB417-1A84-4DF0-9ACF-828DABB17D19}" presName="bgRect" presStyleLbl="bgAccFollowNode1" presStyleIdx="0" presStyleCnt="3"/>
      <dgm:spPr/>
    </dgm:pt>
    <dgm:pt modelId="{B3436B8F-603E-4F91-B7CE-E1F47A62957F}" type="pres">
      <dgm:prSet presAssocID="{36FB4F2B-1DF3-4E32-93CE-F8BDBD98DB9A}" presName="sibTransNodeCircle" presStyleLbl="alignNode1" presStyleIdx="0" presStyleCnt="6">
        <dgm:presLayoutVars>
          <dgm:chMax val="0"/>
          <dgm:bulletEnabled/>
        </dgm:presLayoutVars>
      </dgm:prSet>
      <dgm:spPr/>
    </dgm:pt>
    <dgm:pt modelId="{ABD99FD1-658F-40E7-9F5F-E6AF24B3200E}" type="pres">
      <dgm:prSet presAssocID="{9EDDB417-1A84-4DF0-9ACF-828DABB17D19}" presName="bottomLine" presStyleLbl="alignNode1" presStyleIdx="1" presStyleCnt="6">
        <dgm:presLayoutVars/>
      </dgm:prSet>
      <dgm:spPr/>
    </dgm:pt>
    <dgm:pt modelId="{313D4029-F9FD-468D-9C18-282736364C4D}" type="pres">
      <dgm:prSet presAssocID="{9EDDB417-1A84-4DF0-9ACF-828DABB17D19}" presName="nodeText" presStyleLbl="bgAccFollowNode1" presStyleIdx="0" presStyleCnt="3">
        <dgm:presLayoutVars>
          <dgm:bulletEnabled val="1"/>
        </dgm:presLayoutVars>
      </dgm:prSet>
      <dgm:spPr/>
    </dgm:pt>
    <dgm:pt modelId="{F6DDF20E-42A5-4ED3-9912-8669600BCFDC}" type="pres">
      <dgm:prSet presAssocID="{36FB4F2B-1DF3-4E32-93CE-F8BDBD98DB9A}" presName="sibTrans" presStyleCnt="0"/>
      <dgm:spPr/>
    </dgm:pt>
    <dgm:pt modelId="{6626F052-321B-4634-AB27-C61320AE5E4E}" type="pres">
      <dgm:prSet presAssocID="{6E16B445-DA0C-4E82-85B3-42371DC8B92C}" presName="compositeNode" presStyleCnt="0">
        <dgm:presLayoutVars>
          <dgm:bulletEnabled val="1"/>
        </dgm:presLayoutVars>
      </dgm:prSet>
      <dgm:spPr/>
    </dgm:pt>
    <dgm:pt modelId="{5483F6C3-9E6F-494B-AEB9-66D7CAB49F6D}" type="pres">
      <dgm:prSet presAssocID="{6E16B445-DA0C-4E82-85B3-42371DC8B92C}" presName="bgRect" presStyleLbl="bgAccFollowNode1" presStyleIdx="1" presStyleCnt="3"/>
      <dgm:spPr/>
    </dgm:pt>
    <dgm:pt modelId="{99BAB15B-D1C8-4204-934D-23835274B817}" type="pres">
      <dgm:prSet presAssocID="{514647C6-2201-4B08-A153-941EC79AF7AC}" presName="sibTransNodeCircle" presStyleLbl="alignNode1" presStyleIdx="2" presStyleCnt="6">
        <dgm:presLayoutVars>
          <dgm:chMax val="0"/>
          <dgm:bulletEnabled/>
        </dgm:presLayoutVars>
      </dgm:prSet>
      <dgm:spPr/>
    </dgm:pt>
    <dgm:pt modelId="{43F96765-A5CC-4CE9-991D-2A4E444C3629}" type="pres">
      <dgm:prSet presAssocID="{6E16B445-DA0C-4E82-85B3-42371DC8B92C}" presName="bottomLine" presStyleLbl="alignNode1" presStyleIdx="3" presStyleCnt="6">
        <dgm:presLayoutVars/>
      </dgm:prSet>
      <dgm:spPr/>
    </dgm:pt>
    <dgm:pt modelId="{8D28D9A0-DF36-46D0-8E64-24B14AD7A197}" type="pres">
      <dgm:prSet presAssocID="{6E16B445-DA0C-4E82-85B3-42371DC8B92C}" presName="nodeText" presStyleLbl="bgAccFollowNode1" presStyleIdx="1" presStyleCnt="3">
        <dgm:presLayoutVars>
          <dgm:bulletEnabled val="1"/>
        </dgm:presLayoutVars>
      </dgm:prSet>
      <dgm:spPr/>
    </dgm:pt>
    <dgm:pt modelId="{09160A18-D1EF-4F3D-9511-215D74103B26}" type="pres">
      <dgm:prSet presAssocID="{514647C6-2201-4B08-A153-941EC79AF7AC}" presName="sibTrans" presStyleCnt="0"/>
      <dgm:spPr/>
    </dgm:pt>
    <dgm:pt modelId="{D12E4526-6D72-4C22-8638-9D847DB31D52}" type="pres">
      <dgm:prSet presAssocID="{CE9E0C5C-0024-4ED1-B812-BF93080D3BC4}" presName="compositeNode" presStyleCnt="0">
        <dgm:presLayoutVars>
          <dgm:bulletEnabled val="1"/>
        </dgm:presLayoutVars>
      </dgm:prSet>
      <dgm:spPr/>
    </dgm:pt>
    <dgm:pt modelId="{CFF38E6F-20C4-4970-BEAC-7C5F63D54077}" type="pres">
      <dgm:prSet presAssocID="{CE9E0C5C-0024-4ED1-B812-BF93080D3BC4}" presName="bgRect" presStyleLbl="bgAccFollowNode1" presStyleIdx="2" presStyleCnt="3"/>
      <dgm:spPr/>
    </dgm:pt>
    <dgm:pt modelId="{8288860A-FF1F-40C5-B800-DD0381184B80}" type="pres">
      <dgm:prSet presAssocID="{DE775C14-3043-48F1-8330-0235A83AF713}" presName="sibTransNodeCircle" presStyleLbl="alignNode1" presStyleIdx="4" presStyleCnt="6">
        <dgm:presLayoutVars>
          <dgm:chMax val="0"/>
          <dgm:bulletEnabled/>
        </dgm:presLayoutVars>
      </dgm:prSet>
      <dgm:spPr/>
    </dgm:pt>
    <dgm:pt modelId="{12C1482D-5718-46BC-B749-A148D6091483}" type="pres">
      <dgm:prSet presAssocID="{CE9E0C5C-0024-4ED1-B812-BF93080D3BC4}" presName="bottomLine" presStyleLbl="alignNode1" presStyleIdx="5" presStyleCnt="6">
        <dgm:presLayoutVars/>
      </dgm:prSet>
      <dgm:spPr/>
    </dgm:pt>
    <dgm:pt modelId="{8604BA59-D941-4362-987A-18EEE8B2BAA7}" type="pres">
      <dgm:prSet presAssocID="{CE9E0C5C-0024-4ED1-B812-BF93080D3BC4}" presName="nodeText" presStyleLbl="bgAccFollowNode1" presStyleIdx="2" presStyleCnt="3">
        <dgm:presLayoutVars>
          <dgm:bulletEnabled val="1"/>
        </dgm:presLayoutVars>
      </dgm:prSet>
      <dgm:spPr/>
    </dgm:pt>
  </dgm:ptLst>
  <dgm:cxnLst>
    <dgm:cxn modelId="{B907E700-5421-4C2E-A90B-5F3E25120398}" type="presOf" srcId="{9EDDB417-1A84-4DF0-9ACF-828DABB17D19}" destId="{59FE54B8-033E-4BB8-9494-E7992B8890B5}" srcOrd="0" destOrd="0" presId="urn:microsoft.com/office/officeart/2016/7/layout/BasicLinearProcessNumbered"/>
    <dgm:cxn modelId="{6A9F2A0C-8A08-469C-AF78-9B622BBF67B6}" type="presOf" srcId="{CE9E0C5C-0024-4ED1-B812-BF93080D3BC4}" destId="{CFF38E6F-20C4-4970-BEAC-7C5F63D54077}" srcOrd="0" destOrd="0" presId="urn:microsoft.com/office/officeart/2016/7/layout/BasicLinearProcessNumbered"/>
    <dgm:cxn modelId="{DAF68A17-7170-4E1D-9CA9-39CAF0B9E841}" type="presOf" srcId="{42904EE9-FB5B-492A-AB61-24427731AE37}" destId="{F4715930-6673-4D69-92FB-535E2979E5A4}" srcOrd="0" destOrd="0" presId="urn:microsoft.com/office/officeart/2016/7/layout/BasicLinearProcessNumbered"/>
    <dgm:cxn modelId="{E7ABDE2B-5177-4873-BE2B-8CD8AFF96950}" type="presOf" srcId="{CE9E0C5C-0024-4ED1-B812-BF93080D3BC4}" destId="{8604BA59-D941-4362-987A-18EEE8B2BAA7}" srcOrd="1" destOrd="0" presId="urn:microsoft.com/office/officeart/2016/7/layout/BasicLinearProcessNumbered"/>
    <dgm:cxn modelId="{AA30F440-15B8-4BAC-BF7D-99C370B14EF9}" type="presOf" srcId="{6E16B445-DA0C-4E82-85B3-42371DC8B92C}" destId="{8D28D9A0-DF36-46D0-8E64-24B14AD7A197}" srcOrd="1" destOrd="0" presId="urn:microsoft.com/office/officeart/2016/7/layout/BasicLinearProcessNumbered"/>
    <dgm:cxn modelId="{D5E05F60-580F-4284-9481-37716F813926}" srcId="{42904EE9-FB5B-492A-AB61-24427731AE37}" destId="{6E16B445-DA0C-4E82-85B3-42371DC8B92C}" srcOrd="1" destOrd="0" parTransId="{59AAF0DC-7399-43BC-9DA9-7A4AC9DD9AB6}" sibTransId="{514647C6-2201-4B08-A153-941EC79AF7AC}"/>
    <dgm:cxn modelId="{DDC8A561-E1E7-4326-8AD4-AA9BCDD431B8}" srcId="{42904EE9-FB5B-492A-AB61-24427731AE37}" destId="{9EDDB417-1A84-4DF0-9ACF-828DABB17D19}" srcOrd="0" destOrd="0" parTransId="{8DBE00BB-FEA4-4E6F-8541-52A12E65BFB2}" sibTransId="{36FB4F2B-1DF3-4E32-93CE-F8BDBD98DB9A}"/>
    <dgm:cxn modelId="{FAD4A490-2964-4D49-A849-D40ED976EC93}" type="presOf" srcId="{DE775C14-3043-48F1-8330-0235A83AF713}" destId="{8288860A-FF1F-40C5-B800-DD0381184B80}" srcOrd="0" destOrd="0" presId="urn:microsoft.com/office/officeart/2016/7/layout/BasicLinearProcessNumbered"/>
    <dgm:cxn modelId="{9ED13EA4-C1F1-415B-B348-E413F017B5A1}" type="presOf" srcId="{514647C6-2201-4B08-A153-941EC79AF7AC}" destId="{99BAB15B-D1C8-4204-934D-23835274B817}" srcOrd="0" destOrd="0" presId="urn:microsoft.com/office/officeart/2016/7/layout/BasicLinearProcessNumbered"/>
    <dgm:cxn modelId="{8CC293A4-008F-4B5B-8140-45A542F50FAE}" type="presOf" srcId="{9EDDB417-1A84-4DF0-9ACF-828DABB17D19}" destId="{313D4029-F9FD-468D-9C18-282736364C4D}" srcOrd="1" destOrd="0" presId="urn:microsoft.com/office/officeart/2016/7/layout/BasicLinearProcessNumbered"/>
    <dgm:cxn modelId="{4C857DC0-674D-4FA0-BD47-216244596698}" type="presOf" srcId="{36FB4F2B-1DF3-4E32-93CE-F8BDBD98DB9A}" destId="{B3436B8F-603E-4F91-B7CE-E1F47A62957F}" srcOrd="0" destOrd="0" presId="urn:microsoft.com/office/officeart/2016/7/layout/BasicLinearProcessNumbered"/>
    <dgm:cxn modelId="{F1A4D6C1-6B5A-4E87-B0E1-5AAF0F71B262}" type="presOf" srcId="{6E16B445-DA0C-4E82-85B3-42371DC8B92C}" destId="{5483F6C3-9E6F-494B-AEB9-66D7CAB49F6D}" srcOrd="0" destOrd="0" presId="urn:microsoft.com/office/officeart/2016/7/layout/BasicLinearProcessNumbered"/>
    <dgm:cxn modelId="{B533B6DC-3059-4F07-8937-834358F71332}" srcId="{42904EE9-FB5B-492A-AB61-24427731AE37}" destId="{CE9E0C5C-0024-4ED1-B812-BF93080D3BC4}" srcOrd="2" destOrd="0" parTransId="{1AC0F460-2B0C-47EA-8E7F-E2EB19F85E37}" sibTransId="{DE775C14-3043-48F1-8330-0235A83AF713}"/>
    <dgm:cxn modelId="{A17974CF-3C43-418D-B4AF-E514EEC91064}" type="presParOf" srcId="{F4715930-6673-4D69-92FB-535E2979E5A4}" destId="{D3E22A53-475B-4DC6-950F-163F56261A7E}" srcOrd="0" destOrd="0" presId="urn:microsoft.com/office/officeart/2016/7/layout/BasicLinearProcessNumbered"/>
    <dgm:cxn modelId="{24487247-BA73-4C2B-8985-EEEB6659E1AD}" type="presParOf" srcId="{D3E22A53-475B-4DC6-950F-163F56261A7E}" destId="{59FE54B8-033E-4BB8-9494-E7992B8890B5}" srcOrd="0" destOrd="0" presId="urn:microsoft.com/office/officeart/2016/7/layout/BasicLinearProcessNumbered"/>
    <dgm:cxn modelId="{4BAE1E58-2B9D-41AE-B223-3E9FAB475CFA}" type="presParOf" srcId="{D3E22A53-475B-4DC6-950F-163F56261A7E}" destId="{B3436B8F-603E-4F91-B7CE-E1F47A62957F}" srcOrd="1" destOrd="0" presId="urn:microsoft.com/office/officeart/2016/7/layout/BasicLinearProcessNumbered"/>
    <dgm:cxn modelId="{32D5E977-BED6-4721-BA94-4A6EE55BB37E}" type="presParOf" srcId="{D3E22A53-475B-4DC6-950F-163F56261A7E}" destId="{ABD99FD1-658F-40E7-9F5F-E6AF24B3200E}" srcOrd="2" destOrd="0" presId="urn:microsoft.com/office/officeart/2016/7/layout/BasicLinearProcessNumbered"/>
    <dgm:cxn modelId="{8B0386B1-56D2-4400-B880-6AEA6EB88F75}" type="presParOf" srcId="{D3E22A53-475B-4DC6-950F-163F56261A7E}" destId="{313D4029-F9FD-468D-9C18-282736364C4D}" srcOrd="3" destOrd="0" presId="urn:microsoft.com/office/officeart/2016/7/layout/BasicLinearProcessNumbered"/>
    <dgm:cxn modelId="{FE6E4E50-CE04-4424-AE75-97C2BE6F8C20}" type="presParOf" srcId="{F4715930-6673-4D69-92FB-535E2979E5A4}" destId="{F6DDF20E-42A5-4ED3-9912-8669600BCFDC}" srcOrd="1" destOrd="0" presId="urn:microsoft.com/office/officeart/2016/7/layout/BasicLinearProcessNumbered"/>
    <dgm:cxn modelId="{8970E4DC-A9F1-47B9-A430-60EE5E6DDEDC}" type="presParOf" srcId="{F4715930-6673-4D69-92FB-535E2979E5A4}" destId="{6626F052-321B-4634-AB27-C61320AE5E4E}" srcOrd="2" destOrd="0" presId="urn:microsoft.com/office/officeart/2016/7/layout/BasicLinearProcessNumbered"/>
    <dgm:cxn modelId="{8F046C93-E4D6-4858-9414-8C491CBC1DA8}" type="presParOf" srcId="{6626F052-321B-4634-AB27-C61320AE5E4E}" destId="{5483F6C3-9E6F-494B-AEB9-66D7CAB49F6D}" srcOrd="0" destOrd="0" presId="urn:microsoft.com/office/officeart/2016/7/layout/BasicLinearProcessNumbered"/>
    <dgm:cxn modelId="{8BDDFD67-FE41-4828-9101-805501854C53}" type="presParOf" srcId="{6626F052-321B-4634-AB27-C61320AE5E4E}" destId="{99BAB15B-D1C8-4204-934D-23835274B817}" srcOrd="1" destOrd="0" presId="urn:microsoft.com/office/officeart/2016/7/layout/BasicLinearProcessNumbered"/>
    <dgm:cxn modelId="{75092A17-3739-4DBB-A651-27F9055DD7CD}" type="presParOf" srcId="{6626F052-321B-4634-AB27-C61320AE5E4E}" destId="{43F96765-A5CC-4CE9-991D-2A4E444C3629}" srcOrd="2" destOrd="0" presId="urn:microsoft.com/office/officeart/2016/7/layout/BasicLinearProcessNumbered"/>
    <dgm:cxn modelId="{30109792-C535-410B-8628-37FB8695786B}" type="presParOf" srcId="{6626F052-321B-4634-AB27-C61320AE5E4E}" destId="{8D28D9A0-DF36-46D0-8E64-24B14AD7A197}" srcOrd="3" destOrd="0" presId="urn:microsoft.com/office/officeart/2016/7/layout/BasicLinearProcessNumbered"/>
    <dgm:cxn modelId="{0C364AFD-C2A5-4AC8-A63D-7F7DFB327298}" type="presParOf" srcId="{F4715930-6673-4D69-92FB-535E2979E5A4}" destId="{09160A18-D1EF-4F3D-9511-215D74103B26}" srcOrd="3" destOrd="0" presId="urn:microsoft.com/office/officeart/2016/7/layout/BasicLinearProcessNumbered"/>
    <dgm:cxn modelId="{6B24ACDE-6BFF-49B9-9C19-DC94E1597763}" type="presParOf" srcId="{F4715930-6673-4D69-92FB-535E2979E5A4}" destId="{D12E4526-6D72-4C22-8638-9D847DB31D52}" srcOrd="4" destOrd="0" presId="urn:microsoft.com/office/officeart/2016/7/layout/BasicLinearProcessNumbered"/>
    <dgm:cxn modelId="{0E79D1E9-92EF-4088-A2E0-51B360A95B8B}" type="presParOf" srcId="{D12E4526-6D72-4C22-8638-9D847DB31D52}" destId="{CFF38E6F-20C4-4970-BEAC-7C5F63D54077}" srcOrd="0" destOrd="0" presId="urn:microsoft.com/office/officeart/2016/7/layout/BasicLinearProcessNumbered"/>
    <dgm:cxn modelId="{F9A6C339-497C-4843-8E61-9C7F77AD1307}" type="presParOf" srcId="{D12E4526-6D72-4C22-8638-9D847DB31D52}" destId="{8288860A-FF1F-40C5-B800-DD0381184B80}" srcOrd="1" destOrd="0" presId="urn:microsoft.com/office/officeart/2016/7/layout/BasicLinearProcessNumbered"/>
    <dgm:cxn modelId="{4A13AC6B-35B4-46D4-8528-3A5D1FE9C729}" type="presParOf" srcId="{D12E4526-6D72-4C22-8638-9D847DB31D52}" destId="{12C1482D-5718-46BC-B749-A148D6091483}" srcOrd="2" destOrd="0" presId="urn:microsoft.com/office/officeart/2016/7/layout/BasicLinearProcessNumbered"/>
    <dgm:cxn modelId="{C9C2DD31-1B2B-499C-9730-FB053228AD5C}" type="presParOf" srcId="{D12E4526-6D72-4C22-8638-9D847DB31D52}" destId="{8604BA59-D941-4362-987A-18EEE8B2BAA7}" srcOrd="3" destOrd="0" presId="urn:microsoft.com/office/officeart/2016/7/layout/BasicLinear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D93D73-BD8B-4DB9-A49F-0E3B3A3ABD8B}">
      <dsp:nvSpPr>
        <dsp:cNvPr id="0" name=""/>
        <dsp:cNvSpPr/>
      </dsp:nvSpPr>
      <dsp:spPr>
        <a:xfrm>
          <a:off x="2672229" y="535503"/>
          <a:ext cx="411234" cy="91440"/>
        </a:xfrm>
        <a:custGeom>
          <a:avLst/>
          <a:gdLst/>
          <a:ahLst/>
          <a:cxnLst/>
          <a:rect l="0" t="0" r="0" b="0"/>
          <a:pathLst>
            <a:path>
              <a:moveTo>
                <a:pt x="0" y="45720"/>
              </a:moveTo>
              <a:lnTo>
                <a:pt x="411234"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66801" y="579012"/>
        <a:ext cx="22091" cy="4422"/>
      </dsp:txXfrm>
    </dsp:sp>
    <dsp:sp modelId="{A273C147-4741-49BE-A4F9-794ED3C23FB2}">
      <dsp:nvSpPr>
        <dsp:cNvPr id="0" name=""/>
        <dsp:cNvSpPr/>
      </dsp:nvSpPr>
      <dsp:spPr>
        <a:xfrm>
          <a:off x="753011" y="4917"/>
          <a:ext cx="1921018" cy="115261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132" tIns="98808" rIns="94132" bIns="98808" numCol="1" spcCol="1270" anchor="ctr" anchorCtr="0">
          <a:noAutofit/>
        </a:bodyPr>
        <a:lstStyle/>
        <a:p>
          <a:pPr marL="0" lvl="0" indent="0" algn="ctr" defTabSz="533400">
            <a:lnSpc>
              <a:spcPct val="90000"/>
            </a:lnSpc>
            <a:spcBef>
              <a:spcPct val="0"/>
            </a:spcBef>
            <a:spcAft>
              <a:spcPct val="35000"/>
            </a:spcAft>
            <a:buNone/>
          </a:pPr>
          <a:r>
            <a:rPr lang="en-US" sz="1200" b="1" kern="1200"/>
            <a:t>Simplify complex data models</a:t>
          </a:r>
          <a:endParaRPr lang="en-US" sz="1200" kern="1200"/>
        </a:p>
      </dsp:txBody>
      <dsp:txXfrm>
        <a:off x="753011" y="4917"/>
        <a:ext cx="1921018" cy="1152611"/>
      </dsp:txXfrm>
    </dsp:sp>
    <dsp:sp modelId="{1D2E5086-36EA-41DE-AAB9-A4FC9735133A}">
      <dsp:nvSpPr>
        <dsp:cNvPr id="0" name=""/>
        <dsp:cNvSpPr/>
      </dsp:nvSpPr>
      <dsp:spPr>
        <a:xfrm>
          <a:off x="5035082" y="535503"/>
          <a:ext cx="411234" cy="91440"/>
        </a:xfrm>
        <a:custGeom>
          <a:avLst/>
          <a:gdLst/>
          <a:ahLst/>
          <a:cxnLst/>
          <a:rect l="0" t="0" r="0" b="0"/>
          <a:pathLst>
            <a:path>
              <a:moveTo>
                <a:pt x="0" y="45720"/>
              </a:moveTo>
              <a:lnTo>
                <a:pt x="411234"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29654" y="579012"/>
        <a:ext cx="22091" cy="4422"/>
      </dsp:txXfrm>
    </dsp:sp>
    <dsp:sp modelId="{7D65938A-9A6D-4032-A00F-2EB08DA9E6D1}">
      <dsp:nvSpPr>
        <dsp:cNvPr id="0" name=""/>
        <dsp:cNvSpPr/>
      </dsp:nvSpPr>
      <dsp:spPr>
        <a:xfrm>
          <a:off x="3115864" y="4917"/>
          <a:ext cx="1921018" cy="1152611"/>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132" tIns="98808" rIns="94132" bIns="98808" numCol="1" spcCol="1270" anchor="ctr" anchorCtr="0">
          <a:noAutofit/>
        </a:bodyPr>
        <a:lstStyle/>
        <a:p>
          <a:pPr marL="0" lvl="0" indent="0" algn="ctr" defTabSz="533400">
            <a:lnSpc>
              <a:spcPct val="90000"/>
            </a:lnSpc>
            <a:spcBef>
              <a:spcPct val="0"/>
            </a:spcBef>
            <a:spcAft>
              <a:spcPct val="35000"/>
            </a:spcAft>
            <a:buNone/>
          </a:pPr>
          <a:r>
            <a:rPr lang="en-US" sz="1200" kern="1200"/>
            <a:t>Consider denormalizing your data model with JSON fields in place of multiple child tables.</a:t>
          </a:r>
        </a:p>
      </dsp:txBody>
      <dsp:txXfrm>
        <a:off x="3115864" y="4917"/>
        <a:ext cx="1921018" cy="1152611"/>
      </dsp:txXfrm>
    </dsp:sp>
    <dsp:sp modelId="{7104E9D0-3AB2-4AAF-B891-51C357D23300}">
      <dsp:nvSpPr>
        <dsp:cNvPr id="0" name=""/>
        <dsp:cNvSpPr/>
      </dsp:nvSpPr>
      <dsp:spPr>
        <a:xfrm>
          <a:off x="7397935" y="535503"/>
          <a:ext cx="411234" cy="91440"/>
        </a:xfrm>
        <a:custGeom>
          <a:avLst/>
          <a:gdLst/>
          <a:ahLst/>
          <a:cxnLst/>
          <a:rect l="0" t="0" r="0" b="0"/>
          <a:pathLst>
            <a:path>
              <a:moveTo>
                <a:pt x="0" y="45720"/>
              </a:moveTo>
              <a:lnTo>
                <a:pt x="411234" y="45720"/>
              </a:lnTo>
            </a:path>
          </a:pathLst>
        </a:custGeom>
        <a:noFill/>
        <a:ln w="635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592507" y="579012"/>
        <a:ext cx="22091" cy="4422"/>
      </dsp:txXfrm>
    </dsp:sp>
    <dsp:sp modelId="{0D47C78A-4C9C-4FA7-BA25-83DAFC6568DF}">
      <dsp:nvSpPr>
        <dsp:cNvPr id="0" name=""/>
        <dsp:cNvSpPr/>
      </dsp:nvSpPr>
      <dsp:spPr>
        <a:xfrm>
          <a:off x="5478717" y="4917"/>
          <a:ext cx="1921018" cy="1152611"/>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132" tIns="98808" rIns="94132" bIns="98808" numCol="1" spcCol="1270" anchor="ctr" anchorCtr="0">
          <a:noAutofit/>
        </a:bodyPr>
        <a:lstStyle/>
        <a:p>
          <a:pPr marL="0" lvl="0" indent="0" algn="ctr" defTabSz="533400">
            <a:lnSpc>
              <a:spcPct val="90000"/>
            </a:lnSpc>
            <a:spcBef>
              <a:spcPct val="0"/>
            </a:spcBef>
            <a:spcAft>
              <a:spcPct val="35000"/>
            </a:spcAft>
            <a:buNone/>
          </a:pPr>
          <a:r>
            <a:rPr lang="en-US" sz="1200" b="1" kern="1200"/>
            <a:t>Store retail and e-commerce data</a:t>
          </a:r>
          <a:endParaRPr lang="en-US" sz="1200" kern="1200"/>
        </a:p>
      </dsp:txBody>
      <dsp:txXfrm>
        <a:off x="5478717" y="4917"/>
        <a:ext cx="1921018" cy="1152611"/>
      </dsp:txXfrm>
    </dsp:sp>
    <dsp:sp modelId="{D0DE58B5-6433-4977-895D-062C355FCCB0}">
      <dsp:nvSpPr>
        <dsp:cNvPr id="0" name=""/>
        <dsp:cNvSpPr/>
      </dsp:nvSpPr>
      <dsp:spPr>
        <a:xfrm>
          <a:off x="1713520" y="1155729"/>
          <a:ext cx="7088559" cy="411234"/>
        </a:xfrm>
        <a:custGeom>
          <a:avLst/>
          <a:gdLst/>
          <a:ahLst/>
          <a:cxnLst/>
          <a:rect l="0" t="0" r="0" b="0"/>
          <a:pathLst>
            <a:path>
              <a:moveTo>
                <a:pt x="7088559" y="0"/>
              </a:moveTo>
              <a:lnTo>
                <a:pt x="7088559" y="222717"/>
              </a:lnTo>
              <a:lnTo>
                <a:pt x="0" y="222717"/>
              </a:lnTo>
              <a:lnTo>
                <a:pt x="0" y="411234"/>
              </a:lnTo>
            </a:path>
          </a:pathLst>
        </a:custGeom>
        <a:noFill/>
        <a:ln w="635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80242" y="1359134"/>
        <a:ext cx="355115" cy="4422"/>
      </dsp:txXfrm>
    </dsp:sp>
    <dsp:sp modelId="{59A443C1-4D0D-46B4-89CE-1DDE0F7F192B}">
      <dsp:nvSpPr>
        <dsp:cNvPr id="0" name=""/>
        <dsp:cNvSpPr/>
      </dsp:nvSpPr>
      <dsp:spPr>
        <a:xfrm>
          <a:off x="7841570" y="4917"/>
          <a:ext cx="1921018" cy="1152611"/>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132" tIns="98808" rIns="94132" bIns="98808" numCol="1" spcCol="1270" anchor="ctr" anchorCtr="0">
          <a:noAutofit/>
        </a:bodyPr>
        <a:lstStyle/>
        <a:p>
          <a:pPr marL="0" lvl="0" indent="0" algn="ctr" defTabSz="533400">
            <a:lnSpc>
              <a:spcPct val="90000"/>
            </a:lnSpc>
            <a:spcBef>
              <a:spcPct val="0"/>
            </a:spcBef>
            <a:spcAft>
              <a:spcPct val="35000"/>
            </a:spcAft>
            <a:buNone/>
          </a:pPr>
          <a:r>
            <a:rPr lang="en-US" sz="1200" kern="1200"/>
            <a:t>Store info about products with a wide range of variable attributes in a denormalized model for flexibility.</a:t>
          </a:r>
        </a:p>
      </dsp:txBody>
      <dsp:txXfrm>
        <a:off x="7841570" y="4917"/>
        <a:ext cx="1921018" cy="1152611"/>
      </dsp:txXfrm>
    </dsp:sp>
    <dsp:sp modelId="{0374AA36-003A-4F89-875A-85EEDE32BECA}">
      <dsp:nvSpPr>
        <dsp:cNvPr id="0" name=""/>
        <dsp:cNvSpPr/>
      </dsp:nvSpPr>
      <dsp:spPr>
        <a:xfrm>
          <a:off x="2672229" y="2129949"/>
          <a:ext cx="411234" cy="91440"/>
        </a:xfrm>
        <a:custGeom>
          <a:avLst/>
          <a:gdLst/>
          <a:ahLst/>
          <a:cxnLst/>
          <a:rect l="0" t="0" r="0" b="0"/>
          <a:pathLst>
            <a:path>
              <a:moveTo>
                <a:pt x="0" y="45720"/>
              </a:moveTo>
              <a:lnTo>
                <a:pt x="411234"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66801" y="2173457"/>
        <a:ext cx="22091" cy="4422"/>
      </dsp:txXfrm>
    </dsp:sp>
    <dsp:sp modelId="{9E7FA1FB-9EE5-463A-A9D1-58F706D8237C}">
      <dsp:nvSpPr>
        <dsp:cNvPr id="0" name=""/>
        <dsp:cNvSpPr/>
      </dsp:nvSpPr>
      <dsp:spPr>
        <a:xfrm>
          <a:off x="753011" y="1599363"/>
          <a:ext cx="1921018" cy="1152611"/>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132" tIns="98808" rIns="94132" bIns="98808" numCol="1" spcCol="1270" anchor="ctr" anchorCtr="0">
          <a:noAutofit/>
        </a:bodyPr>
        <a:lstStyle/>
        <a:p>
          <a:pPr marL="0" lvl="0" indent="0" algn="ctr" defTabSz="533400">
            <a:lnSpc>
              <a:spcPct val="90000"/>
            </a:lnSpc>
            <a:spcBef>
              <a:spcPct val="0"/>
            </a:spcBef>
            <a:spcAft>
              <a:spcPct val="35000"/>
            </a:spcAft>
            <a:buNone/>
          </a:pPr>
          <a:r>
            <a:rPr lang="en-US" sz="1200" b="1" kern="1200"/>
            <a:t>Process log and telemetry data</a:t>
          </a:r>
          <a:endParaRPr lang="en-US" sz="1200" kern="1200"/>
        </a:p>
      </dsp:txBody>
      <dsp:txXfrm>
        <a:off x="753011" y="1599363"/>
        <a:ext cx="1921018" cy="1152611"/>
      </dsp:txXfrm>
    </dsp:sp>
    <dsp:sp modelId="{750DDE56-8FAF-456E-9EDF-457859BC0363}">
      <dsp:nvSpPr>
        <dsp:cNvPr id="0" name=""/>
        <dsp:cNvSpPr/>
      </dsp:nvSpPr>
      <dsp:spPr>
        <a:xfrm>
          <a:off x="5035082" y="2129949"/>
          <a:ext cx="411234" cy="91440"/>
        </a:xfrm>
        <a:custGeom>
          <a:avLst/>
          <a:gdLst/>
          <a:ahLst/>
          <a:cxnLst/>
          <a:rect l="0" t="0" r="0" b="0"/>
          <a:pathLst>
            <a:path>
              <a:moveTo>
                <a:pt x="0" y="45720"/>
              </a:moveTo>
              <a:lnTo>
                <a:pt x="411234"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229654" y="2173457"/>
        <a:ext cx="22091" cy="4422"/>
      </dsp:txXfrm>
    </dsp:sp>
    <dsp:sp modelId="{7BFF4B86-B480-4E30-9FD1-9D02D75283A2}">
      <dsp:nvSpPr>
        <dsp:cNvPr id="0" name=""/>
        <dsp:cNvSpPr/>
      </dsp:nvSpPr>
      <dsp:spPr>
        <a:xfrm>
          <a:off x="3115864" y="1599363"/>
          <a:ext cx="1921018" cy="1152611"/>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132" tIns="98808" rIns="94132" bIns="98808" numCol="1" spcCol="1270" anchor="ctr" anchorCtr="0">
          <a:noAutofit/>
        </a:bodyPr>
        <a:lstStyle/>
        <a:p>
          <a:pPr marL="0" lvl="0" indent="0" algn="ctr" defTabSz="533400">
            <a:lnSpc>
              <a:spcPct val="90000"/>
            </a:lnSpc>
            <a:spcBef>
              <a:spcPct val="0"/>
            </a:spcBef>
            <a:spcAft>
              <a:spcPct val="35000"/>
            </a:spcAft>
            <a:buNone/>
          </a:pPr>
          <a:r>
            <a:rPr lang="en-US" sz="1200" kern="1200"/>
            <a:t>Load, query, and analyze log data stored as JSON files with all the power of the Transact-SQL language.</a:t>
          </a:r>
        </a:p>
      </dsp:txBody>
      <dsp:txXfrm>
        <a:off x="3115864" y="1599363"/>
        <a:ext cx="1921018" cy="1152611"/>
      </dsp:txXfrm>
    </dsp:sp>
    <dsp:sp modelId="{63C00322-A311-4345-8BC2-CA7690726083}">
      <dsp:nvSpPr>
        <dsp:cNvPr id="0" name=""/>
        <dsp:cNvSpPr/>
      </dsp:nvSpPr>
      <dsp:spPr>
        <a:xfrm>
          <a:off x="7397935" y="2129949"/>
          <a:ext cx="411234" cy="91440"/>
        </a:xfrm>
        <a:custGeom>
          <a:avLst/>
          <a:gdLst/>
          <a:ahLst/>
          <a:cxnLst/>
          <a:rect l="0" t="0" r="0" b="0"/>
          <a:pathLst>
            <a:path>
              <a:moveTo>
                <a:pt x="0" y="45720"/>
              </a:moveTo>
              <a:lnTo>
                <a:pt x="411234"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592507" y="2173457"/>
        <a:ext cx="22091" cy="4422"/>
      </dsp:txXfrm>
    </dsp:sp>
    <dsp:sp modelId="{DF0F9188-6352-43FC-AFC3-5309EA08CE8F}">
      <dsp:nvSpPr>
        <dsp:cNvPr id="0" name=""/>
        <dsp:cNvSpPr/>
      </dsp:nvSpPr>
      <dsp:spPr>
        <a:xfrm>
          <a:off x="5478717" y="1599363"/>
          <a:ext cx="1921018" cy="1152611"/>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132" tIns="98808" rIns="94132" bIns="98808" numCol="1" spcCol="1270" anchor="ctr" anchorCtr="0">
          <a:noAutofit/>
        </a:bodyPr>
        <a:lstStyle/>
        <a:p>
          <a:pPr marL="0" lvl="0" indent="0" algn="ctr" defTabSz="533400">
            <a:lnSpc>
              <a:spcPct val="90000"/>
            </a:lnSpc>
            <a:spcBef>
              <a:spcPct val="0"/>
            </a:spcBef>
            <a:spcAft>
              <a:spcPct val="35000"/>
            </a:spcAft>
            <a:buNone/>
          </a:pPr>
          <a:r>
            <a:rPr lang="en-US" sz="1200" b="1" kern="1200"/>
            <a:t>Store semi-structured IoT data</a:t>
          </a:r>
          <a:endParaRPr lang="en-US" sz="1200" kern="1200"/>
        </a:p>
      </dsp:txBody>
      <dsp:txXfrm>
        <a:off x="5478717" y="1599363"/>
        <a:ext cx="1921018" cy="1152611"/>
      </dsp:txXfrm>
    </dsp:sp>
    <dsp:sp modelId="{7B68ABD8-B99F-42FD-8522-F0EDEC775B7A}">
      <dsp:nvSpPr>
        <dsp:cNvPr id="0" name=""/>
        <dsp:cNvSpPr/>
      </dsp:nvSpPr>
      <dsp:spPr>
        <a:xfrm>
          <a:off x="1713520" y="2750174"/>
          <a:ext cx="7088559" cy="411234"/>
        </a:xfrm>
        <a:custGeom>
          <a:avLst/>
          <a:gdLst/>
          <a:ahLst/>
          <a:cxnLst/>
          <a:rect l="0" t="0" r="0" b="0"/>
          <a:pathLst>
            <a:path>
              <a:moveTo>
                <a:pt x="7088559" y="0"/>
              </a:moveTo>
              <a:lnTo>
                <a:pt x="7088559" y="222717"/>
              </a:lnTo>
              <a:lnTo>
                <a:pt x="0" y="222717"/>
              </a:lnTo>
              <a:lnTo>
                <a:pt x="0" y="411234"/>
              </a:lnTo>
            </a:path>
          </a:pathLst>
        </a:custGeom>
        <a:noFill/>
        <a:ln w="635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80242" y="2953580"/>
        <a:ext cx="355115" cy="4422"/>
      </dsp:txXfrm>
    </dsp:sp>
    <dsp:sp modelId="{7F4B30B0-6CEB-403C-B68D-B44BE33F5921}">
      <dsp:nvSpPr>
        <dsp:cNvPr id="0" name=""/>
        <dsp:cNvSpPr/>
      </dsp:nvSpPr>
      <dsp:spPr>
        <a:xfrm>
          <a:off x="7841570" y="1599363"/>
          <a:ext cx="1921018" cy="1152611"/>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132" tIns="98808" rIns="94132" bIns="98808" numCol="1" spcCol="1270" anchor="ctr" anchorCtr="0">
          <a:noAutofit/>
        </a:bodyPr>
        <a:lstStyle/>
        <a:p>
          <a:pPr marL="0" lvl="0" indent="0" algn="ctr" defTabSz="533400">
            <a:lnSpc>
              <a:spcPct val="90000"/>
            </a:lnSpc>
            <a:spcBef>
              <a:spcPct val="0"/>
            </a:spcBef>
            <a:spcAft>
              <a:spcPct val="35000"/>
            </a:spcAft>
            <a:buNone/>
          </a:pPr>
          <a:r>
            <a:rPr lang="en-US" sz="1200" kern="1200"/>
            <a:t>When you need real-time analysis of IoT data, load the incoming data directly into the database instead of staging it in a storage location.</a:t>
          </a:r>
        </a:p>
      </dsp:txBody>
      <dsp:txXfrm>
        <a:off x="7841570" y="1599363"/>
        <a:ext cx="1921018" cy="1152611"/>
      </dsp:txXfrm>
    </dsp:sp>
    <dsp:sp modelId="{036394EB-743C-48F2-994D-533E782859E3}">
      <dsp:nvSpPr>
        <dsp:cNvPr id="0" name=""/>
        <dsp:cNvSpPr/>
      </dsp:nvSpPr>
      <dsp:spPr>
        <a:xfrm>
          <a:off x="2672229" y="3724394"/>
          <a:ext cx="411234" cy="91440"/>
        </a:xfrm>
        <a:custGeom>
          <a:avLst/>
          <a:gdLst/>
          <a:ahLst/>
          <a:cxnLst/>
          <a:rect l="0" t="0" r="0" b="0"/>
          <a:pathLst>
            <a:path>
              <a:moveTo>
                <a:pt x="0" y="45720"/>
              </a:moveTo>
              <a:lnTo>
                <a:pt x="411234" y="45720"/>
              </a:lnTo>
            </a:path>
          </a:pathLst>
        </a:custGeom>
        <a:noFill/>
        <a:ln w="635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866801" y="3767903"/>
        <a:ext cx="22091" cy="4422"/>
      </dsp:txXfrm>
    </dsp:sp>
    <dsp:sp modelId="{C49F36A6-4170-438F-BB84-684233459ED1}">
      <dsp:nvSpPr>
        <dsp:cNvPr id="0" name=""/>
        <dsp:cNvSpPr/>
      </dsp:nvSpPr>
      <dsp:spPr>
        <a:xfrm>
          <a:off x="753011" y="3193808"/>
          <a:ext cx="1921018" cy="1152611"/>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132" tIns="98808" rIns="94132" bIns="98808" numCol="1" spcCol="1270" anchor="ctr" anchorCtr="0">
          <a:noAutofit/>
        </a:bodyPr>
        <a:lstStyle/>
        <a:p>
          <a:pPr marL="0" lvl="0" indent="0" algn="ctr" defTabSz="533400">
            <a:lnSpc>
              <a:spcPct val="90000"/>
            </a:lnSpc>
            <a:spcBef>
              <a:spcPct val="0"/>
            </a:spcBef>
            <a:spcAft>
              <a:spcPct val="35000"/>
            </a:spcAft>
            <a:buNone/>
          </a:pPr>
          <a:r>
            <a:rPr lang="en-US" sz="1200" b="1" kern="1200"/>
            <a:t>Simplify REST API development</a:t>
          </a:r>
          <a:endParaRPr lang="en-US" sz="1200" kern="1200"/>
        </a:p>
      </dsp:txBody>
      <dsp:txXfrm>
        <a:off x="753011" y="3193808"/>
        <a:ext cx="1921018" cy="1152611"/>
      </dsp:txXfrm>
    </dsp:sp>
    <dsp:sp modelId="{3021BC3E-C005-4DA0-B804-7B21691779BA}">
      <dsp:nvSpPr>
        <dsp:cNvPr id="0" name=""/>
        <dsp:cNvSpPr/>
      </dsp:nvSpPr>
      <dsp:spPr>
        <a:xfrm>
          <a:off x="3115864" y="3193808"/>
          <a:ext cx="1921018" cy="1152611"/>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4132" tIns="98808" rIns="94132" bIns="98808" numCol="1" spcCol="1270" anchor="ctr" anchorCtr="0">
          <a:noAutofit/>
        </a:bodyPr>
        <a:lstStyle/>
        <a:p>
          <a:pPr marL="0" lvl="0" indent="0" algn="ctr" defTabSz="533400">
            <a:lnSpc>
              <a:spcPct val="90000"/>
            </a:lnSpc>
            <a:spcBef>
              <a:spcPct val="0"/>
            </a:spcBef>
            <a:spcAft>
              <a:spcPct val="35000"/>
            </a:spcAft>
            <a:buNone/>
          </a:pPr>
          <a:r>
            <a:rPr lang="en-US" sz="1200" kern="1200"/>
            <a:t>Transform relational data from your database easily into the JSON format used by the REST APIs that support your web site.</a:t>
          </a:r>
        </a:p>
      </dsp:txBody>
      <dsp:txXfrm>
        <a:off x="3115864" y="3193808"/>
        <a:ext cx="1921018" cy="11526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4542B5-6068-4C54-AA05-519A805CE8A7}">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D3AF39-5874-42A8-85B0-ECB96A83558B}">
      <dsp:nvSpPr>
        <dsp:cNvPr id="0" name=""/>
        <dsp:cNvSpPr/>
      </dsp:nvSpPr>
      <dsp:spPr>
        <a:xfrm>
          <a:off x="376522" y="280590"/>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F6FF6E0-61EE-4A75-9207-44D9F3711924}">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755650">
            <a:lnSpc>
              <a:spcPct val="90000"/>
            </a:lnSpc>
            <a:spcBef>
              <a:spcPct val="0"/>
            </a:spcBef>
            <a:spcAft>
              <a:spcPct val="35000"/>
            </a:spcAft>
            <a:buNone/>
          </a:pPr>
          <a:r>
            <a:rPr lang="en-US" sz="1700" kern="1200"/>
            <a:t>SQL Server Configuration Manager is a tool to manage the services associated with SQL Server, configure the network protocols used by SQL Server, and manage the network connectivity configuration from SQL Server client computers. In SQL Server 2022 (16.x) and later versions, you can also use SQL Server Configuration Manager to manage the Azure extension for SQL Server.</a:t>
          </a:r>
        </a:p>
      </dsp:txBody>
      <dsp:txXfrm>
        <a:off x="1437631" y="531"/>
        <a:ext cx="9077968" cy="1244702"/>
      </dsp:txXfrm>
    </dsp:sp>
    <dsp:sp modelId="{D3A3C26C-5BAA-420B-8F6F-0B98B2D94F12}">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84DE9A-2BB1-4FB7-98C7-CA0E72BFC9BC}">
      <dsp:nvSpPr>
        <dsp:cNvPr id="0" name=""/>
        <dsp:cNvSpPr/>
      </dsp:nvSpPr>
      <dsp:spPr>
        <a:xfrm>
          <a:off x="376522" y="1836468"/>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C2960A0-10B0-4259-894E-1196B894C9E1}">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755650">
            <a:lnSpc>
              <a:spcPct val="90000"/>
            </a:lnSpc>
            <a:spcBef>
              <a:spcPct val="0"/>
            </a:spcBef>
            <a:spcAft>
              <a:spcPct val="35000"/>
            </a:spcAft>
            <a:buNone/>
          </a:pPr>
          <a:r>
            <a:rPr lang="en-US" sz="1700" kern="1200"/>
            <a:t>SQL Server supports Shared Memory, TCP/IP, and Named Pipes protocols. For information about choosing network protocols, see </a:t>
          </a:r>
          <a:r>
            <a:rPr lang="en-US" sz="1700" kern="1200">
              <a:hlinkClick xmlns:r="http://schemas.openxmlformats.org/officeDocument/2006/relationships" r:id="rId3"/>
            </a:rPr>
            <a:t>Configure client protocols</a:t>
          </a:r>
          <a:r>
            <a:rPr lang="en-US" sz="1700" kern="1200"/>
            <a:t>. SQL Server doesn't support VIA, Banyan VINES Sequenced Packet Protocol (SPP), Multiprotocol, AppleTalk, or NWLink IPX/SPX network protocols.</a:t>
          </a:r>
        </a:p>
      </dsp:txBody>
      <dsp:txXfrm>
        <a:off x="1437631" y="1556410"/>
        <a:ext cx="9077968" cy="1244702"/>
      </dsp:txXfrm>
    </dsp:sp>
    <dsp:sp modelId="{C88539C5-E638-43F6-818A-46873D7061D3}">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DBF96D-0811-45CD-8967-4A0174BDF7B9}">
      <dsp:nvSpPr>
        <dsp:cNvPr id="0" name=""/>
        <dsp:cNvSpPr/>
      </dsp:nvSpPr>
      <dsp:spPr>
        <a:xfrm>
          <a:off x="376522" y="3392347"/>
          <a:ext cx="684586" cy="68458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E4C847B-5950-4C78-A30C-F08D59F48C8F}">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755650">
            <a:lnSpc>
              <a:spcPct val="90000"/>
            </a:lnSpc>
            <a:spcBef>
              <a:spcPct val="0"/>
            </a:spcBef>
            <a:spcAft>
              <a:spcPct val="35000"/>
            </a:spcAft>
            <a:buNone/>
          </a:pPr>
          <a:r>
            <a:rPr lang="en-US" sz="1700" kern="1200"/>
            <a:t>Clients previously connecting with these protocols must select a different protocol to connect to SQL Server. You can't use SQL Server Configuration Manager to configure the WinSock proxy. To configure the WinSock proxy, see your Internet Security and Authentication Server (ISA) documentation.</a:t>
          </a:r>
        </a:p>
      </dsp:txBody>
      <dsp:txXfrm>
        <a:off x="1437631" y="3112289"/>
        <a:ext cx="9077968" cy="12447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FE54B8-033E-4BB8-9494-E7992B8890B5}">
      <dsp:nvSpPr>
        <dsp:cNvPr id="0" name=""/>
        <dsp:cNvSpPr/>
      </dsp:nvSpPr>
      <dsp:spPr>
        <a:xfrm>
          <a:off x="0" y="0"/>
          <a:ext cx="3286125" cy="4351338"/>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533400">
            <a:lnSpc>
              <a:spcPct val="90000"/>
            </a:lnSpc>
            <a:spcBef>
              <a:spcPct val="0"/>
            </a:spcBef>
            <a:spcAft>
              <a:spcPct val="35000"/>
            </a:spcAft>
            <a:buNone/>
          </a:pPr>
          <a:r>
            <a:rPr lang="en-US" sz="1200" kern="1200"/>
            <a:t>Azure SQL Database is always running on the latest stable version of the SQL Server database engine and patched OS with </a:t>
          </a:r>
          <a:r>
            <a:rPr lang="en-US" sz="1200" kern="1200">
              <a:hlinkClick xmlns:r="http://schemas.openxmlformats.org/officeDocument/2006/relationships" r:id="rId1"/>
            </a:rPr>
            <a:t>enterprise class availability SLA</a:t>
          </a:r>
          <a:r>
            <a:rPr lang="en-US" sz="1200" kern="1200"/>
            <a:t> which is higher when </a:t>
          </a:r>
          <a:r>
            <a:rPr lang="en-US" sz="1200" kern="1200">
              <a:hlinkClick xmlns:r="http://schemas.openxmlformats.org/officeDocument/2006/relationships" r:id="rId2"/>
            </a:rPr>
            <a:t>zone redundancy</a:t>
          </a:r>
          <a:r>
            <a:rPr lang="en-US" sz="1200" kern="1200"/>
            <a:t> is implemented. PaaS capabilities built into Azure SQL Database enable you to focus on the domain-specific database administration and optimization activities that are critical for your business.</a:t>
          </a:r>
        </a:p>
      </dsp:txBody>
      <dsp:txXfrm>
        <a:off x="0" y="1653508"/>
        <a:ext cx="3286125" cy="2610802"/>
      </dsp:txXfrm>
    </dsp:sp>
    <dsp:sp modelId="{B3436B8F-603E-4F91-B7CE-E1F47A62957F}">
      <dsp:nvSpPr>
        <dsp:cNvPr id="0" name=""/>
        <dsp:cNvSpPr/>
      </dsp:nvSpPr>
      <dsp:spPr>
        <a:xfrm>
          <a:off x="990361" y="435133"/>
          <a:ext cx="1305401" cy="1305401"/>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1774" tIns="12700" rIns="101774"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1181533" y="626305"/>
        <a:ext cx="923057" cy="923057"/>
      </dsp:txXfrm>
    </dsp:sp>
    <dsp:sp modelId="{ABD99FD1-658F-40E7-9F5F-E6AF24B3200E}">
      <dsp:nvSpPr>
        <dsp:cNvPr id="0" name=""/>
        <dsp:cNvSpPr/>
      </dsp:nvSpPr>
      <dsp:spPr>
        <a:xfrm>
          <a:off x="0" y="4351266"/>
          <a:ext cx="3286125" cy="72"/>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5483F6C3-9E6F-494B-AEB9-66D7CAB49F6D}">
      <dsp:nvSpPr>
        <dsp:cNvPr id="0" name=""/>
        <dsp:cNvSpPr/>
      </dsp:nvSpPr>
      <dsp:spPr>
        <a:xfrm>
          <a:off x="3614737" y="0"/>
          <a:ext cx="3286125" cy="4351338"/>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533400">
            <a:lnSpc>
              <a:spcPct val="90000"/>
            </a:lnSpc>
            <a:spcBef>
              <a:spcPct val="0"/>
            </a:spcBef>
            <a:spcAft>
              <a:spcPct val="35000"/>
            </a:spcAft>
            <a:buNone/>
          </a:pPr>
          <a:r>
            <a:rPr lang="en-US" sz="1200" kern="1200"/>
            <a:t>Azure SQL Database is based on the latest stable version of the </a:t>
          </a:r>
          <a:r>
            <a:rPr lang="en-US" sz="1200" kern="1200">
              <a:hlinkClick xmlns:r="http://schemas.openxmlformats.org/officeDocument/2006/relationships" r:id="rId3"/>
            </a:rPr>
            <a:t>Microsoft SQL Server database engine</a:t>
          </a:r>
          <a:r>
            <a:rPr lang="en-US" sz="1200" kern="1200"/>
            <a:t>. You can use advanced query processing features, such as </a:t>
          </a:r>
          <a:r>
            <a:rPr lang="en-US" sz="1200" kern="1200">
              <a:hlinkClick xmlns:r="http://schemas.openxmlformats.org/officeDocument/2006/relationships" r:id="rId4"/>
            </a:rPr>
            <a:t>high-performance in-memory technologies</a:t>
          </a:r>
          <a:r>
            <a:rPr lang="en-US" sz="1200" kern="1200"/>
            <a:t> and </a:t>
          </a:r>
          <a:r>
            <a:rPr lang="en-US" sz="1200" kern="1200">
              <a:hlinkClick xmlns:r="http://schemas.openxmlformats.org/officeDocument/2006/relationships" r:id="rId5"/>
            </a:rPr>
            <a:t>intelligent query processing</a:t>
          </a:r>
          <a:r>
            <a:rPr lang="en-US" sz="1200" kern="1200"/>
            <a:t>. In fact, the newest capabilities of SQL Server are released first to Azure SQL Database, and then to SQL Server itself. </a:t>
          </a:r>
        </a:p>
      </dsp:txBody>
      <dsp:txXfrm>
        <a:off x="3614737" y="1653508"/>
        <a:ext cx="3286125" cy="2610802"/>
      </dsp:txXfrm>
    </dsp:sp>
    <dsp:sp modelId="{99BAB15B-D1C8-4204-934D-23835274B817}">
      <dsp:nvSpPr>
        <dsp:cNvPr id="0" name=""/>
        <dsp:cNvSpPr/>
      </dsp:nvSpPr>
      <dsp:spPr>
        <a:xfrm>
          <a:off x="4605099" y="435133"/>
          <a:ext cx="1305401" cy="1305401"/>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1774" tIns="12700" rIns="101774"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4796271" y="626305"/>
        <a:ext cx="923057" cy="923057"/>
      </dsp:txXfrm>
    </dsp:sp>
    <dsp:sp modelId="{43F96765-A5CC-4CE9-991D-2A4E444C3629}">
      <dsp:nvSpPr>
        <dsp:cNvPr id="0" name=""/>
        <dsp:cNvSpPr/>
      </dsp:nvSpPr>
      <dsp:spPr>
        <a:xfrm>
          <a:off x="3614737" y="4351266"/>
          <a:ext cx="3286125" cy="72"/>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CFF38E6F-20C4-4970-BEAC-7C5F63D54077}">
      <dsp:nvSpPr>
        <dsp:cNvPr id="0" name=""/>
        <dsp:cNvSpPr/>
      </dsp:nvSpPr>
      <dsp:spPr>
        <a:xfrm>
          <a:off x="7229475" y="0"/>
          <a:ext cx="3286125" cy="4351338"/>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56199" tIns="330200" rIns="256199" bIns="330200" numCol="1" spcCol="1270" anchor="t" anchorCtr="0">
          <a:noAutofit/>
        </a:bodyPr>
        <a:lstStyle/>
        <a:p>
          <a:pPr marL="0" lvl="0" indent="0" algn="l" defTabSz="533400">
            <a:lnSpc>
              <a:spcPct val="90000"/>
            </a:lnSpc>
            <a:spcBef>
              <a:spcPct val="0"/>
            </a:spcBef>
            <a:spcAft>
              <a:spcPct val="35000"/>
            </a:spcAft>
            <a:buNone/>
          </a:pPr>
          <a:r>
            <a:rPr lang="en-US" sz="1200" kern="1200"/>
            <a:t>SQL Database enables you to easily define and scale performance within two different purchasing models: a </a:t>
          </a:r>
          <a:r>
            <a:rPr lang="en-US" sz="1200" kern="1200">
              <a:hlinkClick xmlns:r="http://schemas.openxmlformats.org/officeDocument/2006/relationships" r:id="rId6"/>
            </a:rPr>
            <a:t>vCore-based purchasing model</a:t>
          </a:r>
          <a:r>
            <a:rPr lang="en-US" sz="1200" kern="1200"/>
            <a:t> and a </a:t>
          </a:r>
          <a:r>
            <a:rPr lang="en-US" sz="1200" kern="1200">
              <a:hlinkClick xmlns:r="http://schemas.openxmlformats.org/officeDocument/2006/relationships" r:id="rId7"/>
            </a:rPr>
            <a:t>DTU-based purchasing model</a:t>
          </a:r>
          <a:r>
            <a:rPr lang="en-US" sz="1200" kern="1200"/>
            <a:t>. SQL Database is a fully managed service that has built-in high availability, backups, and other common maintenance operations. Microsoft handles all patching and updating of the SQL and operating system code. </a:t>
          </a:r>
        </a:p>
      </dsp:txBody>
      <dsp:txXfrm>
        <a:off x="7229475" y="1653508"/>
        <a:ext cx="3286125" cy="2610802"/>
      </dsp:txXfrm>
    </dsp:sp>
    <dsp:sp modelId="{8288860A-FF1F-40C5-B800-DD0381184B80}">
      <dsp:nvSpPr>
        <dsp:cNvPr id="0" name=""/>
        <dsp:cNvSpPr/>
      </dsp:nvSpPr>
      <dsp:spPr>
        <a:xfrm>
          <a:off x="8219836" y="435133"/>
          <a:ext cx="1305401" cy="1305401"/>
        </a:xfrm>
        <a:prstGeom prst="ellipse">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01774" tIns="12700" rIns="101774"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8411008" y="626305"/>
        <a:ext cx="923057" cy="923057"/>
      </dsp:txXfrm>
    </dsp:sp>
    <dsp:sp modelId="{12C1482D-5718-46BC-B749-A148D6091483}">
      <dsp:nvSpPr>
        <dsp:cNvPr id="0" name=""/>
        <dsp:cNvSpPr/>
      </dsp:nvSpPr>
      <dsp:spPr>
        <a:xfrm>
          <a:off x="7229475" y="4351266"/>
          <a:ext cx="3286125" cy="72"/>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D1D1EADE-8E88-4C7C-8AC5-FB148DE4940E}" type="datetime1">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381282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57B6794-849E-4626-908B-D15793550EFB}" type="datetime1">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310521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753848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462B0B-D248-4FFB-8695-AD7FA4B1284A}" type="datetime1">
              <a:rPr lang="en-US" smtClean="0"/>
              <a:t>4/12/2026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29133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0378EFB-9159-4510-B73F-4F0409ADE937}" type="datetime1">
              <a:rPr lang="en-US" smtClean="0"/>
              <a:t>4/12/2026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5880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9BC9412-2452-4BED-A324-9D8C115361AD}" type="datetime1">
              <a:rPr lang="en-US" smtClean="0"/>
              <a:t>4/12/2026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61267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4/12/2026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845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4/12/2026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55275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4/12/2026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72265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C3C8B9C-477D-492A-96AD-1FC2CC997A73}" type="datetime1">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32429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D3AED5-E26D-4E29-B1B3-7847B6779594}" type="datetime1">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35001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1BA835-12AC-4E8F-955A-EA3F4DE2791F}" type="datetime1">
              <a:rPr lang="en-US" smtClean="0"/>
              <a:t>4/12/2026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42264235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learn.microsoft.com/en-us/sql/t-sql/language-reference?view=sql-server-ver17"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hyperlink" Target="https://learn.microsoft.com/en-us/sql/t-sql/data-types/vector-data-type?view=sql-server-ver17"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docs.microsoft.com/en-us/azure/azure-sql/multi-model-features"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learn.microsoft.com/en-us/sql/database-engine/sql-server-business-continuity-dr?view=sql-server-ver17"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47766EE-4192-4B2D-A5A0-F60F9A5F74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05376E4A-2BE5-D1E2-9853-285A1D1BAF05}"/>
              </a:ext>
            </a:extLst>
          </p:cNvPr>
          <p:cNvPicPr>
            <a:picLocks noChangeAspect="1"/>
          </p:cNvPicPr>
          <p:nvPr/>
        </p:nvPicPr>
        <p:blipFill>
          <a:blip r:embed="rId2"/>
          <a:srcRect r="10666" b="-1"/>
          <a:stretch>
            <a:fillRect/>
          </a:stretch>
        </p:blipFill>
        <p:spPr>
          <a:xfrm>
            <a:off x="20" y="10"/>
            <a:ext cx="12191980" cy="6857990"/>
          </a:xfrm>
          <a:prstGeom prst="rect">
            <a:avLst/>
          </a:prstGeom>
        </p:spPr>
      </p:pic>
      <p:sp>
        <p:nvSpPr>
          <p:cNvPr id="11" name="Graphic 1">
            <a:extLst>
              <a:ext uri="{FF2B5EF4-FFF2-40B4-BE49-F238E27FC236}">
                <a16:creationId xmlns:a16="http://schemas.microsoft.com/office/drawing/2014/main" id="{D6705569-F545-4F47-A260-A9202826EA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655438" y="838201"/>
            <a:ext cx="7098161" cy="4549051"/>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2" name="Title 1">
            <a:extLst>
              <a:ext uri="{FF2B5EF4-FFF2-40B4-BE49-F238E27FC236}">
                <a16:creationId xmlns:a16="http://schemas.microsoft.com/office/drawing/2014/main" id="{679C7D00-130E-A1B8-9CB1-26A2CFC5DAF6}"/>
              </a:ext>
            </a:extLst>
          </p:cNvPr>
          <p:cNvSpPr>
            <a:spLocks noGrp="1"/>
          </p:cNvSpPr>
          <p:nvPr>
            <p:ph type="ctrTitle"/>
          </p:nvPr>
        </p:nvSpPr>
        <p:spPr>
          <a:xfrm>
            <a:off x="3325473" y="1924619"/>
            <a:ext cx="5541054" cy="1655378"/>
          </a:xfrm>
        </p:spPr>
        <p:txBody>
          <a:bodyPr>
            <a:normAutofit/>
          </a:bodyPr>
          <a:lstStyle/>
          <a:p>
            <a:r>
              <a:rPr lang="en-US" sz="3700"/>
              <a:t>SQL Server Administration &amp; Azure Data Engineering</a:t>
            </a:r>
          </a:p>
        </p:txBody>
      </p:sp>
      <p:sp>
        <p:nvSpPr>
          <p:cNvPr id="3" name="Subtitle 2">
            <a:extLst>
              <a:ext uri="{FF2B5EF4-FFF2-40B4-BE49-F238E27FC236}">
                <a16:creationId xmlns:a16="http://schemas.microsoft.com/office/drawing/2014/main" id="{F58008BC-5ED9-4BB0-3698-665568F63700}"/>
              </a:ext>
            </a:extLst>
          </p:cNvPr>
          <p:cNvSpPr>
            <a:spLocks noGrp="1"/>
          </p:cNvSpPr>
          <p:nvPr>
            <p:ph type="subTitle" idx="1"/>
          </p:nvPr>
        </p:nvSpPr>
        <p:spPr>
          <a:xfrm>
            <a:off x="3880419" y="3668285"/>
            <a:ext cx="4431162" cy="1337967"/>
          </a:xfrm>
        </p:spPr>
        <p:txBody>
          <a:bodyPr>
            <a:normAutofit/>
          </a:bodyPr>
          <a:lstStyle/>
          <a:p>
            <a:r>
              <a:rPr lang="en-US"/>
              <a:t>Day 1</a:t>
            </a:r>
          </a:p>
        </p:txBody>
      </p:sp>
    </p:spTree>
    <p:extLst>
      <p:ext uri="{BB962C8B-B14F-4D97-AF65-F5344CB8AC3E}">
        <p14:creationId xmlns:p14="http://schemas.microsoft.com/office/powerpoint/2010/main" val="1972545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2BB31E-A9BD-D8C3-F865-874E07BC1798}"/>
              </a:ext>
            </a:extLst>
          </p:cNvPr>
          <p:cNvSpPr>
            <a:spLocks noGrp="1"/>
          </p:cNvSpPr>
          <p:nvPr>
            <p:ph type="title"/>
          </p:nvPr>
        </p:nvSpPr>
        <p:spPr>
          <a:xfrm>
            <a:off x="5297762" y="329184"/>
            <a:ext cx="6251110" cy="1783080"/>
          </a:xfrm>
        </p:spPr>
        <p:txBody>
          <a:bodyPr anchor="b">
            <a:normAutofit/>
          </a:bodyPr>
          <a:lstStyle/>
          <a:p>
            <a:r>
              <a:rPr lang="en-US" sz="5400"/>
              <a:t>Agenda</a:t>
            </a:r>
          </a:p>
        </p:txBody>
      </p:sp>
      <p:pic>
        <p:nvPicPr>
          <p:cNvPr id="22" name="Picture 21" descr="Computer script on a screen">
            <a:extLst>
              <a:ext uri="{FF2B5EF4-FFF2-40B4-BE49-F238E27FC236}">
                <a16:creationId xmlns:a16="http://schemas.microsoft.com/office/drawing/2014/main" id="{E3E24C0B-1BDE-A4F0-4482-865C265ACB09}"/>
              </a:ext>
            </a:extLst>
          </p:cNvPr>
          <p:cNvPicPr>
            <a:picLocks noChangeAspect="1"/>
          </p:cNvPicPr>
          <p:nvPr/>
        </p:nvPicPr>
        <p:blipFill>
          <a:blip r:embed="rId2"/>
          <a:srcRect l="7448" r="47221" b="-1"/>
          <a:stretch>
            <a:fillRect/>
          </a:stretch>
        </p:blipFill>
        <p:spPr>
          <a:xfrm>
            <a:off x="1" y="10"/>
            <a:ext cx="4657344"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28"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7762" y="2374947"/>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518882D-3313-EA10-DF38-9C2AAE0C7A76}"/>
              </a:ext>
            </a:extLst>
          </p:cNvPr>
          <p:cNvSpPr>
            <a:spLocks noGrp="1"/>
          </p:cNvSpPr>
          <p:nvPr>
            <p:ph idx="1"/>
          </p:nvPr>
        </p:nvSpPr>
        <p:spPr>
          <a:xfrm>
            <a:off x="5297762" y="2706624"/>
            <a:ext cx="6251110" cy="3483864"/>
          </a:xfrm>
        </p:spPr>
        <p:txBody>
          <a:bodyPr>
            <a:normAutofit/>
          </a:bodyPr>
          <a:lstStyle/>
          <a:p>
            <a:r>
              <a:rPr lang="en-US" sz="2200"/>
              <a:t>SQL Server Platform Overview </a:t>
            </a:r>
          </a:p>
          <a:p>
            <a:r>
              <a:rPr lang="en-US" sz="2200"/>
              <a:t>SQL Server Deployment Options </a:t>
            </a:r>
          </a:p>
          <a:p>
            <a:r>
              <a:rPr lang="en-US" sz="2200"/>
              <a:t>SQL Database Engine</a:t>
            </a:r>
          </a:p>
          <a:p>
            <a:r>
              <a:rPr lang="en-US" sz="2200"/>
              <a:t>SQL Server Platform Architecture Deep Dive </a:t>
            </a:r>
          </a:p>
          <a:p>
            <a:r>
              <a:rPr lang="en-US" sz="2200"/>
              <a:t>Database Design with SQL Server </a:t>
            </a:r>
          </a:p>
          <a:p>
            <a:r>
              <a:rPr lang="en-US" sz="2200"/>
              <a:t>SQL Server Configuration Manager </a:t>
            </a:r>
          </a:p>
          <a:p>
            <a:r>
              <a:rPr lang="en-US" sz="2200"/>
              <a:t>Walkthrough on Azure SQL </a:t>
            </a:r>
          </a:p>
          <a:p>
            <a:r>
              <a:rPr lang="en-US" sz="2200"/>
              <a:t>SQL Server &amp; Azure SQL </a:t>
            </a:r>
          </a:p>
        </p:txBody>
      </p:sp>
    </p:spTree>
    <p:extLst>
      <p:ext uri="{BB962C8B-B14F-4D97-AF65-F5344CB8AC3E}">
        <p14:creationId xmlns:p14="http://schemas.microsoft.com/office/powerpoint/2010/main" val="19798733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401CD0A-13AF-6BEA-32F0-04CE9D993CD1}"/>
              </a:ext>
            </a:extLst>
          </p:cNvPr>
          <p:cNvSpPr>
            <a:spLocks noGrp="1"/>
          </p:cNvSpPr>
          <p:nvPr>
            <p:ph type="title"/>
          </p:nvPr>
        </p:nvSpPr>
        <p:spPr>
          <a:xfrm>
            <a:off x="1137036" y="548640"/>
            <a:ext cx="9543405" cy="1188720"/>
          </a:xfrm>
        </p:spPr>
        <p:txBody>
          <a:bodyPr>
            <a:normAutofit/>
          </a:bodyPr>
          <a:lstStyle/>
          <a:p>
            <a:r>
              <a:rPr lang="en-US">
                <a:solidFill>
                  <a:schemeClr val="tx1">
                    <a:lumMod val="85000"/>
                    <a:lumOff val="15000"/>
                  </a:schemeClr>
                </a:solidFill>
              </a:rPr>
              <a:t>SQL Server Platform Overview </a:t>
            </a:r>
          </a:p>
        </p:txBody>
      </p:sp>
      <p:sp>
        <p:nvSpPr>
          <p:cNvPr id="3" name="Content Placeholder 2">
            <a:extLst>
              <a:ext uri="{FF2B5EF4-FFF2-40B4-BE49-F238E27FC236}">
                <a16:creationId xmlns:a16="http://schemas.microsoft.com/office/drawing/2014/main" id="{83DA21EC-EC3E-D0FA-CDB9-B872137B1193}"/>
              </a:ext>
            </a:extLst>
          </p:cNvPr>
          <p:cNvSpPr>
            <a:spLocks noGrp="1"/>
          </p:cNvSpPr>
          <p:nvPr>
            <p:ph idx="1"/>
          </p:nvPr>
        </p:nvSpPr>
        <p:spPr>
          <a:xfrm>
            <a:off x="1957987" y="2431765"/>
            <a:ext cx="8276026" cy="3320031"/>
          </a:xfrm>
        </p:spPr>
        <p:txBody>
          <a:bodyPr anchor="ctr">
            <a:normAutofit/>
          </a:bodyPr>
          <a:lstStyle/>
          <a:p>
            <a:r>
              <a:rPr lang="en-US" sz="1700">
                <a:solidFill>
                  <a:schemeClr val="tx1">
                    <a:lumMod val="85000"/>
                    <a:lumOff val="15000"/>
                  </a:schemeClr>
                </a:solidFill>
              </a:rPr>
              <a:t>Microsoft SQL Server is a relational database management system (RDBMS). Applications and tools connect to a SQL Server instance or database and communicate using </a:t>
            </a:r>
            <a:r>
              <a:rPr lang="en-US" sz="1700">
                <a:solidFill>
                  <a:schemeClr val="tx1">
                    <a:lumMod val="85000"/>
                    <a:lumOff val="15000"/>
                  </a:schemeClr>
                </a:solidFill>
                <a:hlinkClick r:id="rId2">
                  <a:extLst>
                    <a:ext uri="{A12FA001-AC4F-418D-AE19-62706E023703}">
                      <ahyp:hlinkClr xmlns:ahyp="http://schemas.microsoft.com/office/drawing/2018/hyperlinkcolor" val="tx"/>
                    </a:ext>
                  </a:extLst>
                </a:hlinkClick>
              </a:rPr>
              <a:t>Transact-SQL</a:t>
            </a:r>
            <a:r>
              <a:rPr lang="en-US" sz="1700">
                <a:solidFill>
                  <a:schemeClr val="tx1">
                    <a:lumMod val="85000"/>
                    <a:lumOff val="15000"/>
                  </a:schemeClr>
                </a:solidFill>
              </a:rPr>
              <a:t> (T-SQL).</a:t>
            </a:r>
          </a:p>
          <a:p>
            <a:endParaRPr lang="en-US" sz="1700">
              <a:solidFill>
                <a:schemeClr val="tx1">
                  <a:lumMod val="85000"/>
                  <a:lumOff val="15000"/>
                </a:schemeClr>
              </a:solidFill>
            </a:endParaRPr>
          </a:p>
          <a:p>
            <a:r>
              <a:rPr lang="en-US" sz="1700">
                <a:solidFill>
                  <a:schemeClr val="tx1">
                    <a:lumMod val="85000"/>
                    <a:lumOff val="15000"/>
                  </a:schemeClr>
                </a:solidFill>
              </a:rPr>
              <a:t>The Microsoft SQL Database Engine is the core service for storing, processing, and securing data. It provides controlled access and rapid transaction processing for a wide variety of commercial and entrepreneurial applications.</a:t>
            </a:r>
          </a:p>
          <a:p>
            <a:endParaRPr lang="en-US" sz="1700">
              <a:solidFill>
                <a:schemeClr val="tx1">
                  <a:lumMod val="85000"/>
                  <a:lumOff val="15000"/>
                </a:schemeClr>
              </a:solidFill>
            </a:endParaRPr>
          </a:p>
          <a:p>
            <a:r>
              <a:rPr lang="en-US" sz="1700">
                <a:solidFill>
                  <a:schemeClr val="tx1">
                    <a:lumMod val="85000"/>
                    <a:lumOff val="15000"/>
                  </a:schemeClr>
                </a:solidFill>
              </a:rPr>
              <a:t>The SQL Database Engine is a multimodal database engine with purpose-built storage formats, purpose-built index structures, and a single query optimizer that makes cost-based decisions across all data models.</a:t>
            </a: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283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33BD5E3-0DBB-CADA-614E-FE2F01E78952}"/>
              </a:ext>
            </a:extLst>
          </p:cNvPr>
          <p:cNvSpPr>
            <a:spLocks noGrp="1"/>
          </p:cNvSpPr>
          <p:nvPr>
            <p:ph type="title"/>
          </p:nvPr>
        </p:nvSpPr>
        <p:spPr>
          <a:xfrm>
            <a:off x="1137036" y="548640"/>
            <a:ext cx="9543405" cy="1188720"/>
          </a:xfrm>
        </p:spPr>
        <p:txBody>
          <a:bodyPr>
            <a:normAutofit/>
          </a:bodyPr>
          <a:lstStyle/>
          <a:p>
            <a:r>
              <a:rPr lang="en-US">
                <a:solidFill>
                  <a:schemeClr val="tx1">
                    <a:lumMod val="85000"/>
                    <a:lumOff val="15000"/>
                  </a:schemeClr>
                </a:solidFill>
              </a:rPr>
              <a:t>SQL Database Engine Capabilities</a:t>
            </a:r>
          </a:p>
        </p:txBody>
      </p:sp>
      <p:sp>
        <p:nvSpPr>
          <p:cNvPr id="3" name="Content Placeholder 2">
            <a:extLst>
              <a:ext uri="{FF2B5EF4-FFF2-40B4-BE49-F238E27FC236}">
                <a16:creationId xmlns:a16="http://schemas.microsoft.com/office/drawing/2014/main" id="{386F02B9-AAC6-6836-E0CB-226308CE407D}"/>
              </a:ext>
            </a:extLst>
          </p:cNvPr>
          <p:cNvSpPr>
            <a:spLocks noGrp="1"/>
          </p:cNvSpPr>
          <p:nvPr>
            <p:ph idx="1"/>
          </p:nvPr>
        </p:nvSpPr>
        <p:spPr>
          <a:xfrm>
            <a:off x="1957987" y="2431765"/>
            <a:ext cx="8276026" cy="3320031"/>
          </a:xfrm>
        </p:spPr>
        <p:txBody>
          <a:bodyPr anchor="ctr">
            <a:normAutofit/>
          </a:bodyPr>
          <a:lstStyle/>
          <a:p>
            <a:r>
              <a:rPr lang="en-US" sz="2000">
                <a:solidFill>
                  <a:schemeClr val="tx1">
                    <a:lumMod val="85000"/>
                    <a:lumOff val="15000"/>
                  </a:schemeClr>
                </a:solidFill>
              </a:rPr>
              <a:t>SQL Server comes with the following capabilities including HA/DR. </a:t>
            </a:r>
          </a:p>
          <a:p>
            <a:endParaRPr lang="en-US" sz="2000">
              <a:solidFill>
                <a:schemeClr val="tx1">
                  <a:lumMod val="85000"/>
                  <a:lumOff val="15000"/>
                </a:schemeClr>
              </a:solidFill>
            </a:endParaRPr>
          </a:p>
          <a:p>
            <a:pPr>
              <a:buFont typeface="Wingdings" panose="05000000000000000000" pitchFamily="2" charset="2"/>
              <a:buChar char="§"/>
            </a:pPr>
            <a:r>
              <a:rPr lang="en-US" sz="2000">
                <a:solidFill>
                  <a:schemeClr val="tx1">
                    <a:lumMod val="85000"/>
                    <a:lumOff val="15000"/>
                  </a:schemeClr>
                </a:solidFill>
              </a:rPr>
              <a:t>ColumnStore Indexes </a:t>
            </a:r>
          </a:p>
          <a:p>
            <a:pPr>
              <a:buFont typeface="Wingdings" panose="05000000000000000000" pitchFamily="2" charset="2"/>
              <a:buChar char="§"/>
            </a:pPr>
            <a:r>
              <a:rPr lang="en-US" sz="2000">
                <a:solidFill>
                  <a:schemeClr val="tx1">
                    <a:lumMod val="85000"/>
                    <a:lumOff val="15000"/>
                  </a:schemeClr>
                </a:solidFill>
              </a:rPr>
              <a:t>Key-Value Pair </a:t>
            </a:r>
          </a:p>
          <a:p>
            <a:pPr>
              <a:buFont typeface="Wingdings" panose="05000000000000000000" pitchFamily="2" charset="2"/>
              <a:buChar char="§"/>
            </a:pPr>
            <a:r>
              <a:rPr lang="en-US" sz="2000">
                <a:solidFill>
                  <a:schemeClr val="tx1">
                    <a:lumMod val="85000"/>
                    <a:lumOff val="15000"/>
                  </a:schemeClr>
                </a:solidFill>
              </a:rPr>
              <a:t>JSON Data in SQL Server </a:t>
            </a:r>
          </a:p>
          <a:p>
            <a:pPr>
              <a:buFont typeface="Wingdings" panose="05000000000000000000" pitchFamily="2" charset="2"/>
              <a:buChar char="§"/>
            </a:pPr>
            <a:r>
              <a:rPr lang="en-US" sz="2000">
                <a:solidFill>
                  <a:schemeClr val="tx1">
                    <a:lumMod val="85000"/>
                    <a:lumOff val="15000"/>
                  </a:schemeClr>
                </a:solidFill>
              </a:rPr>
              <a:t>Spatial Data</a:t>
            </a:r>
          </a:p>
          <a:p>
            <a:pPr>
              <a:buFont typeface="Wingdings" panose="05000000000000000000" pitchFamily="2" charset="2"/>
              <a:buChar char="§"/>
            </a:pPr>
            <a:r>
              <a:rPr lang="en-US" sz="2000">
                <a:solidFill>
                  <a:schemeClr val="tx1">
                    <a:lumMod val="85000"/>
                    <a:lumOff val="15000"/>
                  </a:schemeClr>
                </a:solidFill>
              </a:rPr>
              <a:t>Vector Search &amp; Vector Indexes in SQL Server Engine </a:t>
            </a:r>
          </a:p>
          <a:p>
            <a:pPr>
              <a:buFont typeface="Wingdings" panose="05000000000000000000" pitchFamily="2" charset="2"/>
              <a:buChar char="§"/>
            </a:pPr>
            <a:r>
              <a:rPr lang="en-US" sz="2000">
                <a:solidFill>
                  <a:schemeClr val="tx1">
                    <a:lumMod val="85000"/>
                    <a:lumOff val="15000"/>
                  </a:schemeClr>
                </a:solidFill>
              </a:rPr>
              <a:t>XML Data in SQL Server </a:t>
            </a: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33596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14D5AD4-9F36-F7A2-D973-EF701D964D44}"/>
              </a:ext>
            </a:extLst>
          </p:cNvPr>
          <p:cNvSpPr>
            <a:spLocks noGrp="1"/>
          </p:cNvSpPr>
          <p:nvPr>
            <p:ph type="title"/>
          </p:nvPr>
        </p:nvSpPr>
        <p:spPr>
          <a:xfrm>
            <a:off x="1137036" y="548640"/>
            <a:ext cx="9543405" cy="1188720"/>
          </a:xfrm>
        </p:spPr>
        <p:txBody>
          <a:bodyPr>
            <a:normAutofit/>
          </a:bodyPr>
          <a:lstStyle/>
          <a:p>
            <a:r>
              <a:rPr lang="en-US">
                <a:solidFill>
                  <a:schemeClr val="tx1">
                    <a:lumMod val="85000"/>
                    <a:lumOff val="15000"/>
                  </a:schemeClr>
                </a:solidFill>
              </a:rPr>
              <a:t>SQL Server ColumnStore Indexes </a:t>
            </a:r>
          </a:p>
        </p:txBody>
      </p:sp>
      <p:sp>
        <p:nvSpPr>
          <p:cNvPr id="3" name="Content Placeholder 2">
            <a:extLst>
              <a:ext uri="{FF2B5EF4-FFF2-40B4-BE49-F238E27FC236}">
                <a16:creationId xmlns:a16="http://schemas.microsoft.com/office/drawing/2014/main" id="{4245BC49-D8D9-1850-23D6-F9DEDD4FA571}"/>
              </a:ext>
            </a:extLst>
          </p:cNvPr>
          <p:cNvSpPr>
            <a:spLocks noGrp="1"/>
          </p:cNvSpPr>
          <p:nvPr>
            <p:ph idx="1"/>
          </p:nvPr>
        </p:nvSpPr>
        <p:spPr>
          <a:xfrm>
            <a:off x="1957987" y="2431765"/>
            <a:ext cx="8276026" cy="3320031"/>
          </a:xfrm>
        </p:spPr>
        <p:txBody>
          <a:bodyPr anchor="ctr">
            <a:normAutofit/>
          </a:bodyPr>
          <a:lstStyle/>
          <a:p>
            <a:r>
              <a:rPr lang="en-US" sz="1100">
                <a:solidFill>
                  <a:schemeClr val="tx1">
                    <a:lumMod val="85000"/>
                    <a:lumOff val="15000"/>
                  </a:schemeClr>
                </a:solidFill>
              </a:rPr>
              <a:t>A columnstore index is a technology for storing, retrieving, and managing data by using a columnar data format, called a columnstore.</a:t>
            </a:r>
          </a:p>
          <a:p>
            <a:endParaRPr lang="en-US" sz="1100">
              <a:solidFill>
                <a:schemeClr val="tx1">
                  <a:lumMod val="85000"/>
                  <a:lumOff val="15000"/>
                </a:schemeClr>
              </a:solidFill>
            </a:endParaRPr>
          </a:p>
          <a:p>
            <a:r>
              <a:rPr lang="en-US" sz="1100">
                <a:solidFill>
                  <a:schemeClr val="tx1">
                    <a:lumMod val="85000"/>
                    <a:lumOff val="15000"/>
                  </a:schemeClr>
                </a:solidFill>
              </a:rPr>
              <a:t>Columnstore indexes are the standard for storing and querying large data warehousing fact tables. This index uses column-based data storage and query processing to achieve gains up to 10 times the query performance in your data warehouse over traditional row-oriented storage. You can also achieve gains up to 10 times the data compression. </a:t>
            </a:r>
          </a:p>
          <a:p>
            <a:endParaRPr lang="en-US" sz="1100">
              <a:solidFill>
                <a:schemeClr val="tx1">
                  <a:lumMod val="85000"/>
                  <a:lumOff val="15000"/>
                </a:schemeClr>
              </a:solidFill>
            </a:endParaRPr>
          </a:p>
          <a:p>
            <a:pPr>
              <a:buFont typeface="Wingdings" panose="05000000000000000000" pitchFamily="2" charset="2"/>
              <a:buChar char="q"/>
            </a:pPr>
            <a:r>
              <a:rPr lang="en-US" sz="1100" b="1">
                <a:solidFill>
                  <a:schemeClr val="tx1">
                    <a:lumMod val="85000"/>
                    <a:lumOff val="15000"/>
                  </a:schemeClr>
                </a:solidFill>
              </a:rPr>
              <a:t>Columnstore</a:t>
            </a:r>
          </a:p>
          <a:p>
            <a:r>
              <a:rPr lang="en-US" sz="1100">
                <a:solidFill>
                  <a:schemeClr val="tx1">
                    <a:lumMod val="85000"/>
                    <a:lumOff val="15000"/>
                  </a:schemeClr>
                </a:solidFill>
              </a:rPr>
              <a:t>A columnstore is data that's logically organized as a table with rows and columns and physically stored in a column-wise data format.</a:t>
            </a:r>
          </a:p>
          <a:p>
            <a:pPr>
              <a:buFont typeface="Wingdings" panose="05000000000000000000" pitchFamily="2" charset="2"/>
              <a:buChar char="q"/>
            </a:pPr>
            <a:r>
              <a:rPr lang="en-US" sz="1100" b="1">
                <a:solidFill>
                  <a:schemeClr val="tx1">
                    <a:lumMod val="85000"/>
                    <a:lumOff val="15000"/>
                  </a:schemeClr>
                </a:solidFill>
              </a:rPr>
              <a:t>Rowstore</a:t>
            </a:r>
          </a:p>
          <a:p>
            <a:r>
              <a:rPr lang="en-US" sz="1100">
                <a:solidFill>
                  <a:schemeClr val="tx1">
                    <a:lumMod val="85000"/>
                    <a:lumOff val="15000"/>
                  </a:schemeClr>
                </a:solidFill>
              </a:rPr>
              <a:t>A rowstore is data that's logically organized as a table with rows and columns and physically stored in a row-wise data format. This format is the traditional way to store relational table data. In SQL Server, rowstore refers to a table where the underlying data storage format is a heap, a clustered index, or a memory-optimized table.</a:t>
            </a:r>
          </a:p>
          <a:p>
            <a:endParaRPr lang="en-US" sz="1100">
              <a:solidFill>
                <a:schemeClr val="tx1">
                  <a:lumMod val="85000"/>
                  <a:lumOff val="15000"/>
                </a:schemeClr>
              </a:solidFill>
            </a:endParaRP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41038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C75836F-94AA-AAEE-3F5E-FA2C418478E2}"/>
              </a:ext>
            </a:extLst>
          </p:cNvPr>
          <p:cNvSpPr>
            <a:spLocks noGrp="1"/>
          </p:cNvSpPr>
          <p:nvPr>
            <p:ph type="title"/>
          </p:nvPr>
        </p:nvSpPr>
        <p:spPr>
          <a:xfrm>
            <a:off x="1137036" y="548640"/>
            <a:ext cx="9543405" cy="1188720"/>
          </a:xfrm>
        </p:spPr>
        <p:txBody>
          <a:bodyPr>
            <a:normAutofit/>
          </a:bodyPr>
          <a:lstStyle/>
          <a:p>
            <a:r>
              <a:rPr lang="en-US">
                <a:solidFill>
                  <a:schemeClr val="tx1">
                    <a:lumMod val="85000"/>
                    <a:lumOff val="15000"/>
                  </a:schemeClr>
                </a:solidFill>
              </a:rPr>
              <a:t>SQL Server Column Store Indexes</a:t>
            </a:r>
          </a:p>
        </p:txBody>
      </p:sp>
      <p:sp>
        <p:nvSpPr>
          <p:cNvPr id="3" name="Content Placeholder 2">
            <a:extLst>
              <a:ext uri="{FF2B5EF4-FFF2-40B4-BE49-F238E27FC236}">
                <a16:creationId xmlns:a16="http://schemas.microsoft.com/office/drawing/2014/main" id="{888DC3AA-2AC5-86CE-7237-2C1AA112260B}"/>
              </a:ext>
            </a:extLst>
          </p:cNvPr>
          <p:cNvSpPr>
            <a:spLocks noGrp="1"/>
          </p:cNvSpPr>
          <p:nvPr>
            <p:ph idx="1"/>
          </p:nvPr>
        </p:nvSpPr>
        <p:spPr>
          <a:xfrm>
            <a:off x="1957987" y="2431765"/>
            <a:ext cx="8276026" cy="3320031"/>
          </a:xfrm>
        </p:spPr>
        <p:txBody>
          <a:bodyPr anchor="ctr">
            <a:normAutofit/>
          </a:bodyPr>
          <a:lstStyle/>
          <a:p>
            <a:pPr>
              <a:buFont typeface="Wingdings" panose="05000000000000000000" pitchFamily="2" charset="2"/>
              <a:buChar char="q"/>
            </a:pPr>
            <a:r>
              <a:rPr lang="en-US" sz="1300">
                <a:solidFill>
                  <a:schemeClr val="tx1">
                    <a:lumMod val="85000"/>
                    <a:lumOff val="15000"/>
                  </a:schemeClr>
                </a:solidFill>
              </a:rPr>
              <a:t>RowGroup</a:t>
            </a:r>
          </a:p>
          <a:p>
            <a:r>
              <a:rPr lang="en-US" sz="1300">
                <a:solidFill>
                  <a:schemeClr val="tx1">
                    <a:lumMod val="85000"/>
                    <a:lumOff val="15000"/>
                  </a:schemeClr>
                </a:solidFill>
              </a:rPr>
              <a:t>A rowgroup is a group of rows that are compressed into columnstore format at the same time. A rowgroup usually contains the maximum number of rows per rowgroup, which is 1,048,576 rows.</a:t>
            </a:r>
          </a:p>
          <a:p>
            <a:r>
              <a:rPr lang="en-US" sz="1300">
                <a:solidFill>
                  <a:schemeClr val="tx1">
                    <a:lumMod val="85000"/>
                    <a:lumOff val="15000"/>
                  </a:schemeClr>
                </a:solidFill>
              </a:rPr>
              <a:t>For high performance and high compression rates, the columnstore index slices the table into rowgroups, and then compresses each rowgroup in a column-wise manner. The number of rows in the rowgroup must be large enough to improve compression rates, and small enough to benefit from in-memory operations.</a:t>
            </a:r>
          </a:p>
          <a:p>
            <a:pPr marL="0" indent="0">
              <a:buNone/>
            </a:pPr>
            <a:endParaRPr lang="en-US" sz="1300">
              <a:solidFill>
                <a:schemeClr val="tx1">
                  <a:lumMod val="85000"/>
                  <a:lumOff val="15000"/>
                </a:schemeClr>
              </a:solidFill>
            </a:endParaRPr>
          </a:p>
          <a:p>
            <a:pPr>
              <a:buFont typeface="Wingdings" panose="05000000000000000000" pitchFamily="2" charset="2"/>
              <a:buChar char="q"/>
            </a:pPr>
            <a:r>
              <a:rPr lang="en-US" sz="1300">
                <a:solidFill>
                  <a:schemeClr val="tx1">
                    <a:lumMod val="85000"/>
                    <a:lumOff val="15000"/>
                  </a:schemeClr>
                </a:solidFill>
              </a:rPr>
              <a:t>Column Segment </a:t>
            </a:r>
          </a:p>
          <a:p>
            <a:r>
              <a:rPr lang="en-US" sz="1300">
                <a:solidFill>
                  <a:schemeClr val="tx1">
                    <a:lumMod val="85000"/>
                    <a:lumOff val="15000"/>
                  </a:schemeClr>
                </a:solidFill>
              </a:rPr>
              <a:t>A column segment is a column of data from within the rowgroup.</a:t>
            </a:r>
          </a:p>
          <a:p>
            <a:r>
              <a:rPr lang="en-US" sz="1300">
                <a:solidFill>
                  <a:schemeClr val="tx1">
                    <a:lumMod val="85000"/>
                    <a:lumOff val="15000"/>
                  </a:schemeClr>
                </a:solidFill>
              </a:rPr>
              <a:t>Each rowgroup contains one column segment for every column in the table.</a:t>
            </a:r>
          </a:p>
          <a:p>
            <a:r>
              <a:rPr lang="en-US" sz="1300">
                <a:solidFill>
                  <a:schemeClr val="tx1">
                    <a:lumMod val="85000"/>
                    <a:lumOff val="15000"/>
                  </a:schemeClr>
                </a:solidFill>
              </a:rPr>
              <a:t>Each column segment is compressed together and stored on physical media.</a:t>
            </a:r>
          </a:p>
          <a:p>
            <a:r>
              <a:rPr lang="en-US" sz="1300">
                <a:solidFill>
                  <a:schemeClr val="tx1">
                    <a:lumMod val="85000"/>
                    <a:lumOff val="15000"/>
                  </a:schemeClr>
                </a:solidFill>
              </a:rPr>
              <a:t>There's metadata with each segment to allow for fast elimination of segments without reading them.</a:t>
            </a:r>
          </a:p>
          <a:p>
            <a:pPr marL="0" indent="0">
              <a:buNone/>
            </a:pPr>
            <a:endParaRPr lang="en-US" sz="1300">
              <a:solidFill>
                <a:schemeClr val="tx1">
                  <a:lumMod val="85000"/>
                  <a:lumOff val="15000"/>
                </a:schemeClr>
              </a:solidFill>
            </a:endParaRP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7016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9595C4-11D6-B1AA-E07E-B83B85A1CC10}"/>
              </a:ext>
            </a:extLst>
          </p:cNvPr>
          <p:cNvSpPr>
            <a:spLocks noGrp="1"/>
          </p:cNvSpPr>
          <p:nvPr>
            <p:ph type="title"/>
          </p:nvPr>
        </p:nvSpPr>
        <p:spPr>
          <a:xfrm>
            <a:off x="793662" y="386930"/>
            <a:ext cx="10066122" cy="1298448"/>
          </a:xfrm>
        </p:spPr>
        <p:txBody>
          <a:bodyPr anchor="b">
            <a:normAutofit/>
          </a:bodyPr>
          <a:lstStyle/>
          <a:p>
            <a:r>
              <a:rPr lang="en-US" sz="4800"/>
              <a:t>Clustered </a:t>
            </a:r>
            <a:r>
              <a:rPr lang="en-US" sz="4800" err="1"/>
              <a:t>ColumnStore</a:t>
            </a:r>
            <a:r>
              <a:rPr lang="en-US" sz="4800"/>
              <a:t> Index</a:t>
            </a:r>
          </a:p>
        </p:txBody>
      </p:sp>
      <p:sp>
        <p:nvSpPr>
          <p:cNvPr id="1035" name="Rectangle 103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0" name="Content Placeholder 1029">
            <a:extLst>
              <a:ext uri="{FF2B5EF4-FFF2-40B4-BE49-F238E27FC236}">
                <a16:creationId xmlns:a16="http://schemas.microsoft.com/office/drawing/2014/main" id="{EB12F5DE-84BF-A3BA-AC20-78988ABF90CD}"/>
              </a:ext>
            </a:extLst>
          </p:cNvPr>
          <p:cNvSpPr>
            <a:spLocks noGrp="1"/>
          </p:cNvSpPr>
          <p:nvPr>
            <p:ph idx="1"/>
          </p:nvPr>
        </p:nvSpPr>
        <p:spPr>
          <a:xfrm>
            <a:off x="793660" y="2599509"/>
            <a:ext cx="5440005" cy="3639450"/>
          </a:xfrm>
        </p:spPr>
        <p:txBody>
          <a:bodyPr anchor="ctr">
            <a:normAutofit/>
          </a:bodyPr>
          <a:lstStyle/>
          <a:p>
            <a:pPr>
              <a:buFont typeface="Wingdings" panose="05000000000000000000" pitchFamily="2" charset="2"/>
              <a:buChar char="§"/>
            </a:pPr>
            <a:r>
              <a:rPr lang="en-US" sz="1600"/>
              <a:t>A clustered </a:t>
            </a:r>
            <a:r>
              <a:rPr lang="en-US" sz="1600" err="1"/>
              <a:t>columnstore</a:t>
            </a:r>
            <a:r>
              <a:rPr lang="en-US" sz="1600"/>
              <a:t> index is the physical storage for the entire table.</a:t>
            </a:r>
          </a:p>
          <a:p>
            <a:pPr>
              <a:buFont typeface="Wingdings" panose="05000000000000000000" pitchFamily="2" charset="2"/>
              <a:buChar char="§"/>
            </a:pPr>
            <a:endParaRPr lang="en-US" sz="1600"/>
          </a:p>
          <a:p>
            <a:pPr>
              <a:buFont typeface="Wingdings" panose="05000000000000000000" pitchFamily="2" charset="2"/>
              <a:buChar char="§"/>
            </a:pPr>
            <a:r>
              <a:rPr lang="en-US" sz="1600"/>
              <a:t>To reduce fragmentation of the column segments and improve performance, the </a:t>
            </a:r>
            <a:r>
              <a:rPr lang="en-US" sz="1600" err="1"/>
              <a:t>columnstore</a:t>
            </a:r>
            <a:r>
              <a:rPr lang="en-US" sz="1600"/>
              <a:t> index might store some data temporarily into a clustered index called a </a:t>
            </a:r>
            <a:r>
              <a:rPr lang="en-US" sz="1600" i="1" err="1"/>
              <a:t>deltastore</a:t>
            </a:r>
            <a:r>
              <a:rPr lang="en-US" sz="1600"/>
              <a:t> and a B-tree list of IDs for deleted rows. </a:t>
            </a:r>
          </a:p>
          <a:p>
            <a:pPr>
              <a:buFont typeface="Wingdings" panose="05000000000000000000" pitchFamily="2" charset="2"/>
              <a:buChar char="§"/>
            </a:pPr>
            <a:r>
              <a:rPr lang="en-US" sz="1600"/>
              <a:t>The </a:t>
            </a:r>
            <a:r>
              <a:rPr lang="en-US" sz="1600" err="1"/>
              <a:t>deltastore</a:t>
            </a:r>
            <a:r>
              <a:rPr lang="en-US" sz="1600"/>
              <a:t> operations are handled behind the scenes. To return the correct query results, the clustered </a:t>
            </a:r>
            <a:r>
              <a:rPr lang="en-US" sz="1600" err="1"/>
              <a:t>columnstore</a:t>
            </a:r>
            <a:r>
              <a:rPr lang="en-US" sz="1600"/>
              <a:t> index combines query results from both the </a:t>
            </a:r>
            <a:r>
              <a:rPr lang="en-US" sz="1600" err="1"/>
              <a:t>columnstore</a:t>
            </a:r>
            <a:r>
              <a:rPr lang="en-US" sz="1600"/>
              <a:t> and the </a:t>
            </a:r>
            <a:r>
              <a:rPr lang="en-US" sz="1600" err="1"/>
              <a:t>deltastore</a:t>
            </a:r>
            <a:endParaRPr lang="en-US" sz="1600"/>
          </a:p>
        </p:txBody>
      </p:sp>
      <p:pic>
        <p:nvPicPr>
          <p:cNvPr id="1026" name="Picture 2" descr="Logical diagram of a clustered columnstore index. Includes compressed column segments plus rows in the index, but not in the columnstore.">
            <a:extLst>
              <a:ext uri="{FF2B5EF4-FFF2-40B4-BE49-F238E27FC236}">
                <a16:creationId xmlns:a16="http://schemas.microsoft.com/office/drawing/2014/main" id="{BB710196-CF2A-BB06-B564-7BBB20CD65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3" b="6610"/>
          <a:stretch>
            <a:fillRect/>
          </a:stretch>
        </p:blipFill>
        <p:spPr bwMode="auto">
          <a:xfrm>
            <a:off x="6730584" y="2484255"/>
            <a:ext cx="4331225" cy="3123565"/>
          </a:xfrm>
          <a:prstGeom prst="rect">
            <a:avLst/>
          </a:prstGeom>
          <a:noFill/>
          <a:extLst>
            <a:ext uri="{909E8E84-426E-40DD-AFC4-6F175D3DCCD1}">
              <a14:hiddenFill xmlns:a14="http://schemas.microsoft.com/office/drawing/2010/main">
                <a:solidFill>
                  <a:srgbClr val="FFFFFF"/>
                </a:solidFill>
              </a14:hiddenFill>
            </a:ext>
          </a:extLst>
        </p:spPr>
      </p:pic>
      <p:sp>
        <p:nvSpPr>
          <p:cNvPr id="1039" name="Rectangle 103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75854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C19FA-8109-E306-2BD0-50DBE1E0CB40}"/>
              </a:ext>
            </a:extLst>
          </p:cNvPr>
          <p:cNvSpPr>
            <a:spLocks noGrp="1"/>
          </p:cNvSpPr>
          <p:nvPr>
            <p:ph type="title"/>
          </p:nvPr>
        </p:nvSpPr>
        <p:spPr/>
        <p:txBody>
          <a:bodyPr/>
          <a:lstStyle/>
          <a:p>
            <a:r>
              <a:rPr lang="en-US"/>
              <a:t>Delta Row Group &amp; Delta Store</a:t>
            </a:r>
          </a:p>
        </p:txBody>
      </p:sp>
      <p:sp>
        <p:nvSpPr>
          <p:cNvPr id="3" name="Content Placeholder 2">
            <a:extLst>
              <a:ext uri="{FF2B5EF4-FFF2-40B4-BE49-F238E27FC236}">
                <a16:creationId xmlns:a16="http://schemas.microsoft.com/office/drawing/2014/main" id="{3C821F84-A5E5-58E7-F8CB-8C7FD76B76B8}"/>
              </a:ext>
            </a:extLst>
          </p:cNvPr>
          <p:cNvSpPr>
            <a:spLocks noGrp="1"/>
          </p:cNvSpPr>
          <p:nvPr>
            <p:ph idx="1"/>
          </p:nvPr>
        </p:nvSpPr>
        <p:spPr/>
        <p:txBody>
          <a:bodyPr>
            <a:normAutofit/>
          </a:bodyPr>
          <a:lstStyle/>
          <a:p>
            <a:r>
              <a:rPr lang="en-US" sz="1600"/>
              <a:t>A delta </a:t>
            </a:r>
            <a:r>
              <a:rPr lang="en-US" sz="1600" err="1"/>
              <a:t>rowgroup</a:t>
            </a:r>
            <a:r>
              <a:rPr lang="en-US" sz="1600"/>
              <a:t> is a clustered B-tree index that's used only with </a:t>
            </a:r>
            <a:r>
              <a:rPr lang="en-US" sz="1600" err="1"/>
              <a:t>columnstore</a:t>
            </a:r>
            <a:r>
              <a:rPr lang="en-US" sz="1600"/>
              <a:t> indexes. It improves </a:t>
            </a:r>
            <a:r>
              <a:rPr lang="en-US" sz="1600" err="1"/>
              <a:t>columnstore</a:t>
            </a:r>
            <a:r>
              <a:rPr lang="en-US" sz="1600"/>
              <a:t> compression and performance by storing rows until the number of rows reaches a threshold (1,048,576 rows) and are then moved into the </a:t>
            </a:r>
            <a:r>
              <a:rPr lang="en-US" sz="1600" err="1"/>
              <a:t>columnstore</a:t>
            </a:r>
            <a:r>
              <a:rPr lang="en-US" sz="1600"/>
              <a:t>.</a:t>
            </a:r>
          </a:p>
          <a:p>
            <a:r>
              <a:rPr lang="en-US" sz="1600"/>
              <a:t>When a delta </a:t>
            </a:r>
            <a:r>
              <a:rPr lang="en-US" sz="1600" err="1"/>
              <a:t>rowgroup</a:t>
            </a:r>
            <a:r>
              <a:rPr lang="en-US" sz="1600"/>
              <a:t> reaches the maximum number of rows, it transitions from an OPEN to CLOSED state. A background process named the tuple-mover checks for closed row groups. If the process finds a closed </a:t>
            </a:r>
            <a:r>
              <a:rPr lang="en-US" sz="1600" err="1"/>
              <a:t>rowgroup</a:t>
            </a:r>
            <a:r>
              <a:rPr lang="en-US" sz="1600"/>
              <a:t>, it compresses the delta </a:t>
            </a:r>
            <a:r>
              <a:rPr lang="en-US" sz="1600" err="1"/>
              <a:t>rowgroup</a:t>
            </a:r>
            <a:r>
              <a:rPr lang="en-US" sz="1600"/>
              <a:t> and stores it into the </a:t>
            </a:r>
            <a:r>
              <a:rPr lang="en-US" sz="1600" err="1"/>
              <a:t>columnstore</a:t>
            </a:r>
            <a:r>
              <a:rPr lang="en-US" sz="1600"/>
              <a:t> as a COMPRESSED </a:t>
            </a:r>
            <a:r>
              <a:rPr lang="en-US" sz="1600" err="1"/>
              <a:t>rowgroup</a:t>
            </a:r>
            <a:endParaRPr lang="en-US" sz="1600"/>
          </a:p>
          <a:p>
            <a:pPr marL="0" indent="0">
              <a:buNone/>
            </a:pPr>
            <a:endParaRPr lang="en-US" sz="1600"/>
          </a:p>
          <a:p>
            <a:r>
              <a:rPr lang="en-US" sz="1700"/>
              <a:t>A </a:t>
            </a:r>
            <a:r>
              <a:rPr lang="en-US" sz="1700" err="1"/>
              <a:t>columnstore</a:t>
            </a:r>
            <a:r>
              <a:rPr lang="en-US" sz="1700"/>
              <a:t> index can have more than one delta </a:t>
            </a:r>
            <a:r>
              <a:rPr lang="en-US" sz="1700" err="1"/>
              <a:t>rowgroup</a:t>
            </a:r>
            <a:r>
              <a:rPr lang="en-US" sz="1700"/>
              <a:t>. All the delta </a:t>
            </a:r>
            <a:r>
              <a:rPr lang="en-US" sz="1700" err="1"/>
              <a:t>rowgroups</a:t>
            </a:r>
            <a:r>
              <a:rPr lang="en-US" sz="1700"/>
              <a:t> are collectively called the </a:t>
            </a:r>
            <a:r>
              <a:rPr lang="en-US" sz="1700" err="1"/>
              <a:t>deltastore</a:t>
            </a:r>
            <a:r>
              <a:rPr lang="en-US" sz="1700"/>
              <a:t>.</a:t>
            </a:r>
          </a:p>
          <a:p>
            <a:r>
              <a:rPr lang="en-US" sz="1600"/>
              <a:t>During a large bulk load, most of the rows go directly to the </a:t>
            </a:r>
            <a:r>
              <a:rPr lang="en-US" sz="1600" err="1"/>
              <a:t>columnstore</a:t>
            </a:r>
            <a:r>
              <a:rPr lang="en-US" sz="1600"/>
              <a:t> without passing through the </a:t>
            </a:r>
            <a:r>
              <a:rPr lang="en-US" sz="1600" err="1"/>
              <a:t>deltastore</a:t>
            </a:r>
            <a:r>
              <a:rPr lang="en-US" sz="1600"/>
              <a:t>. Some rows at the end of the bulk load might be too few in number to meet the minimum size of a </a:t>
            </a:r>
            <a:r>
              <a:rPr lang="en-US" sz="1600" err="1"/>
              <a:t>rowgroup</a:t>
            </a:r>
            <a:r>
              <a:rPr lang="en-US" sz="1600"/>
              <a:t>, which is 102,400 rows. As a result, the final rows go to the </a:t>
            </a:r>
            <a:r>
              <a:rPr lang="en-US" sz="1600" err="1"/>
              <a:t>deltastore</a:t>
            </a:r>
            <a:r>
              <a:rPr lang="en-US" sz="1600"/>
              <a:t> instead of the </a:t>
            </a:r>
            <a:r>
              <a:rPr lang="en-US" sz="1600" err="1"/>
              <a:t>columnstore</a:t>
            </a:r>
            <a:r>
              <a:rPr lang="en-US" sz="1600"/>
              <a:t>. For small bulk loads with less than 102,400 rows, all of the rows go directly to the </a:t>
            </a:r>
            <a:r>
              <a:rPr lang="en-US" sz="1600" err="1"/>
              <a:t>deltastore</a:t>
            </a:r>
            <a:endParaRPr lang="en-US" sz="1600"/>
          </a:p>
          <a:p>
            <a:pPr marL="0" indent="0">
              <a:buNone/>
            </a:pPr>
            <a:endParaRPr lang="en-US"/>
          </a:p>
        </p:txBody>
      </p:sp>
    </p:spTree>
    <p:extLst>
      <p:ext uri="{BB962C8B-B14F-4D97-AF65-F5344CB8AC3E}">
        <p14:creationId xmlns:p14="http://schemas.microsoft.com/office/powerpoint/2010/main" val="32836079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E0A08-4B1A-B8B0-4A32-998EA0564033}"/>
              </a:ext>
            </a:extLst>
          </p:cNvPr>
          <p:cNvSpPr>
            <a:spLocks noGrp="1"/>
          </p:cNvSpPr>
          <p:nvPr>
            <p:ph type="title"/>
          </p:nvPr>
        </p:nvSpPr>
        <p:spPr/>
        <p:txBody>
          <a:bodyPr/>
          <a:lstStyle/>
          <a:p>
            <a:r>
              <a:rPr lang="en-US"/>
              <a:t>Non-Clustered Column Store Index</a:t>
            </a:r>
          </a:p>
        </p:txBody>
      </p:sp>
      <p:sp>
        <p:nvSpPr>
          <p:cNvPr id="3" name="Content Placeholder 2">
            <a:extLst>
              <a:ext uri="{FF2B5EF4-FFF2-40B4-BE49-F238E27FC236}">
                <a16:creationId xmlns:a16="http://schemas.microsoft.com/office/drawing/2014/main" id="{E72EABCE-4314-EE41-14B7-A041134C7AF2}"/>
              </a:ext>
            </a:extLst>
          </p:cNvPr>
          <p:cNvSpPr>
            <a:spLocks noGrp="1"/>
          </p:cNvSpPr>
          <p:nvPr>
            <p:ph idx="1"/>
          </p:nvPr>
        </p:nvSpPr>
        <p:spPr/>
        <p:txBody>
          <a:bodyPr>
            <a:normAutofit/>
          </a:bodyPr>
          <a:lstStyle/>
          <a:p>
            <a:r>
              <a:rPr lang="en-US" sz="1600"/>
              <a:t>A </a:t>
            </a:r>
            <a:r>
              <a:rPr lang="en-US" sz="1600" err="1"/>
              <a:t>nonclustered</a:t>
            </a:r>
            <a:r>
              <a:rPr lang="en-US" sz="1600"/>
              <a:t> </a:t>
            </a:r>
            <a:r>
              <a:rPr lang="en-US" sz="1600" err="1"/>
              <a:t>columnstore</a:t>
            </a:r>
            <a:r>
              <a:rPr lang="en-US" sz="1600"/>
              <a:t> index and a clustered </a:t>
            </a:r>
            <a:r>
              <a:rPr lang="en-US" sz="1600" err="1"/>
              <a:t>columnstore</a:t>
            </a:r>
            <a:r>
              <a:rPr lang="en-US" sz="1600"/>
              <a:t> index function the same. The difference is that a </a:t>
            </a:r>
            <a:r>
              <a:rPr lang="en-US" sz="1600" err="1"/>
              <a:t>nonclustered</a:t>
            </a:r>
            <a:r>
              <a:rPr lang="en-US" sz="1600"/>
              <a:t> index is a secondary index that's created on a </a:t>
            </a:r>
            <a:r>
              <a:rPr lang="en-US" sz="1600" err="1"/>
              <a:t>rowstore</a:t>
            </a:r>
            <a:r>
              <a:rPr lang="en-US" sz="1600"/>
              <a:t> table, but a clustered </a:t>
            </a:r>
            <a:r>
              <a:rPr lang="en-US" sz="1600" err="1"/>
              <a:t>columnstore</a:t>
            </a:r>
            <a:r>
              <a:rPr lang="en-US" sz="1600"/>
              <a:t> index is the primary storage for the entire table.</a:t>
            </a:r>
          </a:p>
          <a:p>
            <a:pPr marL="0" indent="0">
              <a:buNone/>
            </a:pPr>
            <a:endParaRPr lang="en-US" sz="1600"/>
          </a:p>
          <a:p>
            <a:r>
              <a:rPr lang="en-US" sz="1600"/>
              <a:t>The </a:t>
            </a:r>
            <a:r>
              <a:rPr lang="en-US" sz="1600" err="1"/>
              <a:t>nonclustered</a:t>
            </a:r>
            <a:r>
              <a:rPr lang="en-US" sz="1600"/>
              <a:t> index contains a copy of part or all of the rows and columns in the underlying table. The index is defined as one or more columns of the table and has an optional condition that filters the rows.</a:t>
            </a:r>
          </a:p>
          <a:p>
            <a:pPr marL="0" indent="0">
              <a:buNone/>
            </a:pPr>
            <a:endParaRPr lang="en-US"/>
          </a:p>
          <a:p>
            <a:r>
              <a:rPr lang="en-US" sz="1700"/>
              <a:t>Batch mode execution is a query processing method that's used to process multiple rows together. Batch mode execution is closely integrated with, and optimized around, the </a:t>
            </a:r>
            <a:r>
              <a:rPr lang="en-US" sz="1700" err="1"/>
              <a:t>columnstore</a:t>
            </a:r>
            <a:r>
              <a:rPr lang="en-US" sz="1700"/>
              <a:t> storage format. Batch mode execution is sometimes known as </a:t>
            </a:r>
            <a:r>
              <a:rPr lang="en-US" sz="1700" i="1"/>
              <a:t>vector-based</a:t>
            </a:r>
            <a:r>
              <a:rPr lang="en-US" sz="1700"/>
              <a:t> or </a:t>
            </a:r>
            <a:r>
              <a:rPr lang="en-US" sz="1700" i="1"/>
              <a:t>vectorized</a:t>
            </a:r>
            <a:r>
              <a:rPr lang="en-US" sz="1700"/>
              <a:t> execution. Queries on </a:t>
            </a:r>
            <a:r>
              <a:rPr lang="en-US" sz="1700" err="1"/>
              <a:t>columnstore</a:t>
            </a:r>
            <a:r>
              <a:rPr lang="en-US" sz="1700"/>
              <a:t> indexes use batch mode execution, which improves query performance typically by two to four times. </a:t>
            </a:r>
          </a:p>
        </p:txBody>
      </p:sp>
    </p:spTree>
    <p:extLst>
      <p:ext uri="{BB962C8B-B14F-4D97-AF65-F5344CB8AC3E}">
        <p14:creationId xmlns:p14="http://schemas.microsoft.com/office/powerpoint/2010/main" val="457166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52EE7-505B-D75C-41C9-2170C90E3759}"/>
              </a:ext>
            </a:extLst>
          </p:cNvPr>
          <p:cNvSpPr>
            <a:spLocks noGrp="1"/>
          </p:cNvSpPr>
          <p:nvPr>
            <p:ph type="title"/>
          </p:nvPr>
        </p:nvSpPr>
        <p:spPr/>
        <p:txBody>
          <a:bodyPr>
            <a:normAutofit/>
          </a:bodyPr>
          <a:lstStyle/>
          <a:p>
            <a:r>
              <a:rPr lang="en-US" sz="2400"/>
              <a:t>Difference Between Clustered Columnstore &amp; </a:t>
            </a:r>
            <a:r>
              <a:rPr lang="en-US" sz="2400" err="1"/>
              <a:t>NonClustered</a:t>
            </a:r>
            <a:r>
              <a:rPr lang="en-US" sz="2400"/>
              <a:t> Columnstore Index</a:t>
            </a:r>
          </a:p>
        </p:txBody>
      </p:sp>
      <p:sp>
        <p:nvSpPr>
          <p:cNvPr id="3" name="Content Placeholder 2">
            <a:extLst>
              <a:ext uri="{FF2B5EF4-FFF2-40B4-BE49-F238E27FC236}">
                <a16:creationId xmlns:a16="http://schemas.microsoft.com/office/drawing/2014/main" id="{C106DC33-4756-BA4F-EDCD-D4E8AD68CF35}"/>
              </a:ext>
            </a:extLst>
          </p:cNvPr>
          <p:cNvSpPr>
            <a:spLocks noGrp="1"/>
          </p:cNvSpPr>
          <p:nvPr>
            <p:ph idx="1"/>
          </p:nvPr>
        </p:nvSpPr>
        <p:spPr>
          <a:xfrm>
            <a:off x="838200" y="1552456"/>
            <a:ext cx="10515600" cy="4624507"/>
          </a:xfrm>
        </p:spPr>
        <p:txBody>
          <a:bodyPr vert="horz" lIns="91440" tIns="45720" rIns="91440" bIns="45720" rtlCol="0" anchor="t">
            <a:normAutofit lnSpcReduction="10000"/>
          </a:bodyPr>
          <a:lstStyle/>
          <a:p>
            <a:r>
              <a:rPr lang="en-US" sz="1600"/>
              <a:t>Use a clustered </a:t>
            </a:r>
            <a:r>
              <a:rPr lang="en-US" sz="1600" err="1"/>
              <a:t>columnstore</a:t>
            </a:r>
            <a:r>
              <a:rPr lang="en-US" sz="1600"/>
              <a:t> index to store fact tables and large dimension tables for data warehousing workloads. This method improves query performance and data compression by up to 10 times. </a:t>
            </a:r>
            <a:endParaRPr lang="en-US" sz="1600">
              <a:ea typeface="Calibri"/>
              <a:cs typeface="Calibri"/>
            </a:endParaRPr>
          </a:p>
          <a:p>
            <a:pPr marL="0" indent="0">
              <a:buNone/>
            </a:pPr>
            <a:endParaRPr lang="en-US" sz="1600">
              <a:ea typeface="Calibri"/>
              <a:cs typeface="Calibri"/>
            </a:endParaRPr>
          </a:p>
          <a:p>
            <a:r>
              <a:rPr lang="en-US" sz="1600"/>
              <a:t>Columns store values from the same domain and commonly have similar values, which result in high compression rates. I/O bottlenecks in your system are minimized or eliminated, and memory footprint is reduced significantly.</a:t>
            </a:r>
          </a:p>
          <a:p>
            <a:pPr marL="0" indent="0">
              <a:buNone/>
            </a:pPr>
            <a:endParaRPr lang="en-US" sz="1600">
              <a:ea typeface="Calibri" panose="020F0502020204030204"/>
              <a:cs typeface="Calibri" panose="020F0502020204030204"/>
            </a:endParaRPr>
          </a:p>
          <a:p>
            <a:r>
              <a:rPr lang="en-US" sz="1600"/>
              <a:t>High compression rates improve query performance by using a smaller in-memory footprint. In turn, query performance can improve because SQL Server can perform more query and data operations in memory.</a:t>
            </a:r>
          </a:p>
          <a:p>
            <a:pPr marL="0" indent="0">
              <a:buNone/>
            </a:pPr>
            <a:endParaRPr lang="en-US" sz="1600">
              <a:ea typeface="Calibri"/>
              <a:cs typeface="Calibri"/>
            </a:endParaRPr>
          </a:p>
          <a:p>
            <a:r>
              <a:rPr lang="en-US" sz="1600"/>
              <a:t>Batch execution improves query performance, typically by two to four times, by processing multiple rows together.</a:t>
            </a:r>
          </a:p>
          <a:p>
            <a:endParaRPr lang="en-US" sz="1600"/>
          </a:p>
          <a:p>
            <a:pPr marL="0" indent="0">
              <a:buNone/>
            </a:pPr>
            <a:endParaRPr lang="en-US" sz="1600">
              <a:ea typeface="Calibri" panose="020F0502020204030204"/>
              <a:cs typeface="Calibri" panose="020F0502020204030204"/>
            </a:endParaRPr>
          </a:p>
          <a:p>
            <a:r>
              <a:rPr lang="en-US" sz="1600"/>
              <a:t>Queries often select only a few columns from a table, which reduces total I/O from the physical media.</a:t>
            </a:r>
          </a:p>
          <a:p>
            <a:endParaRPr lang="en-US" sz="1600"/>
          </a:p>
          <a:p>
            <a:r>
              <a:rPr lang="en-US" sz="1600"/>
              <a:t>Use a </a:t>
            </a:r>
            <a:r>
              <a:rPr lang="en-US" sz="1600" err="1"/>
              <a:t>nonclustered</a:t>
            </a:r>
            <a:r>
              <a:rPr lang="en-US" sz="1600"/>
              <a:t> </a:t>
            </a:r>
            <a:r>
              <a:rPr lang="en-US" sz="1600" err="1"/>
              <a:t>columnstore</a:t>
            </a:r>
            <a:r>
              <a:rPr lang="en-US" sz="1600"/>
              <a:t> index to perform analysis in real time on an OLTP workload</a:t>
            </a:r>
          </a:p>
          <a:p>
            <a:endParaRPr lang="en-US" sz="1600"/>
          </a:p>
        </p:txBody>
      </p:sp>
    </p:spTree>
    <p:extLst>
      <p:ext uri="{BB962C8B-B14F-4D97-AF65-F5344CB8AC3E}">
        <p14:creationId xmlns:p14="http://schemas.microsoft.com/office/powerpoint/2010/main" val="2863695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0E346FE-4E09-C356-AB28-CB782DAC4923}"/>
              </a:ext>
            </a:extLst>
          </p:cNvPr>
          <p:cNvSpPr>
            <a:spLocks noGrp="1"/>
          </p:cNvSpPr>
          <p:nvPr>
            <p:ph type="title"/>
          </p:nvPr>
        </p:nvSpPr>
        <p:spPr>
          <a:xfrm>
            <a:off x="1137034" y="609597"/>
            <a:ext cx="9392421" cy="1330841"/>
          </a:xfrm>
        </p:spPr>
        <p:txBody>
          <a:bodyPr>
            <a:normAutofit/>
          </a:bodyPr>
          <a:lstStyle/>
          <a:p>
            <a:r>
              <a:rPr lang="en-US">
                <a:ea typeface="Calibri Light"/>
                <a:cs typeface="Calibri Light"/>
              </a:rPr>
              <a:t>SQL Server Spatial &amp; JSON Data</a:t>
            </a:r>
            <a:endParaRPr lang="en-US"/>
          </a:p>
        </p:txBody>
      </p:sp>
      <p:sp>
        <p:nvSpPr>
          <p:cNvPr id="3" name="Content Placeholder 2">
            <a:extLst>
              <a:ext uri="{FF2B5EF4-FFF2-40B4-BE49-F238E27FC236}">
                <a16:creationId xmlns:a16="http://schemas.microsoft.com/office/drawing/2014/main" id="{15204D52-8C50-848B-EB7F-1CE477320D8D}"/>
              </a:ext>
            </a:extLst>
          </p:cNvPr>
          <p:cNvSpPr>
            <a:spLocks noGrp="1"/>
          </p:cNvSpPr>
          <p:nvPr>
            <p:ph idx="1"/>
          </p:nvPr>
        </p:nvSpPr>
        <p:spPr>
          <a:xfrm>
            <a:off x="1137034" y="2198362"/>
            <a:ext cx="4958966" cy="3917773"/>
          </a:xfrm>
        </p:spPr>
        <p:txBody>
          <a:bodyPr vert="horz" lIns="91440" tIns="45720" rIns="91440" bIns="45720" rtlCol="0">
            <a:normAutofit/>
          </a:bodyPr>
          <a:lstStyle/>
          <a:p>
            <a:r>
              <a:rPr lang="en-US" sz="2000"/>
              <a:t>Spatial data represents information about the physical location and shape of geometric objects. These objects can be point locations or more complex objects such as countries/regions, roads, or lakes.</a:t>
            </a:r>
          </a:p>
          <a:p>
            <a:r>
              <a:rPr lang="en-US" sz="2000"/>
              <a:t>SQL Server supports two spatial data types: the geometry data type and the geography data type.</a:t>
            </a:r>
          </a:p>
          <a:p>
            <a:r>
              <a:rPr lang="en-US" sz="2000"/>
              <a:t>The geometry type represents data in a Euclidean (flat) coordinate system.</a:t>
            </a:r>
          </a:p>
          <a:p>
            <a:r>
              <a:rPr lang="en-US" sz="2000"/>
              <a:t>The geography type represents data in a round-earth coordinate system.</a:t>
            </a:r>
          </a:p>
          <a:p>
            <a:endParaRPr lang="en-US" sz="2000">
              <a:ea typeface="Calibri"/>
              <a:cs typeface="Calibri"/>
            </a:endParaRPr>
          </a:p>
          <a:p>
            <a:endParaRPr lang="en-US" sz="2000">
              <a:ea typeface="Calibri"/>
              <a:cs typeface="Calibri"/>
            </a:endParaRPr>
          </a:p>
        </p:txBody>
      </p:sp>
      <p:pic>
        <p:nvPicPr>
          <p:cNvPr id="4" name="Picture 3" descr="Diagram of the hierarchy of Geometry types.">
            <a:extLst>
              <a:ext uri="{FF2B5EF4-FFF2-40B4-BE49-F238E27FC236}">
                <a16:creationId xmlns:a16="http://schemas.microsoft.com/office/drawing/2014/main" id="{B0DC410D-03AE-DA40-54F2-D6A195F15057}"/>
              </a:ext>
            </a:extLst>
          </p:cNvPr>
          <p:cNvPicPr>
            <a:picLocks noChangeAspect="1"/>
          </p:cNvPicPr>
          <p:nvPr/>
        </p:nvPicPr>
        <p:blipFill>
          <a:blip r:embed="rId2"/>
          <a:stretch>
            <a:fillRect/>
          </a:stretch>
        </p:blipFill>
        <p:spPr>
          <a:xfrm>
            <a:off x="6719367" y="3159041"/>
            <a:ext cx="4788505" cy="1807660"/>
          </a:xfrm>
          <a:prstGeom prst="rect">
            <a:avLst/>
          </a:prstGeom>
        </p:spPr>
      </p:pic>
      <p:sp>
        <p:nvSpPr>
          <p:cNvPr id="13" name="Freeform: Shape 12">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7804545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9CE5504-5476-50E1-7AAF-3C5E510D8B94}"/>
              </a:ext>
            </a:extLst>
          </p:cNvPr>
          <p:cNvSpPr>
            <a:spLocks noGrp="1"/>
          </p:cNvSpPr>
          <p:nvPr>
            <p:ph type="title"/>
          </p:nvPr>
        </p:nvSpPr>
        <p:spPr>
          <a:xfrm>
            <a:off x="838200" y="609600"/>
            <a:ext cx="3739341" cy="1330839"/>
          </a:xfrm>
        </p:spPr>
        <p:txBody>
          <a:bodyPr>
            <a:normAutofit/>
          </a:bodyPr>
          <a:lstStyle/>
          <a:p>
            <a:r>
              <a:rPr lang="en-US">
                <a:ea typeface="Calibri Light"/>
                <a:cs typeface="Calibri Light"/>
              </a:rPr>
              <a:t>SQL Server JSON Data</a:t>
            </a:r>
            <a:endParaRPr lang="en-US"/>
          </a:p>
        </p:txBody>
      </p:sp>
      <p:sp>
        <p:nvSpPr>
          <p:cNvPr id="3" name="Content Placeholder 2">
            <a:extLst>
              <a:ext uri="{FF2B5EF4-FFF2-40B4-BE49-F238E27FC236}">
                <a16:creationId xmlns:a16="http://schemas.microsoft.com/office/drawing/2014/main" id="{F232724B-90E2-3EA5-37A9-8457D0A9F036}"/>
              </a:ext>
            </a:extLst>
          </p:cNvPr>
          <p:cNvSpPr>
            <a:spLocks noGrp="1"/>
          </p:cNvSpPr>
          <p:nvPr>
            <p:ph idx="1"/>
          </p:nvPr>
        </p:nvSpPr>
        <p:spPr>
          <a:xfrm>
            <a:off x="862366" y="2194102"/>
            <a:ext cx="3427001" cy="3908586"/>
          </a:xfrm>
        </p:spPr>
        <p:txBody>
          <a:bodyPr vert="horz" lIns="91440" tIns="45720" rIns="91440" bIns="45720" rtlCol="0" anchor="t">
            <a:normAutofit/>
          </a:bodyPr>
          <a:lstStyle/>
          <a:p>
            <a:r>
              <a:rPr lang="en-US" sz="1600"/>
              <a:t>JSON is a popular textual data format that's used for exchanging data in modern web and mobile applications. JSON is also used for storing unstructured data in log files or NoSQL databases such as Microsoft Azure Cosmos DB.</a:t>
            </a:r>
          </a:p>
          <a:p>
            <a:r>
              <a:rPr lang="en-US" sz="1600">
                <a:ea typeface="Calibri" panose="020F0502020204030204"/>
                <a:cs typeface="Calibri" panose="020F0502020204030204"/>
              </a:rPr>
              <a:t>JSON Data types are supported in</a:t>
            </a:r>
            <a:r>
              <a:rPr lang="en-US">
                <a:ea typeface="Calibri" panose="020F0502020204030204"/>
                <a:cs typeface="Calibri" panose="020F0502020204030204"/>
              </a:rPr>
              <a:t> </a:t>
            </a:r>
            <a:r>
              <a:rPr lang="en-US" sz="1600">
                <a:ea typeface="Calibri" panose="020F0502020204030204"/>
                <a:cs typeface="Calibri" panose="020F0502020204030204"/>
              </a:rPr>
              <a:t>Azure SQL Database, Azure SQL Managed Instance, SQL Server 2025. </a:t>
            </a:r>
          </a:p>
          <a:p>
            <a:endParaRPr lang="en-US" sz="2000">
              <a:ea typeface="Calibri"/>
              <a:cs typeface="Calibri"/>
            </a:endParaRPr>
          </a:p>
          <a:p>
            <a:endParaRPr lang="en-US" sz="2000">
              <a:ea typeface="Calibri"/>
              <a:cs typeface="Calibri"/>
            </a:endParaRPr>
          </a:p>
        </p:txBody>
      </p:sp>
      <p:pic>
        <p:nvPicPr>
          <p:cNvPr id="4" name="Picture 3" descr="Diagram showing the overview of built-in JSON support.">
            <a:extLst>
              <a:ext uri="{FF2B5EF4-FFF2-40B4-BE49-F238E27FC236}">
                <a16:creationId xmlns:a16="http://schemas.microsoft.com/office/drawing/2014/main" id="{CCD742CE-EF01-8212-DC73-9EA6AF0F422D}"/>
              </a:ext>
            </a:extLst>
          </p:cNvPr>
          <p:cNvPicPr>
            <a:picLocks noChangeAspect="1"/>
          </p:cNvPicPr>
          <p:nvPr/>
        </p:nvPicPr>
        <p:blipFill>
          <a:blip r:embed="rId2"/>
          <a:stretch>
            <a:fillRect/>
          </a:stretch>
        </p:blipFill>
        <p:spPr>
          <a:xfrm>
            <a:off x="5445457" y="1886697"/>
            <a:ext cx="6155141" cy="3108346"/>
          </a:xfrm>
          <a:prstGeom prst="rect">
            <a:avLst/>
          </a:prstGeom>
        </p:spPr>
      </p:pic>
    </p:spTree>
    <p:extLst>
      <p:ext uri="{BB962C8B-B14F-4D97-AF65-F5344CB8AC3E}">
        <p14:creationId xmlns:p14="http://schemas.microsoft.com/office/powerpoint/2010/main" val="2562354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28DB189-8A43-EAD2-44E3-5C1207643302}"/>
              </a:ext>
            </a:extLst>
          </p:cNvPr>
          <p:cNvPicPr>
            <a:picLocks noChangeAspect="1"/>
          </p:cNvPicPr>
          <p:nvPr/>
        </p:nvPicPr>
        <p:blipFill>
          <a:blip r:embed="rId2">
            <a:duotone>
              <a:schemeClr val="bg2">
                <a:shade val="45000"/>
                <a:satMod val="135000"/>
              </a:schemeClr>
              <a:prstClr val="white"/>
            </a:duotone>
          </a:blip>
          <a:srcRect t="14788" r="9085" b="-7"/>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429AE5-EDD0-2184-0909-D3BB8AB2C1BB}"/>
              </a:ext>
            </a:extLst>
          </p:cNvPr>
          <p:cNvSpPr>
            <a:spLocks noGrp="1"/>
          </p:cNvSpPr>
          <p:nvPr>
            <p:ph type="title"/>
          </p:nvPr>
        </p:nvSpPr>
        <p:spPr>
          <a:xfrm>
            <a:off x="838200" y="365125"/>
            <a:ext cx="10515600" cy="1325563"/>
          </a:xfrm>
        </p:spPr>
        <p:txBody>
          <a:bodyPr>
            <a:normAutofit/>
          </a:bodyPr>
          <a:lstStyle/>
          <a:p>
            <a:r>
              <a:rPr lang="en-US">
                <a:ea typeface="Calibri Light"/>
                <a:cs typeface="Calibri Light"/>
              </a:rPr>
              <a:t>JSON Data in SQL Server Use Cases </a:t>
            </a:r>
            <a:endParaRPr lang="en-US"/>
          </a:p>
        </p:txBody>
      </p:sp>
      <p:graphicFrame>
        <p:nvGraphicFramePr>
          <p:cNvPr id="5" name="Content Placeholder 2">
            <a:extLst>
              <a:ext uri="{FF2B5EF4-FFF2-40B4-BE49-F238E27FC236}">
                <a16:creationId xmlns:a16="http://schemas.microsoft.com/office/drawing/2014/main" id="{C53135CE-A982-E0FB-8CDD-3C74AB614A0E}"/>
              </a:ext>
            </a:extLst>
          </p:cNvPr>
          <p:cNvGraphicFramePr>
            <a:graphicFrameLocks noGrp="1"/>
          </p:cNvGraphicFramePr>
          <p:nvPr>
            <p:ph idx="1"/>
            <p:extLst>
              <p:ext uri="{D42A27DB-BD31-4B8C-83A1-F6EECF244321}">
                <p14:modId xmlns:p14="http://schemas.microsoft.com/office/powerpoint/2010/main" val="307738638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273848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7275002-1ED1-EFB6-B864-C7DA683F5726}"/>
              </a:ext>
            </a:extLst>
          </p:cNvPr>
          <p:cNvSpPr>
            <a:spLocks noGrp="1"/>
          </p:cNvSpPr>
          <p:nvPr>
            <p:ph type="title"/>
          </p:nvPr>
        </p:nvSpPr>
        <p:spPr>
          <a:xfrm>
            <a:off x="1050770" y="5748"/>
            <a:ext cx="10068156" cy="1417105"/>
          </a:xfrm>
        </p:spPr>
        <p:txBody>
          <a:bodyPr>
            <a:normAutofit/>
          </a:bodyPr>
          <a:lstStyle/>
          <a:p>
            <a:r>
              <a:rPr lang="en-US">
                <a:ea typeface="Calibri Light"/>
                <a:cs typeface="Calibri Light"/>
              </a:rPr>
              <a:t>Vector Search &amp; Indexes in SQL Server</a:t>
            </a:r>
            <a:endParaRPr lang="en-US"/>
          </a:p>
        </p:txBody>
      </p:sp>
      <p:sp>
        <p:nvSpPr>
          <p:cNvPr id="3" name="Content Placeholder 2">
            <a:extLst>
              <a:ext uri="{FF2B5EF4-FFF2-40B4-BE49-F238E27FC236}">
                <a16:creationId xmlns:a16="http://schemas.microsoft.com/office/drawing/2014/main" id="{46C93B46-87CE-FCD3-578C-CC70F36DF64A}"/>
              </a:ext>
            </a:extLst>
          </p:cNvPr>
          <p:cNvSpPr>
            <a:spLocks noGrp="1"/>
          </p:cNvSpPr>
          <p:nvPr>
            <p:ph idx="1"/>
          </p:nvPr>
        </p:nvSpPr>
        <p:spPr>
          <a:xfrm>
            <a:off x="375034" y="1421985"/>
            <a:ext cx="7029304" cy="4794791"/>
          </a:xfrm>
        </p:spPr>
        <p:txBody>
          <a:bodyPr vert="horz" lIns="91440" tIns="45720" rIns="91440" bIns="45720" rtlCol="0" anchor="t">
            <a:noAutofit/>
          </a:bodyPr>
          <a:lstStyle/>
          <a:p>
            <a:r>
              <a:rPr lang="en-US" sz="1400">
                <a:ea typeface="Calibri"/>
                <a:cs typeface="Calibri"/>
              </a:rPr>
              <a:t>Vectors are ordered arrays of numbers (typically floats) that can represent information about some data. For example, an image can be represented as a vector of pixel values, or a string of text can be represented as a vector of ASCII values. </a:t>
            </a:r>
          </a:p>
          <a:p>
            <a:endParaRPr lang="en-US" sz="1400">
              <a:ea typeface="Calibri"/>
              <a:cs typeface="Calibri"/>
            </a:endParaRPr>
          </a:p>
          <a:p>
            <a:r>
              <a:rPr lang="en-US" sz="1400">
                <a:ea typeface="Calibri"/>
                <a:cs typeface="Calibri"/>
              </a:rPr>
              <a:t>The process to turn data into a vector is called vectorization. The </a:t>
            </a:r>
            <a:r>
              <a:rPr lang="en-US" sz="1400">
                <a:ea typeface="Calibri"/>
                <a:cs typeface="Calibri"/>
                <a:hlinkClick r:id="rId2">
                  <a:extLst>
                    <a:ext uri="{A12FA001-AC4F-418D-AE19-62706E023703}">
                      <ahyp:hlinkClr xmlns:ahyp="http://schemas.microsoft.com/office/drawing/2018/hyperlinkcolor" val="tx"/>
                    </a:ext>
                  </a:extLst>
                </a:hlinkClick>
              </a:rPr>
              <a:t>vector</a:t>
            </a:r>
            <a:r>
              <a:rPr lang="en-US" sz="1400">
                <a:ea typeface="Calibri"/>
                <a:cs typeface="Calibri"/>
              </a:rPr>
              <a:t> data type in SQL Server is designed to store these arrays of numbers efficiently.</a:t>
            </a:r>
          </a:p>
          <a:p>
            <a:endParaRPr lang="en-US" sz="1400">
              <a:ea typeface="Calibri"/>
              <a:cs typeface="Calibri"/>
            </a:endParaRPr>
          </a:p>
          <a:p>
            <a:r>
              <a:rPr lang="en-US" sz="1400">
                <a:ea typeface="Calibri"/>
                <a:cs typeface="Calibri"/>
              </a:rPr>
              <a:t>Vector search refers to the process of finding all vectors in a dataset that are similar</a:t>
            </a:r>
          </a:p>
          <a:p>
            <a:endParaRPr lang="en-US" sz="1400">
              <a:ea typeface="Calibri"/>
              <a:cs typeface="Calibri"/>
            </a:endParaRPr>
          </a:p>
          <a:p>
            <a:r>
              <a:rPr lang="en-US" sz="1400">
                <a:ea typeface="Calibri"/>
                <a:cs typeface="Calibri"/>
              </a:rPr>
              <a:t>SQL Server provides built-in support for vectors via the vector data type. Vectors are stored in an optimized binary format but exposed as JSON arrays for convenience. Each element of the vector is stored using single-precision (4 bytes) floating-point value. </a:t>
            </a:r>
          </a:p>
          <a:p>
            <a:r>
              <a:rPr lang="en-US" sz="1400">
                <a:ea typeface="Calibri"/>
                <a:cs typeface="Calibri"/>
              </a:rPr>
              <a:t>Along with the data type there are dedicated functions to operate on vectors.  to a specific query vector. Therefore, a query vector for the word human searches the entire dataset for similar vectors, and thus similar words. </a:t>
            </a:r>
            <a:endParaRPr lang="en-US" sz="1400">
              <a:ea typeface="+mn-lt"/>
              <a:cs typeface="+mn-lt"/>
            </a:endParaRPr>
          </a:p>
          <a:p>
            <a:endParaRPr lang="en-US" sz="1400">
              <a:ea typeface="+mn-lt"/>
              <a:cs typeface="+mn-lt"/>
            </a:endParaRPr>
          </a:p>
          <a:p>
            <a:r>
              <a:rPr lang="en-US" sz="1400">
                <a:ea typeface="+mn-lt"/>
                <a:cs typeface="+mn-lt"/>
              </a:rPr>
              <a:t>SELECT </a:t>
            </a:r>
            <a:endParaRPr lang="en-US" sz="1400">
              <a:latin typeface="Calibri"/>
              <a:ea typeface="Calibri"/>
              <a:cs typeface="Calibri"/>
            </a:endParaRPr>
          </a:p>
          <a:p>
            <a:r>
              <a:rPr lang="en-US" sz="1400">
                <a:ea typeface="+mn-lt"/>
                <a:cs typeface="+mn-lt"/>
              </a:rPr>
              <a:t> CAST('[1.0, -0.2, 30]' AS VECTOR(3)) AS v1,</a:t>
            </a:r>
            <a:endParaRPr lang="en-US" sz="1400">
              <a:ea typeface="Calibri"/>
              <a:cs typeface="Calibri"/>
            </a:endParaRPr>
          </a:p>
          <a:p>
            <a:r>
              <a:rPr lang="en-US" sz="1400">
                <a:ea typeface="+mn-lt"/>
                <a:cs typeface="+mn-lt"/>
              </a:rPr>
              <a:t>  CAST(JSON_ARRAY(1.0, -0.2, 30) AS VECTOR(3)) AS v2;</a:t>
            </a:r>
            <a:endParaRPr lang="en-US" sz="1400"/>
          </a:p>
          <a:p>
            <a:endParaRPr lang="en-US" sz="800">
              <a:highlight>
                <a:srgbClr val="1F1F1F"/>
              </a:highlight>
              <a:latin typeface="Segoe UI"/>
              <a:ea typeface="Calibri"/>
              <a:cs typeface="Segoe UI"/>
            </a:endParaRPr>
          </a:p>
          <a:p>
            <a:endParaRPr lang="en-US" sz="800">
              <a:highlight>
                <a:srgbClr val="1F1F1F"/>
              </a:highlight>
              <a:latin typeface="Segoe UI"/>
              <a:ea typeface="Calibri"/>
              <a:cs typeface="Segoe UI"/>
            </a:endParaRPr>
          </a:p>
          <a:p>
            <a:endParaRPr lang="en-US" sz="800">
              <a:highlight>
                <a:srgbClr val="1F1F1F"/>
              </a:highlight>
              <a:latin typeface="Segoe UI"/>
              <a:ea typeface="Calibri"/>
              <a:cs typeface="Segoe UI"/>
            </a:endParaRPr>
          </a:p>
          <a:p>
            <a:endParaRPr lang="en-US" sz="800">
              <a:highlight>
                <a:srgbClr val="1F1F1F"/>
              </a:highlight>
              <a:latin typeface="Segoe UI"/>
              <a:ea typeface="Calibri"/>
              <a:cs typeface="Segoe UI"/>
            </a:endParaRPr>
          </a:p>
        </p:txBody>
      </p:sp>
      <p:pic>
        <p:nvPicPr>
          <p:cNvPr id="28" name="Graphic 27" descr="Database">
            <a:extLst>
              <a:ext uri="{FF2B5EF4-FFF2-40B4-BE49-F238E27FC236}">
                <a16:creationId xmlns:a16="http://schemas.microsoft.com/office/drawing/2014/main" id="{CCBC0961-34A1-EB79-116D-76876B83193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35662" y="2184914"/>
            <a:ext cx="3755915" cy="3755915"/>
          </a:xfrm>
          <a:prstGeom prst="rect">
            <a:avLst/>
          </a:prstGeom>
        </p:spPr>
      </p:pic>
      <p:sp>
        <p:nvSpPr>
          <p:cNvPr id="29" name="Freeform: Shape 28">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6064160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708283-2637-E98D-FC33-16868C2F082B}"/>
              </a:ext>
            </a:extLst>
          </p:cNvPr>
          <p:cNvSpPr>
            <a:spLocks noGrp="1"/>
          </p:cNvSpPr>
          <p:nvPr>
            <p:ph type="title"/>
          </p:nvPr>
        </p:nvSpPr>
        <p:spPr>
          <a:xfrm>
            <a:off x="838200" y="365125"/>
            <a:ext cx="10515600" cy="1325563"/>
          </a:xfrm>
        </p:spPr>
        <p:txBody>
          <a:bodyPr>
            <a:normAutofit/>
          </a:bodyPr>
          <a:lstStyle/>
          <a:p>
            <a:r>
              <a:rPr lang="en-US" sz="5400">
                <a:ea typeface="Calibri Light"/>
                <a:cs typeface="Calibri Light"/>
              </a:rPr>
              <a:t>XML Data &amp; Key Value Pair Data</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5594B27-688E-7B71-AB9C-75CB2D6B7FF1}"/>
              </a:ext>
            </a:extLst>
          </p:cNvPr>
          <p:cNvSpPr>
            <a:spLocks noGrp="1"/>
          </p:cNvSpPr>
          <p:nvPr>
            <p:ph idx="1"/>
          </p:nvPr>
        </p:nvSpPr>
        <p:spPr>
          <a:xfrm>
            <a:off x="838200" y="1929384"/>
            <a:ext cx="10515600" cy="4251960"/>
          </a:xfrm>
        </p:spPr>
        <p:txBody>
          <a:bodyPr vert="horz" lIns="91440" tIns="45720" rIns="91440" bIns="45720" rtlCol="0" anchor="t">
            <a:normAutofit/>
          </a:bodyPr>
          <a:lstStyle/>
          <a:p>
            <a:r>
              <a:rPr lang="en-US" sz="1700">
                <a:ea typeface="Calibri"/>
                <a:cs typeface="Calibri"/>
              </a:rPr>
              <a:t>SQL Server provides a powerful platform for developing rich applications for semi-structured data management. Support for XML is integrated into all the components in SQL Server in the following ways:</a:t>
            </a:r>
          </a:p>
          <a:p>
            <a:r>
              <a:rPr lang="en-US" sz="1700">
                <a:ea typeface="Calibri"/>
                <a:cs typeface="Calibri"/>
              </a:rPr>
              <a:t>The xml data type. XML values can be stored natively in an xml data type column that can be typed according to a collection of XML </a:t>
            </a:r>
            <a:r>
              <a:rPr lang="en-US" sz="1700" err="1">
                <a:ea typeface="Calibri"/>
                <a:cs typeface="Calibri"/>
              </a:rPr>
              <a:t>schemas, or</a:t>
            </a:r>
            <a:r>
              <a:rPr lang="en-US" sz="1700">
                <a:ea typeface="Calibri"/>
                <a:cs typeface="Calibri"/>
              </a:rPr>
              <a:t> left untyped. You can index the XML column.</a:t>
            </a:r>
          </a:p>
          <a:p>
            <a:r>
              <a:rPr lang="en-US" sz="1700">
                <a:ea typeface="Calibri"/>
                <a:cs typeface="Calibri"/>
              </a:rPr>
              <a:t>The ability to specify </a:t>
            </a:r>
            <a:r>
              <a:rPr lang="en-US" sz="1700" err="1">
                <a:ea typeface="Calibri"/>
                <a:cs typeface="Calibri"/>
              </a:rPr>
              <a:t>an</a:t>
            </a:r>
            <a:r>
              <a:rPr lang="en-US" sz="1700">
                <a:ea typeface="Calibri"/>
                <a:cs typeface="Calibri"/>
              </a:rPr>
              <a:t> XQuery query against XML data stored in columns and variables of the xml type.</a:t>
            </a:r>
          </a:p>
          <a:p>
            <a:r>
              <a:rPr lang="en-US" sz="1700">
                <a:ea typeface="Calibri"/>
                <a:cs typeface="Calibri"/>
              </a:rPr>
              <a:t>Enhancements to OPENROWSET to allow bulk loading of XML data.</a:t>
            </a:r>
          </a:p>
          <a:p>
            <a:r>
              <a:rPr lang="en-US" sz="1700">
                <a:ea typeface="Calibri"/>
                <a:cs typeface="Calibri"/>
              </a:rPr>
              <a:t>The </a:t>
            </a:r>
            <a:r>
              <a:rPr lang="en-US" sz="1700" b="1" err="1">
                <a:ea typeface="Calibri"/>
                <a:cs typeface="Calibri"/>
              </a:rPr>
              <a:t>FOR XML</a:t>
            </a:r>
            <a:r>
              <a:rPr lang="en-US" sz="1700">
                <a:ea typeface="Calibri"/>
                <a:cs typeface="Calibri"/>
              </a:rPr>
              <a:t> clause, to retrieve relational data in XML format.</a:t>
            </a:r>
          </a:p>
          <a:p>
            <a:r>
              <a:rPr lang="en-US" sz="1700">
                <a:ea typeface="Calibri"/>
                <a:cs typeface="Calibri"/>
              </a:rPr>
              <a:t>The OPENXML function, to retrieve XML data in relational format.</a:t>
            </a:r>
          </a:p>
          <a:p>
            <a:r>
              <a:rPr lang="en-US" sz="1700">
                <a:ea typeface="Calibri"/>
                <a:cs typeface="Calibri"/>
              </a:rPr>
              <a:t>XML compression provides a method to compress off-row XML data for both XML columns and indexes, improving capacity requirements</a:t>
            </a:r>
          </a:p>
          <a:p>
            <a:r>
              <a:rPr lang="en-US" sz="1700">
                <a:ea typeface="Calibri"/>
                <a:cs typeface="Calibri"/>
              </a:rPr>
              <a:t>Azure SQL also provides </a:t>
            </a:r>
            <a:r>
              <a:rPr lang="en-US" sz="1700">
                <a:ea typeface="Calibri"/>
                <a:cs typeface="Calibri"/>
                <a:hlinkClick r:id="rId2">
                  <a:extLst>
                    <a:ext uri="{A12FA001-AC4F-418D-AE19-62706E023703}">
                      <ahyp:hlinkClr xmlns:ahyp="http://schemas.microsoft.com/office/drawing/2018/hyperlinkcolor" val="tx"/>
                    </a:ext>
                  </a:extLst>
                </a:hlinkClick>
              </a:rPr>
              <a:t>multi-model</a:t>
            </a:r>
            <a:r>
              <a:rPr lang="en-US" sz="1700">
                <a:ea typeface="Calibri"/>
                <a:cs typeface="Calibri"/>
              </a:rPr>
              <a:t> capabilities, including support for JSON, XML, and Graph data. Regardless of data model, developers can continue using familiar SQL language.</a:t>
            </a:r>
          </a:p>
        </p:txBody>
      </p:sp>
    </p:spTree>
    <p:extLst>
      <p:ext uri="{BB962C8B-B14F-4D97-AF65-F5344CB8AC3E}">
        <p14:creationId xmlns:p14="http://schemas.microsoft.com/office/powerpoint/2010/main" val="10035644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40DBB-8006-D582-F717-BB20A1C1D616}"/>
              </a:ext>
            </a:extLst>
          </p:cNvPr>
          <p:cNvSpPr>
            <a:spLocks noGrp="1"/>
          </p:cNvSpPr>
          <p:nvPr>
            <p:ph type="title"/>
          </p:nvPr>
        </p:nvSpPr>
        <p:spPr/>
        <p:txBody>
          <a:bodyPr/>
          <a:lstStyle/>
          <a:p>
            <a:r>
              <a:rPr lang="en-US">
                <a:ea typeface="Calibri Light"/>
                <a:cs typeface="Calibri Light"/>
              </a:rPr>
              <a:t>SQL Server Database Engine</a:t>
            </a:r>
            <a:endParaRPr lang="en-US"/>
          </a:p>
        </p:txBody>
      </p:sp>
      <p:sp>
        <p:nvSpPr>
          <p:cNvPr id="3" name="Content Placeholder 2">
            <a:extLst>
              <a:ext uri="{FF2B5EF4-FFF2-40B4-BE49-F238E27FC236}">
                <a16:creationId xmlns:a16="http://schemas.microsoft.com/office/drawing/2014/main" id="{0074A95C-ABA3-9B8E-B1BE-A16BAD4E10D8}"/>
              </a:ext>
            </a:extLst>
          </p:cNvPr>
          <p:cNvSpPr>
            <a:spLocks noGrp="1"/>
          </p:cNvSpPr>
          <p:nvPr>
            <p:ph idx="1"/>
          </p:nvPr>
        </p:nvSpPr>
        <p:spPr/>
        <p:txBody>
          <a:bodyPr vert="horz" lIns="91440" tIns="45720" rIns="91440" bIns="45720" rtlCol="0" anchor="t">
            <a:normAutofit/>
          </a:bodyPr>
          <a:lstStyle/>
          <a:p>
            <a:r>
              <a:rPr lang="en-US" sz="1700">
                <a:ea typeface="Calibri"/>
                <a:cs typeface="Calibri"/>
              </a:rPr>
              <a:t>The Database Engine is the core service for storing, processing, and securing data. The Database Engine provides controlled access and transaction processing to meet the requirements of the most demanding data consuming applications within your enterprise. The Database Engine also provides rich support for sustaining business continuity through </a:t>
            </a:r>
            <a:r>
              <a:rPr lang="en-US" sz="1700">
                <a:ea typeface="Calibri"/>
                <a:cs typeface="Calibri"/>
                <a:hlinkClick r:id="rId2">
                  <a:extLst>
                    <a:ext uri="{A12FA001-AC4F-418D-AE19-62706E023703}">
                      <ahyp:hlinkClr xmlns:ahyp="http://schemas.microsoft.com/office/drawing/2018/hyperlinkcolor" val="tx"/>
                    </a:ext>
                  </a:extLst>
                </a:hlinkClick>
              </a:rPr>
              <a:t>Business continuity and database recovery</a:t>
            </a:r>
            <a:r>
              <a:rPr lang="en-US" sz="1700">
                <a:ea typeface="Calibri"/>
                <a:cs typeface="Calibri"/>
              </a:rPr>
              <a:t>.</a:t>
            </a:r>
          </a:p>
          <a:p>
            <a:endParaRPr lang="en-US" sz="1700">
              <a:ea typeface="Calibri"/>
              <a:cs typeface="Calibri"/>
            </a:endParaRPr>
          </a:p>
          <a:p>
            <a:r>
              <a:rPr lang="en-US" sz="1700">
                <a:ea typeface="Calibri"/>
                <a:cs typeface="Calibri"/>
              </a:rPr>
              <a:t>You can use Always On availability groups, failover cluster instances, and log shipping in different ways, and not just for availability. There are four main ways you can use the availability features:</a:t>
            </a:r>
          </a:p>
          <a:p>
            <a:r>
              <a:rPr lang="en-US" sz="1700">
                <a:ea typeface="Calibri"/>
                <a:cs typeface="Calibri"/>
              </a:rPr>
              <a:t>High availability</a:t>
            </a:r>
          </a:p>
          <a:p>
            <a:r>
              <a:rPr lang="en-US" sz="1700">
                <a:ea typeface="Calibri"/>
                <a:cs typeface="Calibri"/>
              </a:rPr>
              <a:t>Disaster recovery</a:t>
            </a:r>
          </a:p>
          <a:p>
            <a:r>
              <a:rPr lang="en-US" sz="1700">
                <a:ea typeface="Calibri"/>
                <a:cs typeface="Calibri"/>
              </a:rPr>
              <a:t>Migrations and upgrades</a:t>
            </a:r>
          </a:p>
          <a:p>
            <a:r>
              <a:rPr lang="en-US" sz="1700">
                <a:ea typeface="Calibri"/>
                <a:cs typeface="Calibri"/>
              </a:rPr>
              <a:t>Scaling out readable copies of one or more databases</a:t>
            </a:r>
          </a:p>
          <a:p>
            <a:endParaRPr lang="en-US" sz="1700">
              <a:ea typeface="Calibri"/>
              <a:cs typeface="Calibri"/>
            </a:endParaRPr>
          </a:p>
        </p:txBody>
      </p:sp>
    </p:spTree>
    <p:extLst>
      <p:ext uri="{BB962C8B-B14F-4D97-AF65-F5344CB8AC3E}">
        <p14:creationId xmlns:p14="http://schemas.microsoft.com/office/powerpoint/2010/main" val="10491646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E149CDF-5DAC-4860-A285-9492CF2090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B0DAC8FB-A162-44E3-A606-C855A03A5B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952" cy="6862380"/>
          </a:xfrm>
          <a:prstGeom prst="rect">
            <a:avLst/>
          </a:prstGeom>
        </p:spPr>
      </p:pic>
      <p:sp>
        <p:nvSpPr>
          <p:cNvPr id="24" name="Rectangle 23">
            <a:extLst>
              <a:ext uri="{FF2B5EF4-FFF2-40B4-BE49-F238E27FC236}">
                <a16:creationId xmlns:a16="http://schemas.microsoft.com/office/drawing/2014/main" id="{21BDEC81-16A7-4451-B893-C15000083B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6A515A1-4D80-430E-BE0A-71A290516A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542" y="729175"/>
            <a:ext cx="11099352" cy="5399650"/>
          </a:xfrm>
          <a:prstGeom prst="rect">
            <a:avLst/>
          </a:prstGeom>
          <a:solidFill>
            <a:schemeClr val="bg1"/>
          </a:solidFill>
          <a:ln w="349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
        <p:nvSpPr>
          <p:cNvPr id="2" name="Title 1">
            <a:extLst>
              <a:ext uri="{FF2B5EF4-FFF2-40B4-BE49-F238E27FC236}">
                <a16:creationId xmlns:a16="http://schemas.microsoft.com/office/drawing/2014/main" id="{637624EE-9B08-3BE5-6ED9-A2B801A8A42D}"/>
              </a:ext>
            </a:extLst>
          </p:cNvPr>
          <p:cNvSpPr>
            <a:spLocks noGrp="1"/>
          </p:cNvSpPr>
          <p:nvPr>
            <p:ph type="title"/>
          </p:nvPr>
        </p:nvSpPr>
        <p:spPr>
          <a:xfrm>
            <a:off x="1191966" y="905011"/>
            <a:ext cx="3629555" cy="1889135"/>
          </a:xfrm>
        </p:spPr>
        <p:txBody>
          <a:bodyPr anchor="b">
            <a:normAutofit/>
          </a:bodyPr>
          <a:lstStyle/>
          <a:p>
            <a:r>
              <a:rPr lang="en-US" sz="4100">
                <a:ea typeface="Calibri Light"/>
                <a:cs typeface="Calibri Light"/>
              </a:rPr>
              <a:t>SQL Server Platform Architecture</a:t>
            </a:r>
            <a:endParaRPr lang="en-US" sz="4100"/>
          </a:p>
        </p:txBody>
      </p:sp>
      <p:sp>
        <p:nvSpPr>
          <p:cNvPr id="8" name="Content Placeholder 7">
            <a:extLst>
              <a:ext uri="{FF2B5EF4-FFF2-40B4-BE49-F238E27FC236}">
                <a16:creationId xmlns:a16="http://schemas.microsoft.com/office/drawing/2014/main" id="{DFC8BE56-E005-37D9-6692-ED3EACE0DD89}"/>
              </a:ext>
            </a:extLst>
          </p:cNvPr>
          <p:cNvSpPr>
            <a:spLocks noGrp="1"/>
          </p:cNvSpPr>
          <p:nvPr>
            <p:ph idx="1"/>
          </p:nvPr>
        </p:nvSpPr>
        <p:spPr>
          <a:xfrm>
            <a:off x="1191966" y="2965592"/>
            <a:ext cx="3629555" cy="2987397"/>
          </a:xfrm>
        </p:spPr>
        <p:txBody>
          <a:bodyPr vert="horz" lIns="91440" tIns="45720" rIns="91440" bIns="45720" rtlCol="0">
            <a:normAutofit/>
          </a:bodyPr>
          <a:lstStyle/>
          <a:p>
            <a:r>
              <a:rPr lang="en-US" sz="1800">
                <a:highlight>
                  <a:srgbClr val="FFFFFF"/>
                </a:highlight>
                <a:ea typeface="+mn-lt"/>
                <a:cs typeface="+mn-lt"/>
              </a:rPr>
              <a:t>SQL Server operates using a client-server architecture, where the database engine handles data management and user requests, while clients interact with the server to execute queries and retrieve data.</a:t>
            </a:r>
          </a:p>
          <a:p>
            <a:endParaRPr lang="en-US" sz="1800">
              <a:highlight>
                <a:srgbClr val="FFFFFF"/>
              </a:highlight>
              <a:ea typeface="Calibri"/>
              <a:cs typeface="Calibri"/>
            </a:endParaRPr>
          </a:p>
          <a:p>
            <a:endParaRPr lang="en-US" sz="1800">
              <a:highlight>
                <a:srgbClr val="FFFFFF"/>
              </a:highlight>
              <a:ea typeface="Calibri"/>
              <a:cs typeface="Calibri"/>
            </a:endParaRPr>
          </a:p>
        </p:txBody>
      </p:sp>
      <p:pic>
        <p:nvPicPr>
          <p:cNvPr id="4" name="Content Placeholder 3" descr="A diagram of a network server">
            <a:extLst>
              <a:ext uri="{FF2B5EF4-FFF2-40B4-BE49-F238E27FC236}">
                <a16:creationId xmlns:a16="http://schemas.microsoft.com/office/drawing/2014/main" id="{9003218C-751F-1AAA-81AF-25E906F7F031}"/>
              </a:ext>
            </a:extLst>
          </p:cNvPr>
          <p:cNvPicPr>
            <a:picLocks noChangeAspect="1"/>
          </p:cNvPicPr>
          <p:nvPr/>
        </p:nvPicPr>
        <p:blipFill>
          <a:blip r:embed="rId3"/>
          <a:srcRect r="4312" b="1"/>
          <a:stretch>
            <a:fillRect/>
          </a:stretch>
        </p:blipFill>
        <p:spPr>
          <a:xfrm>
            <a:off x="5359151" y="895610"/>
            <a:ext cx="6107166" cy="5058020"/>
          </a:xfrm>
          <a:prstGeom prst="rect">
            <a:avLst/>
          </a:prstGeom>
        </p:spPr>
      </p:pic>
    </p:spTree>
    <p:extLst>
      <p:ext uri="{BB962C8B-B14F-4D97-AF65-F5344CB8AC3E}">
        <p14:creationId xmlns:p14="http://schemas.microsoft.com/office/powerpoint/2010/main" val="4226178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00BFF9-9356-7B63-EAEB-08797D73E4F8}"/>
              </a:ext>
            </a:extLst>
          </p:cNvPr>
          <p:cNvSpPr>
            <a:spLocks noGrp="1"/>
          </p:cNvSpPr>
          <p:nvPr>
            <p:ph type="title"/>
          </p:nvPr>
        </p:nvSpPr>
        <p:spPr>
          <a:xfrm>
            <a:off x="838200" y="365125"/>
            <a:ext cx="10515600" cy="1325563"/>
          </a:xfrm>
        </p:spPr>
        <p:txBody>
          <a:bodyPr>
            <a:normAutofit/>
          </a:bodyPr>
          <a:lstStyle/>
          <a:p>
            <a:r>
              <a:rPr lang="en-US" sz="5400">
                <a:ea typeface="Calibri Light"/>
                <a:cs typeface="Calibri Light"/>
              </a:rPr>
              <a:t>Database Design with SQL Server</a:t>
            </a:r>
            <a:endParaRPr lang="en-US" sz="5400"/>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5211D5D-DC06-B468-7CC2-767D98DB8DC5}"/>
              </a:ext>
            </a:extLst>
          </p:cNvPr>
          <p:cNvSpPr>
            <a:spLocks noGrp="1"/>
          </p:cNvSpPr>
          <p:nvPr>
            <p:ph idx="1"/>
          </p:nvPr>
        </p:nvSpPr>
        <p:spPr>
          <a:xfrm>
            <a:off x="838200" y="1929384"/>
            <a:ext cx="10515600" cy="4251960"/>
          </a:xfrm>
        </p:spPr>
        <p:txBody>
          <a:bodyPr vert="horz" lIns="91440" tIns="45720" rIns="91440" bIns="45720" rtlCol="0">
            <a:normAutofit/>
          </a:bodyPr>
          <a:lstStyle/>
          <a:p>
            <a:r>
              <a:rPr lang="en-US" sz="1500">
                <a:ea typeface="Calibri"/>
                <a:cs typeface="Calibri"/>
              </a:rPr>
              <a:t>Hierarchical data is defined as a set of data items that are related to each other by hierarchical relationships. Hierarchical relationships exist where one item of data is the parent of another item. Examples of the hierarchical data that is commonly stored in databases include the following items:</a:t>
            </a:r>
          </a:p>
          <a:p>
            <a:r>
              <a:rPr lang="en-US" sz="1500">
                <a:ea typeface="Calibri"/>
                <a:cs typeface="Calibri"/>
              </a:rPr>
              <a:t>An organizational structure</a:t>
            </a:r>
          </a:p>
          <a:p>
            <a:r>
              <a:rPr lang="en-US" sz="1500">
                <a:ea typeface="Calibri"/>
                <a:cs typeface="Calibri"/>
              </a:rPr>
              <a:t>A file system</a:t>
            </a:r>
          </a:p>
          <a:p>
            <a:r>
              <a:rPr lang="en-US" sz="1500">
                <a:ea typeface="Calibri"/>
                <a:cs typeface="Calibri"/>
              </a:rPr>
              <a:t>A set of tasks in a project</a:t>
            </a:r>
          </a:p>
          <a:p>
            <a:r>
              <a:rPr lang="en-US" sz="1500">
                <a:ea typeface="Calibri"/>
                <a:cs typeface="Calibri"/>
              </a:rPr>
              <a:t>A taxonomy of language terms</a:t>
            </a:r>
          </a:p>
          <a:p>
            <a:r>
              <a:rPr lang="en-US" sz="1500">
                <a:ea typeface="Calibri"/>
                <a:cs typeface="Calibri"/>
              </a:rPr>
              <a:t>A graph of links between Web pages</a:t>
            </a:r>
          </a:p>
          <a:p>
            <a:pPr marL="0" indent="0">
              <a:buNone/>
            </a:pPr>
            <a:endParaRPr lang="en-US" sz="1500">
              <a:ea typeface="Calibri"/>
              <a:cs typeface="Calibri"/>
            </a:endParaRPr>
          </a:p>
          <a:p>
            <a:r>
              <a:rPr lang="en-US" sz="1500">
                <a:ea typeface="Calibri"/>
                <a:cs typeface="Calibri"/>
              </a:rPr>
              <a:t>Collations in the SQL Server Database Engine provide sorting rules, case, and accent sensitivity properties for your data. Collations that are used with character data types, such as char and varchar, dictate the code page and corresponding characters that can be represented for that data type. </a:t>
            </a:r>
          </a:p>
          <a:p>
            <a:r>
              <a:rPr lang="en-US" sz="1500">
                <a:ea typeface="Calibri"/>
                <a:cs typeface="Calibri"/>
              </a:rPr>
              <a:t>A collation specifies the bit patterns that represent each character in a dataset. Collations also determine the rules that sort and compare data. SQL Server supports storing objects that have different collations in a single database</a:t>
            </a:r>
          </a:p>
          <a:p>
            <a:endParaRPr lang="en-US" sz="1500">
              <a:ea typeface="Calibri"/>
              <a:cs typeface="Calibri"/>
            </a:endParaRPr>
          </a:p>
        </p:txBody>
      </p:sp>
    </p:spTree>
    <p:extLst>
      <p:ext uri="{BB962C8B-B14F-4D97-AF65-F5344CB8AC3E}">
        <p14:creationId xmlns:p14="http://schemas.microsoft.com/office/powerpoint/2010/main" val="10744998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726A876-49A6-30E7-5DE5-659142BF5ED7}"/>
              </a:ext>
            </a:extLst>
          </p:cNvPr>
          <p:cNvSpPr>
            <a:spLocks noGrp="1"/>
          </p:cNvSpPr>
          <p:nvPr>
            <p:ph type="title"/>
          </p:nvPr>
        </p:nvSpPr>
        <p:spPr>
          <a:xfrm>
            <a:off x="838200" y="365125"/>
            <a:ext cx="10515600" cy="1325563"/>
          </a:xfrm>
        </p:spPr>
        <p:txBody>
          <a:bodyPr>
            <a:normAutofit/>
          </a:bodyPr>
          <a:lstStyle/>
          <a:p>
            <a:r>
              <a:rPr lang="en-US">
                <a:ea typeface="Calibri Light"/>
                <a:cs typeface="Calibri Light"/>
              </a:rPr>
              <a:t>SQL Server Database Overview </a:t>
            </a:r>
            <a:endParaRPr lang="en-US"/>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6404049-BD3E-70B7-4F92-A6A0382B0619}"/>
              </a:ext>
            </a:extLst>
          </p:cNvPr>
          <p:cNvSpPr>
            <a:spLocks noGrp="1"/>
          </p:cNvSpPr>
          <p:nvPr>
            <p:ph idx="1"/>
          </p:nvPr>
        </p:nvSpPr>
        <p:spPr>
          <a:xfrm>
            <a:off x="838200" y="1825625"/>
            <a:ext cx="10515600" cy="4351338"/>
          </a:xfrm>
        </p:spPr>
        <p:txBody>
          <a:bodyPr vert="horz" lIns="91440" tIns="45720" rIns="91440" bIns="45720" rtlCol="0">
            <a:normAutofit/>
          </a:bodyPr>
          <a:lstStyle/>
          <a:p>
            <a:r>
              <a:rPr lang="en-US" sz="1500">
                <a:ea typeface="Calibri"/>
                <a:cs typeface="Calibri"/>
              </a:rPr>
              <a:t>A database in SQL Server is made up of a collection of tables that stores a specific set of structured data. A table contains a collection of rows, also referred to as records or tuples, and columns, also referred to as attributes. Each column in the table is designed to store a certain type of information, for example, dates, names, dollar amounts, and numbers.</a:t>
            </a:r>
          </a:p>
          <a:p>
            <a:endParaRPr lang="en-US" sz="1500">
              <a:ea typeface="Calibri"/>
              <a:cs typeface="Calibri"/>
            </a:endParaRPr>
          </a:p>
          <a:p>
            <a:r>
              <a:rPr lang="en-US" sz="1500">
                <a:ea typeface="Calibri"/>
                <a:cs typeface="Calibri"/>
              </a:rPr>
              <a:t>SQL Server databases are stored in the file system in files. Files can be grouped into filegroups. </a:t>
            </a:r>
          </a:p>
          <a:p>
            <a:endParaRPr lang="en-US" sz="1500">
              <a:ea typeface="Calibri"/>
              <a:cs typeface="Calibri"/>
            </a:endParaRPr>
          </a:p>
          <a:p>
            <a:r>
              <a:rPr lang="en-US" sz="1500">
                <a:ea typeface="Calibri"/>
                <a:cs typeface="Calibri"/>
              </a:rPr>
              <a:t>SQL Server Management Studio (SSMS) is an integrated environment for managing any SQL infrastructure. Use SSMS to access, configure, manage, administer, and develop platforms. </a:t>
            </a:r>
          </a:p>
          <a:p>
            <a:r>
              <a:rPr lang="en-US" sz="1500">
                <a:ea typeface="Calibri"/>
                <a:cs typeface="Calibri"/>
              </a:rPr>
              <a:t>SSMS brings together graphical tools and rich editors to help you:</a:t>
            </a:r>
          </a:p>
          <a:p>
            <a:r>
              <a:rPr lang="en-US" sz="1500">
                <a:ea typeface="Calibri"/>
                <a:cs typeface="Calibri"/>
              </a:rPr>
              <a:t>Connect securely to SQL Server, Azure SQL, and related services. Manage objects by using Object Explorer and design tools.</a:t>
            </a:r>
          </a:p>
          <a:p>
            <a:r>
              <a:rPr lang="en-US" sz="1500">
                <a:ea typeface="Calibri"/>
                <a:cs typeface="Calibri"/>
              </a:rPr>
              <a:t>Query, script, and tune workloads by using the Query Editor, execution plans, and built-in performance tools.</a:t>
            </a:r>
          </a:p>
          <a:p>
            <a:r>
              <a:rPr lang="en-US" sz="1500">
                <a:ea typeface="Calibri"/>
                <a:cs typeface="Calibri"/>
              </a:rPr>
              <a:t>Administer business intelligence features such as Integration Services (SSIS), Analysis Services (SSAS), and Reporting Services (SSRS).</a:t>
            </a:r>
          </a:p>
          <a:p>
            <a:endParaRPr lang="en-US" sz="1500">
              <a:ea typeface="Calibri"/>
              <a:cs typeface="Calibri"/>
            </a:endParaRPr>
          </a:p>
        </p:txBody>
      </p:sp>
    </p:spTree>
    <p:extLst>
      <p:ext uri="{BB962C8B-B14F-4D97-AF65-F5344CB8AC3E}">
        <p14:creationId xmlns:p14="http://schemas.microsoft.com/office/powerpoint/2010/main" val="23392246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DB5AB2-0325-BCA9-764E-8B187EF6B2F4}"/>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ea typeface="Calibri Light"/>
                <a:cs typeface="Calibri Light"/>
              </a:rPr>
              <a:t>SQL Server Index Types</a:t>
            </a:r>
            <a:endParaRPr lang="en-US" sz="4000">
              <a:solidFill>
                <a:srgbClr val="FFFFFF"/>
              </a:solidFill>
            </a:endParaRPr>
          </a:p>
        </p:txBody>
      </p:sp>
      <p:sp>
        <p:nvSpPr>
          <p:cNvPr id="3" name="Content Placeholder 2">
            <a:extLst>
              <a:ext uri="{FF2B5EF4-FFF2-40B4-BE49-F238E27FC236}">
                <a16:creationId xmlns:a16="http://schemas.microsoft.com/office/drawing/2014/main" id="{66E539D5-9860-65A9-84B0-AE3C9DE83A0F}"/>
              </a:ext>
            </a:extLst>
          </p:cNvPr>
          <p:cNvSpPr>
            <a:spLocks noGrp="1"/>
          </p:cNvSpPr>
          <p:nvPr>
            <p:ph idx="1"/>
          </p:nvPr>
        </p:nvSpPr>
        <p:spPr>
          <a:xfrm>
            <a:off x="4810259" y="649480"/>
            <a:ext cx="6555347" cy="5546047"/>
          </a:xfrm>
        </p:spPr>
        <p:txBody>
          <a:bodyPr vert="horz" lIns="91440" tIns="45720" rIns="91440" bIns="45720" rtlCol="0" anchor="ctr">
            <a:normAutofit/>
          </a:bodyPr>
          <a:lstStyle/>
          <a:p>
            <a:r>
              <a:rPr lang="en-US" sz="2000">
                <a:ea typeface="Calibri"/>
                <a:cs typeface="Calibri"/>
              </a:rPr>
              <a:t>Hash </a:t>
            </a:r>
          </a:p>
          <a:p>
            <a:r>
              <a:rPr lang="en-US" sz="2000">
                <a:ea typeface="Calibri"/>
                <a:cs typeface="Calibri"/>
              </a:rPr>
              <a:t>Index with computed columns</a:t>
            </a:r>
          </a:p>
          <a:p>
            <a:r>
              <a:rPr lang="en-US" sz="2000">
                <a:ea typeface="Calibri"/>
                <a:cs typeface="Calibri"/>
              </a:rPr>
              <a:t>Spatial</a:t>
            </a:r>
          </a:p>
          <a:p>
            <a:r>
              <a:rPr lang="en-US" sz="2000">
                <a:ea typeface="Calibri"/>
                <a:cs typeface="Calibri"/>
              </a:rPr>
              <a:t>Memory-optimized Non-clustered </a:t>
            </a:r>
          </a:p>
          <a:p>
            <a:r>
              <a:rPr lang="en-US" sz="2000">
                <a:ea typeface="Calibri"/>
                <a:cs typeface="Calibri"/>
              </a:rPr>
              <a:t>Clustered </a:t>
            </a:r>
          </a:p>
          <a:p>
            <a:r>
              <a:rPr lang="en-US" sz="2000">
                <a:ea typeface="Calibri"/>
                <a:cs typeface="Calibri"/>
              </a:rPr>
              <a:t>Non-clustered Index </a:t>
            </a:r>
          </a:p>
          <a:p>
            <a:r>
              <a:rPr lang="en-US" sz="2000">
                <a:ea typeface="Calibri"/>
                <a:cs typeface="Calibri"/>
              </a:rPr>
              <a:t>Unique </a:t>
            </a:r>
          </a:p>
          <a:p>
            <a:r>
              <a:rPr lang="en-US" sz="2000">
                <a:ea typeface="Calibri"/>
                <a:cs typeface="Calibri"/>
              </a:rPr>
              <a:t>Columnstore </a:t>
            </a:r>
          </a:p>
          <a:p>
            <a:r>
              <a:rPr lang="en-US" sz="2000">
                <a:ea typeface="Calibri"/>
                <a:cs typeface="Calibri"/>
              </a:rPr>
              <a:t>Index with Included columns</a:t>
            </a:r>
          </a:p>
          <a:p>
            <a:r>
              <a:rPr lang="en-US" sz="2000">
                <a:ea typeface="Calibri"/>
                <a:cs typeface="Calibri"/>
              </a:rPr>
              <a:t>XML</a:t>
            </a:r>
          </a:p>
          <a:p>
            <a:r>
              <a:rPr lang="en-US" sz="2000">
                <a:ea typeface="Calibri"/>
                <a:cs typeface="Calibri"/>
              </a:rPr>
              <a:t>Full-text</a:t>
            </a:r>
          </a:p>
          <a:p>
            <a:endParaRPr lang="en-US" sz="2000">
              <a:ea typeface="Calibri"/>
              <a:cs typeface="Calibri"/>
            </a:endParaRPr>
          </a:p>
        </p:txBody>
      </p:sp>
    </p:spTree>
    <p:extLst>
      <p:ext uri="{BB962C8B-B14F-4D97-AF65-F5344CB8AC3E}">
        <p14:creationId xmlns:p14="http://schemas.microsoft.com/office/powerpoint/2010/main" val="32919467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2A770A-6058-3B59-7EA8-5A75B57CB413}"/>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ea typeface="Calibri Light"/>
                <a:cs typeface="Calibri Light"/>
              </a:rPr>
              <a:t>SQL Server Tables</a:t>
            </a:r>
            <a:endParaRPr lang="en-US" sz="4000">
              <a:solidFill>
                <a:srgbClr val="FFFFFF"/>
              </a:solidFill>
            </a:endParaRPr>
          </a:p>
        </p:txBody>
      </p:sp>
      <p:sp>
        <p:nvSpPr>
          <p:cNvPr id="3" name="Content Placeholder 2">
            <a:extLst>
              <a:ext uri="{FF2B5EF4-FFF2-40B4-BE49-F238E27FC236}">
                <a16:creationId xmlns:a16="http://schemas.microsoft.com/office/drawing/2014/main" id="{EA43B87D-2EED-21A1-F4D1-3A5FD87A2EA9}"/>
              </a:ext>
            </a:extLst>
          </p:cNvPr>
          <p:cNvSpPr>
            <a:spLocks noGrp="1"/>
          </p:cNvSpPr>
          <p:nvPr>
            <p:ph idx="1"/>
          </p:nvPr>
        </p:nvSpPr>
        <p:spPr>
          <a:xfrm>
            <a:off x="4810259" y="649480"/>
            <a:ext cx="6555347" cy="5546047"/>
          </a:xfrm>
        </p:spPr>
        <p:txBody>
          <a:bodyPr vert="horz" lIns="91440" tIns="45720" rIns="91440" bIns="45720" rtlCol="0" anchor="ctr">
            <a:normAutofit/>
          </a:bodyPr>
          <a:lstStyle/>
          <a:p>
            <a:r>
              <a:rPr lang="en-US" sz="1400">
                <a:ea typeface="Calibri"/>
                <a:cs typeface="Calibri"/>
              </a:rPr>
              <a:t>Tables are database objects that contain all the data in a database. In tables, data is logically organized in a row-and-column format similar to a spreadsheet. Each row represents a unique record, and each column represents a field in the record.</a:t>
            </a:r>
          </a:p>
          <a:p>
            <a:r>
              <a:rPr lang="en-US" sz="1400">
                <a:ea typeface="Calibri"/>
                <a:cs typeface="Calibri"/>
              </a:rPr>
              <a:t>Partitioned tables are tables whose data is horizontally divided into units which might be spread across more than one filegroup in a database. </a:t>
            </a:r>
          </a:p>
          <a:p>
            <a:r>
              <a:rPr lang="en-US" sz="1400">
                <a:ea typeface="Calibri"/>
                <a:cs typeface="Calibri"/>
              </a:rPr>
              <a:t>Partitioning makes large tables or indexes more manageable by letting you access or manage subsets of data quickly and efficiently, while maintaining the integrity of the overall collection. By default, SQL Server supports up to 15,000 partitions. </a:t>
            </a:r>
          </a:p>
          <a:p>
            <a:endParaRPr lang="en-US" sz="1400">
              <a:ea typeface="Calibri"/>
              <a:cs typeface="Calibri"/>
            </a:endParaRPr>
          </a:p>
          <a:p>
            <a:r>
              <a:rPr lang="en-US" sz="1400">
                <a:ea typeface="Calibri"/>
                <a:cs typeface="Calibri"/>
              </a:rPr>
              <a:t>Temporary tables are stored in tempdb. There are two types of temporary tables: local and global. </a:t>
            </a:r>
          </a:p>
          <a:p>
            <a:endParaRPr lang="en-US" sz="1400">
              <a:ea typeface="Calibri"/>
              <a:cs typeface="Calibri"/>
            </a:endParaRPr>
          </a:p>
          <a:p>
            <a:r>
              <a:rPr lang="en-US" sz="1400">
                <a:ea typeface="Calibri"/>
                <a:cs typeface="Calibri"/>
              </a:rPr>
              <a:t>Local temporary tables, also known as session-scoped temporary tables, have a single number sign (#) as the first character of their names; they are visible only to the current connection for the user, and they are deleted when the user disconnects from the instance of SQL Server.</a:t>
            </a:r>
          </a:p>
          <a:p>
            <a:r>
              <a:rPr lang="en-US" sz="1400">
                <a:ea typeface="Calibri"/>
                <a:cs typeface="Calibri"/>
              </a:rPr>
              <a:t>Global temporary tables have two number signs (##) as the first characters of their names; they are visible to any user after they are created, and they are deleted when all users referencing the table disconnect from the instance of SQL Server.</a:t>
            </a:r>
          </a:p>
          <a:p>
            <a:endParaRPr lang="en-US" sz="1400">
              <a:ea typeface="Calibri"/>
              <a:cs typeface="Calibri"/>
            </a:endParaRPr>
          </a:p>
          <a:p>
            <a:endParaRPr lang="en-US" sz="1400">
              <a:highlight>
                <a:srgbClr val="1F1F1F"/>
              </a:highlight>
              <a:latin typeface="Segoe UI"/>
              <a:ea typeface="Calibri"/>
              <a:cs typeface="Segoe UI"/>
            </a:endParaRPr>
          </a:p>
          <a:p>
            <a:endParaRPr lang="en-US" sz="1400">
              <a:highlight>
                <a:srgbClr val="1F1F1F"/>
              </a:highlight>
              <a:latin typeface="Segoe UI"/>
              <a:ea typeface="Calibri"/>
              <a:cs typeface="Segoe UI"/>
            </a:endParaRPr>
          </a:p>
        </p:txBody>
      </p:sp>
    </p:spTree>
    <p:extLst>
      <p:ext uri="{BB962C8B-B14F-4D97-AF65-F5344CB8AC3E}">
        <p14:creationId xmlns:p14="http://schemas.microsoft.com/office/powerpoint/2010/main" val="22470411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445DDC9-A853-2723-BF67-3199A025AB6B}"/>
              </a:ext>
            </a:extLst>
          </p:cNvPr>
          <p:cNvSpPr>
            <a:spLocks noGrp="1"/>
          </p:cNvSpPr>
          <p:nvPr>
            <p:ph type="title"/>
          </p:nvPr>
        </p:nvSpPr>
        <p:spPr>
          <a:xfrm>
            <a:off x="841248" y="256032"/>
            <a:ext cx="10506456" cy="1014984"/>
          </a:xfrm>
        </p:spPr>
        <p:txBody>
          <a:bodyPr anchor="b">
            <a:normAutofit/>
          </a:bodyPr>
          <a:lstStyle/>
          <a:p>
            <a:r>
              <a:rPr lang="en-US">
                <a:ea typeface="Calibri Light"/>
                <a:cs typeface="Calibri Light"/>
              </a:rPr>
              <a:t>SQL Server Configuration Manager</a:t>
            </a:r>
            <a:endParaRPr lang="en-US"/>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7395AE93-B01E-B096-EB04-02810710D179}"/>
              </a:ext>
            </a:extLst>
          </p:cNvPr>
          <p:cNvGraphicFramePr>
            <a:graphicFrameLocks noGrp="1"/>
          </p:cNvGraphicFramePr>
          <p:nvPr>
            <p:ph idx="1"/>
            <p:extLst>
              <p:ext uri="{D42A27DB-BD31-4B8C-83A1-F6EECF244321}">
                <p14:modId xmlns:p14="http://schemas.microsoft.com/office/powerpoint/2010/main" val="1247668473"/>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556723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F73E194-C371-0E61-FEF7-8F378C72BD7F}"/>
              </a:ext>
            </a:extLst>
          </p:cNvPr>
          <p:cNvPicPr>
            <a:picLocks noChangeAspect="1"/>
          </p:cNvPicPr>
          <p:nvPr/>
        </p:nvPicPr>
        <p:blipFill>
          <a:blip r:embed="rId2">
            <a:duotone>
              <a:schemeClr val="bg2">
                <a:shade val="45000"/>
                <a:satMod val="135000"/>
              </a:schemeClr>
              <a:prstClr val="white"/>
            </a:duotone>
          </a:blip>
          <a:srcRect t="9092" r="9085" b="-7"/>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56FD98-4EA7-27D4-F019-36F620674A33}"/>
              </a:ext>
            </a:extLst>
          </p:cNvPr>
          <p:cNvSpPr>
            <a:spLocks noGrp="1"/>
          </p:cNvSpPr>
          <p:nvPr>
            <p:ph type="title"/>
          </p:nvPr>
        </p:nvSpPr>
        <p:spPr>
          <a:xfrm>
            <a:off x="838200" y="365125"/>
            <a:ext cx="10515600" cy="1325563"/>
          </a:xfrm>
        </p:spPr>
        <p:txBody>
          <a:bodyPr>
            <a:normAutofit/>
          </a:bodyPr>
          <a:lstStyle/>
          <a:p>
            <a:r>
              <a:rPr lang="en-US">
                <a:ea typeface="Calibri Light"/>
                <a:cs typeface="Calibri Light"/>
              </a:rPr>
              <a:t>Overview of Azure SQL</a:t>
            </a:r>
            <a:endParaRPr lang="en-US"/>
          </a:p>
        </p:txBody>
      </p:sp>
      <p:graphicFrame>
        <p:nvGraphicFramePr>
          <p:cNvPr id="11" name="Content Placeholder 2">
            <a:extLst>
              <a:ext uri="{FF2B5EF4-FFF2-40B4-BE49-F238E27FC236}">
                <a16:creationId xmlns:a16="http://schemas.microsoft.com/office/drawing/2014/main" id="{A37876B6-A44E-68EC-C0B9-F89EC5BB07A8}"/>
              </a:ext>
            </a:extLst>
          </p:cNvPr>
          <p:cNvGraphicFramePr>
            <a:graphicFrameLocks noGrp="1"/>
          </p:cNvGraphicFramePr>
          <p:nvPr>
            <p:ph idx="1"/>
            <p:extLst>
              <p:ext uri="{D42A27DB-BD31-4B8C-83A1-F6EECF244321}">
                <p14:modId xmlns:p14="http://schemas.microsoft.com/office/powerpoint/2010/main" val="96223375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967014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828D3-7D31-BE54-FA53-5AF5EC18C3D0}"/>
              </a:ext>
            </a:extLst>
          </p:cNvPr>
          <p:cNvSpPr>
            <a:spLocks noGrp="1"/>
          </p:cNvSpPr>
          <p:nvPr>
            <p:ph type="title"/>
          </p:nvPr>
        </p:nvSpPr>
        <p:spPr/>
        <p:txBody>
          <a:bodyPr>
            <a:normAutofit/>
          </a:bodyPr>
          <a:lstStyle/>
          <a:p>
            <a:r>
              <a:rPr lang="en-US" sz="3600">
                <a:ea typeface="Calibri Light"/>
                <a:cs typeface="Calibri Light"/>
              </a:rPr>
              <a:t>Difference Between SQL Server &amp; Azure SQL</a:t>
            </a:r>
            <a:endParaRPr lang="en-US" sz="3600"/>
          </a:p>
        </p:txBody>
      </p:sp>
      <p:graphicFrame>
        <p:nvGraphicFramePr>
          <p:cNvPr id="4" name="Content Placeholder 3">
            <a:extLst>
              <a:ext uri="{FF2B5EF4-FFF2-40B4-BE49-F238E27FC236}">
                <a16:creationId xmlns:a16="http://schemas.microsoft.com/office/drawing/2014/main" id="{90DF7C6E-B1D1-D0AD-8F5B-F874134E2068}"/>
              </a:ext>
            </a:extLst>
          </p:cNvPr>
          <p:cNvGraphicFramePr>
            <a:graphicFrameLocks noGrp="1"/>
          </p:cNvGraphicFramePr>
          <p:nvPr>
            <p:ph idx="1"/>
            <p:extLst>
              <p:ext uri="{D42A27DB-BD31-4B8C-83A1-F6EECF244321}">
                <p14:modId xmlns:p14="http://schemas.microsoft.com/office/powerpoint/2010/main" val="3096482727"/>
              </p:ext>
            </p:extLst>
          </p:nvPr>
        </p:nvGraphicFramePr>
        <p:xfrm>
          <a:off x="838200" y="1825625"/>
          <a:ext cx="10515597" cy="3906520"/>
        </p:xfrm>
        <a:graphic>
          <a:graphicData uri="http://schemas.openxmlformats.org/drawingml/2006/table">
            <a:tbl>
              <a:tblPr firstRow="1" bandRow="1">
                <a:tableStyleId>{5C22544A-7EE6-4342-B048-85BDC9FD1C3A}</a:tableStyleId>
              </a:tblPr>
              <a:tblGrid>
                <a:gridCol w="2148839">
                  <a:extLst>
                    <a:ext uri="{9D8B030D-6E8A-4147-A177-3AD203B41FA5}">
                      <a16:colId xmlns:a16="http://schemas.microsoft.com/office/drawing/2014/main" val="924711889"/>
                    </a:ext>
                  </a:extLst>
                </a:gridCol>
                <a:gridCol w="4861559">
                  <a:extLst>
                    <a:ext uri="{9D8B030D-6E8A-4147-A177-3AD203B41FA5}">
                      <a16:colId xmlns:a16="http://schemas.microsoft.com/office/drawing/2014/main" val="1385460623"/>
                    </a:ext>
                  </a:extLst>
                </a:gridCol>
                <a:gridCol w="3505199">
                  <a:extLst>
                    <a:ext uri="{9D8B030D-6E8A-4147-A177-3AD203B41FA5}">
                      <a16:colId xmlns:a16="http://schemas.microsoft.com/office/drawing/2014/main" val="3416432119"/>
                    </a:ext>
                  </a:extLst>
                </a:gridCol>
              </a:tblGrid>
              <a:tr h="487680">
                <a:tc>
                  <a:txBody>
                    <a:bodyPr/>
                    <a:lstStyle/>
                    <a:p>
                      <a:r>
                        <a:rPr lang="en-US"/>
                        <a:t>Feature</a:t>
                      </a:r>
                    </a:p>
                  </a:txBody>
                  <a:tcPr/>
                </a:tc>
                <a:tc>
                  <a:txBody>
                    <a:bodyPr/>
                    <a:lstStyle/>
                    <a:p>
                      <a:r>
                        <a:rPr lang="en-US"/>
                        <a:t>SQL Server </a:t>
                      </a:r>
                    </a:p>
                  </a:txBody>
                  <a:tcPr/>
                </a:tc>
                <a:tc>
                  <a:txBody>
                    <a:bodyPr/>
                    <a:lstStyle/>
                    <a:p>
                      <a:r>
                        <a:rPr lang="en-US"/>
                        <a:t>Azure SQL </a:t>
                      </a:r>
                    </a:p>
                  </a:txBody>
                  <a:tcPr/>
                </a:tc>
                <a:extLst>
                  <a:ext uri="{0D108BD9-81ED-4DB2-BD59-A6C34878D82A}">
                    <a16:rowId xmlns:a16="http://schemas.microsoft.com/office/drawing/2014/main" val="2495189085"/>
                  </a:ext>
                </a:extLst>
              </a:tr>
              <a:tr h="370840">
                <a:tc>
                  <a:txBody>
                    <a:bodyPr/>
                    <a:lstStyle/>
                    <a:p>
                      <a:r>
                        <a:rPr lang="en-US" sz="1600"/>
                        <a:t>Hosting</a:t>
                      </a:r>
                    </a:p>
                  </a:txBody>
                  <a:tcPr/>
                </a:tc>
                <a:tc>
                  <a:txBody>
                    <a:bodyPr/>
                    <a:lstStyle/>
                    <a:p>
                      <a:pPr lvl="0">
                        <a:buNone/>
                      </a:pPr>
                      <a:r>
                        <a:rPr lang="en-US" sz="1600" kern="1200" noProof="0">
                          <a:solidFill>
                            <a:schemeClr val="tx1"/>
                          </a:solidFill>
                          <a:latin typeface="+mn-lt"/>
                          <a:ea typeface="Calibri"/>
                          <a:cs typeface="Calibri"/>
                        </a:rPr>
                        <a:t>On-premises hardware or Virtual Machines (VMs).</a:t>
                      </a:r>
                      <a:endParaRPr lang="en-US" sz="1600" kern="1200">
                        <a:solidFill>
                          <a:schemeClr val="tx1"/>
                        </a:solidFill>
                        <a:latin typeface="+mn-lt"/>
                        <a:ea typeface="Calibri"/>
                        <a:cs typeface="Calibri"/>
                      </a:endParaRPr>
                    </a:p>
                  </a:txBody>
                  <a:tcPr/>
                </a:tc>
                <a:tc>
                  <a:txBody>
                    <a:bodyPr/>
                    <a:lstStyle/>
                    <a:p>
                      <a:r>
                        <a:rPr lang="en-US" sz="1600" kern="1200" dirty="0">
                          <a:solidFill>
                            <a:schemeClr val="tx1"/>
                          </a:solidFill>
                          <a:latin typeface="+mn-lt"/>
                          <a:ea typeface="Calibri"/>
                          <a:cs typeface="Calibri"/>
                        </a:rPr>
                        <a:t>Cloud native service on </a:t>
                      </a:r>
                      <a:r>
                        <a:rPr lang="en-US" sz="1600" kern="1200">
                          <a:solidFill>
                            <a:schemeClr val="tx1"/>
                          </a:solidFill>
                          <a:latin typeface="+mn-lt"/>
                          <a:ea typeface="Calibri"/>
                          <a:cs typeface="Calibri"/>
                        </a:rPr>
                        <a:t>Azure SQL</a:t>
                      </a:r>
                      <a:endParaRPr lang="en-US" sz="1600" kern="1200" dirty="0">
                        <a:solidFill>
                          <a:schemeClr val="tx1"/>
                        </a:solidFill>
                        <a:latin typeface="+mn-lt"/>
                        <a:ea typeface="Calibri"/>
                        <a:cs typeface="Calibri"/>
                      </a:endParaRPr>
                    </a:p>
                  </a:txBody>
                  <a:tcPr/>
                </a:tc>
                <a:extLst>
                  <a:ext uri="{0D108BD9-81ED-4DB2-BD59-A6C34878D82A}">
                    <a16:rowId xmlns:a16="http://schemas.microsoft.com/office/drawing/2014/main" val="796523656"/>
                  </a:ext>
                </a:extLst>
              </a:tr>
              <a:tr h="370840">
                <a:tc>
                  <a:txBody>
                    <a:bodyPr/>
                    <a:lstStyle/>
                    <a:p>
                      <a:r>
                        <a:rPr lang="en-US" sz="1600" kern="1200">
                          <a:solidFill>
                            <a:schemeClr val="tx1"/>
                          </a:solidFill>
                          <a:latin typeface="+mn-lt"/>
                          <a:ea typeface="Calibri"/>
                          <a:cs typeface="Calibri"/>
                        </a:rPr>
                        <a:t>Management</a:t>
                      </a:r>
                    </a:p>
                  </a:txBody>
                  <a:tcPr/>
                </a:tc>
                <a:tc>
                  <a:txBody>
                    <a:bodyPr/>
                    <a:lstStyle/>
                    <a:p>
                      <a:r>
                        <a:rPr lang="en-US" sz="1600" kern="1200">
                          <a:solidFill>
                            <a:schemeClr val="tx1"/>
                          </a:solidFill>
                          <a:latin typeface="+mn-lt"/>
                          <a:ea typeface="Calibri"/>
                          <a:cs typeface="Calibri"/>
                        </a:rPr>
                        <a:t>Manual patching, backups &amp; OS maintenance</a:t>
                      </a:r>
                      <a:endParaRPr lang="en-US" sz="1600" kern="1200" dirty="0">
                        <a:solidFill>
                          <a:schemeClr val="tx1"/>
                        </a:solidFill>
                        <a:latin typeface="+mn-lt"/>
                        <a:ea typeface="Calibri"/>
                        <a:cs typeface="Calibri"/>
                      </a:endParaRPr>
                    </a:p>
                  </a:txBody>
                  <a:tcPr/>
                </a:tc>
                <a:tc>
                  <a:txBody>
                    <a:bodyPr/>
                    <a:lstStyle/>
                    <a:p>
                      <a:r>
                        <a:rPr lang="en-US" sz="1600" kern="1200" dirty="0">
                          <a:solidFill>
                            <a:schemeClr val="tx1"/>
                          </a:solidFill>
                          <a:latin typeface="+mn-lt"/>
                          <a:ea typeface="Calibri"/>
                          <a:cs typeface="Calibri"/>
                        </a:rPr>
                        <a:t>Fully managed, </a:t>
                      </a:r>
                      <a:r>
                        <a:rPr lang="en-US" sz="1600" kern="1200">
                          <a:solidFill>
                            <a:schemeClr val="tx1"/>
                          </a:solidFill>
                          <a:latin typeface="+mn-lt"/>
                          <a:ea typeface="Calibri"/>
                          <a:cs typeface="Calibri"/>
                        </a:rPr>
                        <a:t>automatic patched, backups, tuning</a:t>
                      </a:r>
                      <a:endParaRPr lang="en-US" sz="1600" kern="1200" dirty="0">
                        <a:solidFill>
                          <a:schemeClr val="tx1"/>
                        </a:solidFill>
                        <a:latin typeface="+mn-lt"/>
                        <a:ea typeface="Calibri"/>
                        <a:cs typeface="Calibri"/>
                      </a:endParaRPr>
                    </a:p>
                  </a:txBody>
                  <a:tcPr/>
                </a:tc>
                <a:extLst>
                  <a:ext uri="{0D108BD9-81ED-4DB2-BD59-A6C34878D82A}">
                    <a16:rowId xmlns:a16="http://schemas.microsoft.com/office/drawing/2014/main" val="3575667060"/>
                  </a:ext>
                </a:extLst>
              </a:tr>
              <a:tr h="370840">
                <a:tc>
                  <a:txBody>
                    <a:bodyPr/>
                    <a:lstStyle/>
                    <a:p>
                      <a:r>
                        <a:rPr lang="en-US" sz="1600" kern="1200">
                          <a:solidFill>
                            <a:schemeClr val="tx1"/>
                          </a:solidFill>
                          <a:latin typeface="+mn-lt"/>
                          <a:ea typeface="Calibri"/>
                          <a:cs typeface="Calibri"/>
                        </a:rPr>
                        <a:t>Scalability</a:t>
                      </a:r>
                    </a:p>
                  </a:txBody>
                  <a:tcPr/>
                </a:tc>
                <a:tc>
                  <a:txBody>
                    <a:bodyPr/>
                    <a:lstStyle/>
                    <a:p>
                      <a:r>
                        <a:rPr lang="en-US" sz="1600" kern="1200">
                          <a:solidFill>
                            <a:schemeClr val="tx1"/>
                          </a:solidFill>
                          <a:latin typeface="+mn-lt"/>
                          <a:ea typeface="Calibri"/>
                          <a:cs typeface="Calibri"/>
                        </a:rPr>
                        <a:t>Limited by physical server, hardware, requires manual upgrade</a:t>
                      </a:r>
                      <a:endParaRPr lang="en-US" sz="1600" kern="1200" dirty="0">
                        <a:solidFill>
                          <a:schemeClr val="tx1"/>
                        </a:solidFill>
                        <a:latin typeface="+mn-lt"/>
                        <a:ea typeface="Calibri"/>
                        <a:cs typeface="Calibri"/>
                      </a:endParaRPr>
                    </a:p>
                  </a:txBody>
                  <a:tcPr/>
                </a:tc>
                <a:tc>
                  <a:txBody>
                    <a:bodyPr/>
                    <a:lstStyle/>
                    <a:p>
                      <a:r>
                        <a:rPr lang="en-US" sz="1600" kern="1200" dirty="0">
                          <a:solidFill>
                            <a:schemeClr val="tx1"/>
                          </a:solidFill>
                          <a:latin typeface="+mn-lt"/>
                          <a:ea typeface="Calibri"/>
                          <a:cs typeface="Calibri"/>
                        </a:rPr>
                        <a:t>Dynamic scaling, </a:t>
                      </a:r>
                      <a:r>
                        <a:rPr lang="en-US" sz="1600" kern="1200" err="1">
                          <a:solidFill>
                            <a:schemeClr val="tx1"/>
                          </a:solidFill>
                          <a:latin typeface="+mn-lt"/>
                          <a:ea typeface="Calibri"/>
                          <a:cs typeface="Calibri"/>
                        </a:rPr>
                        <a:t>automa</a:t>
                      </a:r>
                      <a:r>
                        <a:rPr lang="en-US" sz="1600" kern="1200">
                          <a:solidFill>
                            <a:schemeClr val="tx1"/>
                          </a:solidFill>
                          <a:latin typeface="+mn-lt"/>
                          <a:ea typeface="Calibri"/>
                          <a:cs typeface="Calibri"/>
                        </a:rPr>
                        <a:t>ted scaling of compute and storage resources with minimal downtime</a:t>
                      </a:r>
                      <a:endParaRPr lang="en-US" sz="1600" kern="1200" dirty="0">
                        <a:solidFill>
                          <a:schemeClr val="tx1"/>
                        </a:solidFill>
                        <a:latin typeface="+mn-lt"/>
                        <a:ea typeface="Calibri"/>
                        <a:cs typeface="Calibri"/>
                      </a:endParaRPr>
                    </a:p>
                  </a:txBody>
                  <a:tcPr/>
                </a:tc>
                <a:extLst>
                  <a:ext uri="{0D108BD9-81ED-4DB2-BD59-A6C34878D82A}">
                    <a16:rowId xmlns:a16="http://schemas.microsoft.com/office/drawing/2014/main" val="2478690576"/>
                  </a:ext>
                </a:extLst>
              </a:tr>
              <a:tr h="370840">
                <a:tc>
                  <a:txBody>
                    <a:bodyPr/>
                    <a:lstStyle/>
                    <a:p>
                      <a:r>
                        <a:rPr lang="en-US" sz="1600"/>
                        <a:t>Cost Optimization</a:t>
                      </a:r>
                    </a:p>
                  </a:txBody>
                  <a:tcPr/>
                </a:tc>
                <a:tc>
                  <a:txBody>
                    <a:bodyPr/>
                    <a:lstStyle/>
                    <a:p>
                      <a:r>
                        <a:rPr lang="en-US" sz="1600" err="1"/>
                        <a:t>Typically</a:t>
                      </a:r>
                      <a:r>
                        <a:rPr lang="en-US" sz="1600" dirty="0"/>
                        <a:t> </a:t>
                      </a:r>
                      <a:r>
                        <a:rPr lang="en-US" sz="1600"/>
                        <a:t>involves upfront licensing cost (standard, Enterprise) plus hardware expenses</a:t>
                      </a:r>
                      <a:endParaRPr lang="en-US" sz="1600" dirty="0"/>
                    </a:p>
                  </a:txBody>
                  <a:tcPr/>
                </a:tc>
                <a:tc>
                  <a:txBody>
                    <a:bodyPr/>
                    <a:lstStyle/>
                    <a:p>
                      <a:r>
                        <a:rPr lang="en-US" sz="1600" dirty="0"/>
                        <a:t>Uses pay-as-you-go model for DTU or </a:t>
                      </a:r>
                      <a:r>
                        <a:rPr lang="en-US" sz="1600" err="1"/>
                        <a:t>vCore</a:t>
                      </a:r>
                      <a:r>
                        <a:rPr lang="en-US" sz="1600"/>
                        <a:t> based SQL </a:t>
                      </a:r>
                      <a:r>
                        <a:rPr lang="en-US" sz="1600" err="1"/>
                        <a:t>engin</a:t>
                      </a:r>
                      <a:r>
                        <a:rPr lang="en-US" sz="1600"/>
                        <a:t>e based on variable workloads</a:t>
                      </a:r>
                      <a:endParaRPr lang="en-US" sz="1600" dirty="0"/>
                    </a:p>
                  </a:txBody>
                  <a:tcPr/>
                </a:tc>
                <a:extLst>
                  <a:ext uri="{0D108BD9-81ED-4DB2-BD59-A6C34878D82A}">
                    <a16:rowId xmlns:a16="http://schemas.microsoft.com/office/drawing/2014/main" val="547175099"/>
                  </a:ext>
                </a:extLst>
              </a:tr>
              <a:tr h="370840">
                <a:tc>
                  <a:txBody>
                    <a:bodyPr/>
                    <a:lstStyle/>
                    <a:p>
                      <a:r>
                        <a:rPr lang="en-US"/>
                        <a:t>Feature</a:t>
                      </a:r>
                    </a:p>
                  </a:txBody>
                  <a:tcPr/>
                </a:tc>
                <a:tc>
                  <a:txBody>
                    <a:bodyPr/>
                    <a:lstStyle/>
                    <a:p>
                      <a:r>
                        <a:rPr lang="en-US" sz="1600" dirty="0"/>
                        <a:t>Supports 100% SQL Server features, including SQL Server Agent, Linked servers and cross-database queries. </a:t>
                      </a:r>
                    </a:p>
                  </a:txBody>
                  <a:tcPr/>
                </a:tc>
                <a:tc>
                  <a:txBody>
                    <a:bodyPr/>
                    <a:lstStyle/>
                    <a:p>
                      <a:r>
                        <a:rPr lang="en-US" sz="1600" dirty="0"/>
                        <a:t>SQL Server Agent &amp; Linked servers aren't supported. Elastic Jobs are supported. </a:t>
                      </a:r>
                    </a:p>
                  </a:txBody>
                  <a:tcPr/>
                </a:tc>
                <a:extLst>
                  <a:ext uri="{0D108BD9-81ED-4DB2-BD59-A6C34878D82A}">
                    <a16:rowId xmlns:a16="http://schemas.microsoft.com/office/drawing/2014/main" val="3317249439"/>
                  </a:ext>
                </a:extLst>
              </a:tr>
            </a:tbl>
          </a:graphicData>
        </a:graphic>
      </p:graphicFrame>
    </p:spTree>
    <p:extLst>
      <p:ext uri="{BB962C8B-B14F-4D97-AF65-F5344CB8AC3E}">
        <p14:creationId xmlns:p14="http://schemas.microsoft.com/office/powerpoint/2010/main" val="7611150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950E-C0A1-C9BF-2502-54EA9A095D09}"/>
              </a:ext>
            </a:extLst>
          </p:cNvPr>
          <p:cNvSpPr>
            <a:spLocks noGrp="1"/>
          </p:cNvSpPr>
          <p:nvPr>
            <p:ph type="title"/>
          </p:nvPr>
        </p:nvSpPr>
        <p:spPr/>
        <p:txBody>
          <a:bodyPr/>
          <a:lstStyle/>
          <a:p>
            <a:r>
              <a:rPr lang="en-US">
                <a:ea typeface="Calibri Light"/>
                <a:cs typeface="Calibri Light"/>
              </a:rPr>
              <a:t>Wrap Up</a:t>
            </a:r>
            <a:endParaRPr lang="en-US"/>
          </a:p>
        </p:txBody>
      </p:sp>
      <p:sp>
        <p:nvSpPr>
          <p:cNvPr id="3" name="Content Placeholder 2">
            <a:extLst>
              <a:ext uri="{FF2B5EF4-FFF2-40B4-BE49-F238E27FC236}">
                <a16:creationId xmlns:a16="http://schemas.microsoft.com/office/drawing/2014/main" id="{17A92360-20AC-B4B9-E6D4-F21EB8C73511}"/>
              </a:ext>
            </a:extLst>
          </p:cNvPr>
          <p:cNvSpPr>
            <a:spLocks noGrp="1"/>
          </p:cNvSpPr>
          <p:nvPr>
            <p:ph idx="1"/>
          </p:nvPr>
        </p:nvSpPr>
        <p:spPr/>
        <p:txBody>
          <a:bodyPr vert="horz" lIns="91440" tIns="45720" rIns="91440" bIns="45720" rtlCol="0" anchor="t">
            <a:normAutofit/>
          </a:bodyPr>
          <a:lstStyle/>
          <a:p>
            <a:r>
              <a:rPr lang="en-US" dirty="0">
                <a:ea typeface="Calibri"/>
                <a:cs typeface="Calibri"/>
              </a:rPr>
              <a:t>SQL Server Data Types &amp; Compati</a:t>
            </a:r>
            <a:r>
              <a:rPr lang="en-US">
                <a:ea typeface="Calibri"/>
                <a:cs typeface="Calibri"/>
              </a:rPr>
              <a:t>bility </a:t>
            </a:r>
          </a:p>
          <a:p>
            <a:endParaRPr lang="en-US" dirty="0">
              <a:ea typeface="Calibri"/>
              <a:cs typeface="Calibri"/>
            </a:endParaRPr>
          </a:p>
          <a:p>
            <a:r>
              <a:rPr lang="en-US">
                <a:ea typeface="Calibri"/>
                <a:cs typeface="Calibri"/>
              </a:rPr>
              <a:t>SQL Server Platform Architecture </a:t>
            </a:r>
            <a:endParaRPr lang="en-US" dirty="0">
              <a:ea typeface="Calibri"/>
              <a:cs typeface="Calibri"/>
            </a:endParaRPr>
          </a:p>
          <a:p>
            <a:endParaRPr lang="en-US" dirty="0">
              <a:ea typeface="Calibri"/>
              <a:cs typeface="Calibri"/>
            </a:endParaRPr>
          </a:p>
          <a:p>
            <a:r>
              <a:rPr lang="en-US">
                <a:ea typeface="Calibri"/>
                <a:cs typeface="Calibri"/>
              </a:rPr>
              <a:t>SQL Server Installation Tools </a:t>
            </a:r>
            <a:endParaRPr lang="en-US" dirty="0">
              <a:ea typeface="Calibri"/>
              <a:cs typeface="Calibri"/>
            </a:endParaRPr>
          </a:p>
          <a:p>
            <a:endParaRPr lang="en-US" dirty="0">
              <a:ea typeface="Calibri"/>
              <a:cs typeface="Calibri"/>
            </a:endParaRPr>
          </a:p>
          <a:p>
            <a:r>
              <a:rPr lang="en-US">
                <a:ea typeface="Calibri"/>
                <a:cs typeface="Calibri"/>
              </a:rPr>
              <a:t>SQL Server &amp; Azure SQL Comparison</a:t>
            </a:r>
            <a:endParaRPr lang="en-US" dirty="0">
              <a:ea typeface="Calibri"/>
              <a:cs typeface="Calibri"/>
            </a:endParaRPr>
          </a:p>
        </p:txBody>
      </p:sp>
    </p:spTree>
    <p:extLst>
      <p:ext uri="{BB962C8B-B14F-4D97-AF65-F5344CB8AC3E}">
        <p14:creationId xmlns:p14="http://schemas.microsoft.com/office/powerpoint/2010/main" val="81615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Application>Microsoft Office PowerPoint</Application>
  <PresentationFormat>Widescreen</PresentationFormat>
  <Slides>25</Slides>
  <Notes>0</Notes>
  <HiddenSlides>0</HiddenSlide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2013 - 2022 Theme</vt:lpstr>
      <vt:lpstr>SQL Server Administration &amp; Azure Data Engineering</vt:lpstr>
      <vt:lpstr>Agenda</vt:lpstr>
      <vt:lpstr>SQL Server Platform Overview </vt:lpstr>
      <vt:lpstr>SQL Database Engine Capabilities</vt:lpstr>
      <vt:lpstr>SQL Server ColumnStore Indexes </vt:lpstr>
      <vt:lpstr>SQL Server Column Store Indexes</vt:lpstr>
      <vt:lpstr>Clustered ColumnStore Index</vt:lpstr>
      <vt:lpstr>Delta Row Group &amp; Delta Store</vt:lpstr>
      <vt:lpstr>Non-Clustered Column Store Index</vt:lpstr>
      <vt:lpstr>Difference Between Clustered Columnstore &amp; NonClustered Columnstore Index</vt:lpstr>
      <vt:lpstr>SQL Server Spatial &amp; JSON Data</vt:lpstr>
      <vt:lpstr>SQL Server JSON Data</vt:lpstr>
      <vt:lpstr>JSON Data in SQL Server Use Cases </vt:lpstr>
      <vt:lpstr>Vector Search &amp; Indexes in SQL Server</vt:lpstr>
      <vt:lpstr>XML Data &amp; Key Value Pair Data</vt:lpstr>
      <vt:lpstr>SQL Server Database Engine</vt:lpstr>
      <vt:lpstr>SQL Server Platform Architecture</vt:lpstr>
      <vt:lpstr>Database Design with SQL Server</vt:lpstr>
      <vt:lpstr>SQL Server Database Overview </vt:lpstr>
      <vt:lpstr>SQL Server Index Types</vt:lpstr>
      <vt:lpstr>SQL Server Tables</vt:lpstr>
      <vt:lpstr>SQL Server Configuration Manager</vt:lpstr>
      <vt:lpstr>Overview of Azure SQL</vt:lpstr>
      <vt:lpstr>Difference Between SQL Server &amp; Azure SQL</vt:lpstr>
      <vt:lpstr>Wrap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Basak</dc:creator>
  <cp:revision>465</cp:revision>
  <dcterms:created xsi:type="dcterms:W3CDTF">2026-04-11T17:33:10Z</dcterms:created>
  <dcterms:modified xsi:type="dcterms:W3CDTF">2026-04-12T15:34:05Z</dcterms:modified>
</cp:coreProperties>
</file>